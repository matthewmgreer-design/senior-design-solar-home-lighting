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embeddedFontLst>
    <p:embeddedFont>
      <p:font typeface="Helvetica Neue"/>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6" roundtripDataSignature="AMtx7mhGNpw4/6zDK9ywOBG+cgr4jtzg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7A01E9-2284-4A97-8274-5A77BA4A5575}">
  <a:tblStyle styleId="{BE7A01E9-2284-4A97-8274-5A77BA4A557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HelveticaNeue-regular.fntdata"/><Relationship Id="rId21" Type="http://schemas.openxmlformats.org/officeDocument/2006/relationships/slide" Target="slides/slide15.xml"/><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HelveticaNeue-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Michelle</a:t>
            </a:r>
            <a:endParaRPr/>
          </a:p>
        </p:txBody>
      </p:sp>
      <p:sp>
        <p:nvSpPr>
          <p:cNvPr id="56" name="Google Shape;5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Kyle</a:t>
            </a:r>
            <a:endParaRPr/>
          </a:p>
        </p:txBody>
      </p:sp>
      <p:sp>
        <p:nvSpPr>
          <p:cNvPr id="63" name="Google Shape;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Eric</a:t>
            </a:r>
            <a:endParaRPr/>
          </a:p>
        </p:txBody>
      </p:sp>
      <p:sp>
        <p:nvSpPr>
          <p:cNvPr id="70" name="Google Shape;7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Eric</a:t>
            </a:r>
            <a:endParaRPr/>
          </a:p>
        </p:txBody>
      </p:sp>
      <p:sp>
        <p:nvSpPr>
          <p:cNvPr id="135" name="Google Shape;13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6f2694c51_0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60" name="Google Shape;160;g3b6f2694c51_0_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6f2694c51_0_2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b6f2694c51_0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6f2694c51_0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73" name="Google Shape;173;g3b6f2694c51_0_3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6f2694c51_0_3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b6f2694c51_0_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6f2694c51_0_3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88" name="Google Shape;188;g3b6f2694c51_0_3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6f2694c51_0_3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b6f2694c51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US"/>
              <a:t>Michelle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US"/>
              <a:t>Michelle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6f2694c51_0_3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b6f2694c51_0_3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2"/>
          <p:cNvSpPr txBox="1"/>
          <p:nvPr>
            <p:ph type="ctrTitle"/>
          </p:nvPr>
        </p:nvSpPr>
        <p:spPr>
          <a:xfrm>
            <a:off x="3969582" y="2130425"/>
            <a:ext cx="4488617" cy="14700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3600"/>
              <a:buFont typeface="Arial"/>
              <a:buNone/>
              <a:defRPr b="1"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3124200" y="3886200"/>
            <a:ext cx="5333999" cy="1752600"/>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rgbClr val="FFFFFF"/>
              </a:buClr>
              <a:buSzPts val="2800"/>
              <a:buNone/>
              <a:defRPr sz="2800">
                <a:solidFill>
                  <a:srgbClr val="FFFFF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13"/>
          <p:cNvSpPr txBox="1"/>
          <p:nvPr>
            <p:ph type="title"/>
          </p:nvPr>
        </p:nvSpPr>
        <p:spPr>
          <a:xfrm>
            <a:off x="450851" y="1049177"/>
            <a:ext cx="8235950" cy="803756"/>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2049270"/>
            <a:ext cx="8229600" cy="407689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7" name="Google Shape;27;p13"/>
          <p:cNvPicPr preferRelativeResize="0"/>
          <p:nvPr/>
        </p:nvPicPr>
        <p:blipFill rotWithShape="1">
          <a:blip r:embed="rId3">
            <a:alphaModFix/>
          </a:blip>
          <a:srcRect b="0" l="0" r="0" t="0"/>
          <a:stretch/>
        </p:blipFill>
        <p:spPr>
          <a:xfrm>
            <a:off x="450851" y="234146"/>
            <a:ext cx="2443865" cy="41260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14"/>
          <p:cNvSpPr txBox="1"/>
          <p:nvPr>
            <p:ph idx="1" type="body"/>
          </p:nvPr>
        </p:nvSpPr>
        <p:spPr>
          <a:xfrm>
            <a:off x="457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14"/>
          <p:cNvSpPr txBox="1"/>
          <p:nvPr>
            <p:ph idx="2" type="body"/>
          </p:nvPr>
        </p:nvSpPr>
        <p:spPr>
          <a:xfrm>
            <a:off x="4648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14"/>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15"/>
          <p:cNvSpPr txBox="1"/>
          <p:nvPr>
            <p:ph type="title"/>
          </p:nvPr>
        </p:nvSpPr>
        <p:spPr>
          <a:xfrm>
            <a:off x="457200" y="2900649"/>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1066968"/>
            <a:ext cx="3008313" cy="7368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3575050" y="1073720"/>
            <a:ext cx="5111750" cy="505244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b="1" sz="28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16"/>
          <p:cNvSpPr txBox="1"/>
          <p:nvPr>
            <p:ph idx="2" type="body"/>
          </p:nvPr>
        </p:nvSpPr>
        <p:spPr>
          <a:xfrm>
            <a:off x="457200" y="1803850"/>
            <a:ext cx="3008313" cy="4322314"/>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 name="Shape 47"/>
        <p:cNvGrpSpPr/>
        <p:nvPr/>
      </p:nvGrpSpPr>
      <p:grpSpPr>
        <a:xfrm>
          <a:off x="0" y="0"/>
          <a:ext cx="0" cy="0"/>
          <a:chOff x="0" y="0"/>
          <a:chExt cx="0" cy="0"/>
        </a:xfrm>
      </p:grpSpPr>
      <p:sp>
        <p:nvSpPr>
          <p:cNvPr id="48" name="Google Shape;48;p17"/>
          <p:cNvSpPr txBox="1"/>
          <p:nvPr>
            <p:ph type="title"/>
          </p:nvPr>
        </p:nvSpPr>
        <p:spPr>
          <a:xfrm>
            <a:off x="457200" y="1196430"/>
            <a:ext cx="2573672"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1800"/>
              <a:buFont typeface="Arial"/>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7"/>
          <p:cNvSpPr/>
          <p:nvPr>
            <p:ph idx="2" type="pic"/>
          </p:nvPr>
        </p:nvSpPr>
        <p:spPr>
          <a:xfrm>
            <a:off x="3200400" y="1196430"/>
            <a:ext cx="5486400" cy="4850287"/>
          </a:xfrm>
          <a:prstGeom prst="rect">
            <a:avLst/>
          </a:prstGeom>
          <a:noFill/>
          <a:ln>
            <a:noFill/>
          </a:ln>
        </p:spPr>
      </p:sp>
      <p:sp>
        <p:nvSpPr>
          <p:cNvPr id="50" name="Google Shape;50;p17"/>
          <p:cNvSpPr txBox="1"/>
          <p:nvPr>
            <p:ph idx="1" type="body"/>
          </p:nvPr>
        </p:nvSpPr>
        <p:spPr>
          <a:xfrm>
            <a:off x="457200" y="1768043"/>
            <a:ext cx="2573672" cy="427867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1619250" y="3814625"/>
            <a:ext cx="7302600" cy="2296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100000"/>
              </a:lnSpc>
              <a:spcBef>
                <a:spcPts val="0"/>
              </a:spcBef>
              <a:spcAft>
                <a:spcPts val="0"/>
              </a:spcAft>
              <a:buClr>
                <a:schemeClr val="lt1"/>
              </a:buClr>
              <a:buSzPct val="111111"/>
              <a:buFont typeface="Arial"/>
              <a:buNone/>
            </a:pPr>
            <a:r>
              <a:rPr lang="en-US"/>
              <a:t>Team 22: Solar Home Lighting</a:t>
            </a:r>
            <a:endParaRPr/>
          </a:p>
          <a:p>
            <a:pPr indent="0" lvl="0" marL="0" rtl="0" algn="r">
              <a:lnSpc>
                <a:spcPct val="100000"/>
              </a:lnSpc>
              <a:spcBef>
                <a:spcPts val="0"/>
              </a:spcBef>
              <a:spcAft>
                <a:spcPts val="0"/>
              </a:spcAft>
              <a:buClr>
                <a:schemeClr val="lt1"/>
              </a:buClr>
              <a:buSzPct val="162932"/>
              <a:buFont typeface="Arial"/>
              <a:buNone/>
            </a:pPr>
            <a:r>
              <a:rPr lang="en-US"/>
              <a:t>Bi-Weekly Update 1</a:t>
            </a:r>
            <a:br>
              <a:rPr lang="en-US"/>
            </a:br>
            <a:r>
              <a:rPr lang="en-US" sz="2455"/>
              <a:t>Jack Holdridge</a:t>
            </a:r>
            <a:endParaRPr sz="2455"/>
          </a:p>
          <a:p>
            <a:pPr indent="0" lvl="0" marL="0" rtl="0" algn="r">
              <a:lnSpc>
                <a:spcPct val="100000"/>
              </a:lnSpc>
              <a:spcBef>
                <a:spcPts val="0"/>
              </a:spcBef>
              <a:spcAft>
                <a:spcPts val="0"/>
              </a:spcAft>
              <a:buClr>
                <a:schemeClr val="lt1"/>
              </a:buClr>
              <a:buSzPct val="162932"/>
              <a:buFont typeface="Arial"/>
              <a:buNone/>
            </a:pPr>
            <a:r>
              <a:rPr lang="en-US" sz="2455"/>
              <a:t>Kyle Walcher</a:t>
            </a:r>
            <a:endParaRPr sz="2455"/>
          </a:p>
          <a:p>
            <a:pPr indent="0" lvl="0" marL="0" rtl="0" algn="r">
              <a:lnSpc>
                <a:spcPct val="100000"/>
              </a:lnSpc>
              <a:spcBef>
                <a:spcPts val="0"/>
              </a:spcBef>
              <a:spcAft>
                <a:spcPts val="0"/>
              </a:spcAft>
              <a:buClr>
                <a:schemeClr val="lt1"/>
              </a:buClr>
              <a:buSzPct val="162932"/>
              <a:buFont typeface="Arial"/>
              <a:buNone/>
            </a:pPr>
            <a:r>
              <a:rPr lang="en-US" sz="2455"/>
              <a:t>Matthew Greer</a:t>
            </a:r>
            <a:endParaRPr sz="2455"/>
          </a:p>
          <a:p>
            <a:pPr indent="0" lvl="0" marL="0" rtl="0" algn="r">
              <a:lnSpc>
                <a:spcPct val="100000"/>
              </a:lnSpc>
              <a:spcBef>
                <a:spcPts val="0"/>
              </a:spcBef>
              <a:spcAft>
                <a:spcPts val="0"/>
              </a:spcAft>
              <a:buClr>
                <a:schemeClr val="lt1"/>
              </a:buClr>
              <a:buSzPct val="162932"/>
              <a:buFont typeface="Arial"/>
              <a:buNone/>
            </a:pPr>
            <a:r>
              <a:rPr lang="en-US" sz="2455"/>
              <a:t>Adam Garcia</a:t>
            </a:r>
            <a:endParaRPr sz="2455"/>
          </a:p>
          <a:p>
            <a:pPr indent="0" lvl="0" marL="0" rtl="0" algn="r">
              <a:lnSpc>
                <a:spcPct val="100000"/>
              </a:lnSpc>
              <a:spcBef>
                <a:spcPts val="0"/>
              </a:spcBef>
              <a:spcAft>
                <a:spcPts val="0"/>
              </a:spcAft>
              <a:buClr>
                <a:schemeClr val="lt1"/>
              </a:buClr>
              <a:buSzPct val="162932"/>
              <a:buFont typeface="Arial"/>
              <a:buNone/>
            </a:pPr>
            <a:r>
              <a:rPr lang="en-US" sz="2455"/>
              <a:t>TA: Guanhua Tao</a:t>
            </a:r>
            <a:endParaRPr sz="2455"/>
          </a:p>
          <a:p>
            <a:pPr indent="0" lvl="0" marL="0" rtl="0" algn="r">
              <a:lnSpc>
                <a:spcPct val="100000"/>
              </a:lnSpc>
              <a:spcBef>
                <a:spcPts val="0"/>
              </a:spcBef>
              <a:spcAft>
                <a:spcPts val="0"/>
              </a:spcAft>
              <a:buClr>
                <a:schemeClr val="lt1"/>
              </a:buClr>
              <a:buSzPct val="162932"/>
              <a:buFont typeface="Arial"/>
              <a:buNone/>
            </a:pPr>
            <a:r>
              <a:rPr lang="en-US" sz="2455"/>
              <a:t>Sponsor: Won Jang</a:t>
            </a:r>
            <a:br>
              <a:rPr lang="en-US" sz="2455"/>
            </a:br>
            <a:endParaRPr sz="2455"/>
          </a:p>
        </p:txBody>
      </p:sp>
      <p:sp>
        <p:nvSpPr>
          <p:cNvPr id="59" name="Google Shape;59;p1"/>
          <p:cNvSpPr/>
          <p:nvPr/>
        </p:nvSpPr>
        <p:spPr>
          <a:xfrm>
            <a:off x="0" y="0"/>
            <a:ext cx="6111425" cy="6111425"/>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60" name="Google Shape;60;p1"/>
          <p:cNvPicPr preferRelativeResize="0"/>
          <p:nvPr/>
        </p:nvPicPr>
        <p:blipFill rotWithShape="1">
          <a:blip r:embed="rId4">
            <a:alphaModFix/>
          </a:blip>
          <a:srcRect b="0" l="0" r="0" t="0"/>
          <a:stretch/>
        </p:blipFill>
        <p:spPr>
          <a:xfrm>
            <a:off x="5344000" y="1105318"/>
            <a:ext cx="3114199" cy="5257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Project Summary</a:t>
            </a:r>
            <a:endParaRPr/>
          </a:p>
        </p:txBody>
      </p:sp>
      <p:sp>
        <p:nvSpPr>
          <p:cNvPr id="66" name="Google Shape;66;p2"/>
          <p:cNvSpPr txBox="1"/>
          <p:nvPr>
            <p:ph idx="1" type="body"/>
          </p:nvPr>
        </p:nvSpPr>
        <p:spPr>
          <a:xfrm>
            <a:off x="457200" y="2049275"/>
            <a:ext cx="4532100" cy="46374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1800"/>
              <a:buFont typeface="Arial"/>
              <a:buNone/>
            </a:pPr>
            <a:r>
              <a:rPr lang="en-US" sz="1800">
                <a:latin typeface="Helvetica Neue"/>
                <a:ea typeface="Helvetica Neue"/>
                <a:cs typeface="Helvetica Neue"/>
                <a:sym typeface="Helvetica Neue"/>
              </a:rPr>
              <a:t>Problem statement:</a:t>
            </a:r>
            <a:endParaRPr/>
          </a:p>
          <a:p>
            <a:pPr indent="-285750" lvl="0" marL="342900" rtl="0" algn="l">
              <a:spcBef>
                <a:spcPts val="500"/>
              </a:spcBef>
              <a:spcAft>
                <a:spcPts val="0"/>
              </a:spcAft>
              <a:buSzPts val="1900"/>
              <a:buChar char="•"/>
            </a:pPr>
            <a:r>
              <a:rPr lang="en-US" sz="1300">
                <a:latin typeface="Helvetica Neue"/>
                <a:ea typeface="Helvetica Neue"/>
                <a:cs typeface="Helvetica Neue"/>
                <a:sym typeface="Helvetica Neue"/>
              </a:rPr>
              <a:t>Residential homeowners lack a reliable, unified system that monitors basic security, and remains operations during power instability. Current solutions require separate devices, each with limited functionality and poor coordination. This leads to gaps in security, unreliable operation during outages, and poor user experience. </a:t>
            </a:r>
            <a:endParaRPr sz="1300">
              <a:latin typeface="Helvetica Neue"/>
              <a:ea typeface="Helvetica Neue"/>
              <a:cs typeface="Helvetica Neue"/>
              <a:sym typeface="Helvetica Neue"/>
            </a:endParaRPr>
          </a:p>
          <a:p>
            <a:pPr indent="0" lvl="0" marL="342900" rtl="0" algn="l">
              <a:spcBef>
                <a:spcPts val="500"/>
              </a:spcBef>
              <a:spcAft>
                <a:spcPts val="0"/>
              </a:spcAft>
              <a:buClr>
                <a:schemeClr val="dk1"/>
              </a:buClr>
              <a:buSzPts val="1100"/>
              <a:buFont typeface="Arial"/>
              <a:buNone/>
            </a:pPr>
            <a:r>
              <a:t/>
            </a:r>
            <a:endParaRPr sz="1300">
              <a:latin typeface="Helvetica Neue"/>
              <a:ea typeface="Helvetica Neue"/>
              <a:cs typeface="Helvetica Neue"/>
              <a:sym typeface="Helvetica Neue"/>
            </a:endParaRPr>
          </a:p>
          <a:p>
            <a:pPr indent="0" lvl="0" marL="0" rtl="0" algn="l">
              <a:spcBef>
                <a:spcPts val="500"/>
              </a:spcBef>
              <a:spcAft>
                <a:spcPts val="0"/>
              </a:spcAft>
              <a:buClr>
                <a:schemeClr val="dk1"/>
              </a:buClr>
              <a:buSzPts val="1800"/>
              <a:buFont typeface="Arial"/>
              <a:buNone/>
            </a:pPr>
            <a:r>
              <a:rPr lang="en-US" sz="1800">
                <a:latin typeface="Helvetica Neue"/>
                <a:ea typeface="Helvetica Neue"/>
                <a:cs typeface="Helvetica Neue"/>
                <a:sym typeface="Helvetica Neue"/>
              </a:rPr>
              <a:t>Our Solution:</a:t>
            </a:r>
            <a:endParaRPr/>
          </a:p>
          <a:p>
            <a:pPr indent="-247650" lvl="0" marL="342900" rtl="0" algn="l">
              <a:spcBef>
                <a:spcPts val="500"/>
              </a:spcBef>
              <a:spcAft>
                <a:spcPts val="0"/>
              </a:spcAft>
              <a:buSzPts val="1300"/>
              <a:buFont typeface="Helvetica Neue"/>
              <a:buChar char="•"/>
            </a:pPr>
            <a:r>
              <a:rPr lang="en-US" sz="1300">
                <a:latin typeface="Helvetica Neue"/>
                <a:ea typeface="Helvetica Neue"/>
                <a:cs typeface="Helvetica Neue"/>
                <a:sym typeface="Helvetica Neue"/>
              </a:rPr>
              <a:t>Combine security, lighting control, and user interaction into one coordinated platform</a:t>
            </a:r>
            <a:endParaRPr sz="1300">
              <a:latin typeface="Helvetica Neue"/>
              <a:ea typeface="Helvetica Neue"/>
              <a:cs typeface="Helvetica Neue"/>
              <a:sym typeface="Helvetica Neue"/>
            </a:endParaRPr>
          </a:p>
          <a:p>
            <a:pPr indent="-247650" lvl="0" marL="342900" rtl="0" algn="l">
              <a:spcBef>
                <a:spcPts val="500"/>
              </a:spcBef>
              <a:spcAft>
                <a:spcPts val="0"/>
              </a:spcAft>
              <a:buSzPts val="1300"/>
              <a:buFont typeface="Helvetica Neue"/>
              <a:buChar char="•"/>
            </a:pPr>
            <a:r>
              <a:rPr lang="en-US" sz="1300">
                <a:latin typeface="Helvetica Neue"/>
                <a:ea typeface="Helvetica Neue"/>
                <a:cs typeface="Helvetica Neue"/>
                <a:sym typeface="Helvetica Neue"/>
              </a:rPr>
              <a:t>Offer flexible controls, with both local and remote capabilities.</a:t>
            </a:r>
            <a:endParaRPr sz="1300">
              <a:latin typeface="Helvetica Neue"/>
              <a:ea typeface="Helvetica Neue"/>
              <a:cs typeface="Helvetica Neue"/>
              <a:sym typeface="Helvetica Neue"/>
            </a:endParaRPr>
          </a:p>
          <a:p>
            <a:pPr indent="-247650" lvl="0" marL="342900" rtl="0" algn="l">
              <a:spcBef>
                <a:spcPts val="500"/>
              </a:spcBef>
              <a:spcAft>
                <a:spcPts val="0"/>
              </a:spcAft>
              <a:buSzPts val="1300"/>
              <a:buFont typeface="Helvetica Neue"/>
              <a:buChar char="•"/>
            </a:pPr>
            <a:r>
              <a:rPr lang="en-US" sz="1300">
                <a:latin typeface="Helvetica Neue"/>
                <a:ea typeface="Helvetica Neue"/>
                <a:cs typeface="Helvetica Neue"/>
                <a:sym typeface="Helvetica Neue"/>
              </a:rPr>
              <a:t>Ensures the home remains safely lit and monitored regardless of grid fluctuations. </a:t>
            </a:r>
            <a:endParaRPr sz="1300">
              <a:latin typeface="Helvetica Neue"/>
              <a:ea typeface="Helvetica Neue"/>
              <a:cs typeface="Helvetica Neue"/>
              <a:sym typeface="Helvetica Neue"/>
            </a:endParaRPr>
          </a:p>
          <a:p>
            <a:pPr indent="0" lvl="0" marL="0" rtl="0" algn="l">
              <a:spcBef>
                <a:spcPts val="500"/>
              </a:spcBef>
              <a:spcAft>
                <a:spcPts val="0"/>
              </a:spcAft>
              <a:buClr>
                <a:schemeClr val="dk1"/>
              </a:buClr>
              <a:buSzPts val="1500"/>
              <a:buFont typeface="Arial"/>
              <a:buNone/>
            </a:pPr>
            <a:r>
              <a:t/>
            </a:r>
            <a:endParaRPr sz="1500">
              <a:latin typeface="Helvetica Neue"/>
              <a:ea typeface="Helvetica Neue"/>
              <a:cs typeface="Helvetica Neue"/>
              <a:sym typeface="Helvetica Neue"/>
            </a:endParaRPr>
          </a:p>
          <a:p>
            <a:pPr indent="0" lvl="0" marL="342900" rtl="0" algn="l">
              <a:spcBef>
                <a:spcPts val="640"/>
              </a:spcBef>
              <a:spcAft>
                <a:spcPts val="0"/>
              </a:spcAft>
              <a:buClr>
                <a:schemeClr val="dk1"/>
              </a:buClr>
              <a:buSzPts val="1100"/>
              <a:buFont typeface="Arial"/>
              <a:buNone/>
            </a:pPr>
            <a:r>
              <a:t/>
            </a:r>
            <a:endParaRPr/>
          </a:p>
          <a:p>
            <a:pPr indent="0" lvl="0" marL="342900" rtl="0" algn="l">
              <a:lnSpc>
                <a:spcPct val="80000"/>
              </a:lnSpc>
              <a:spcBef>
                <a:spcPts val="0"/>
              </a:spcBef>
              <a:spcAft>
                <a:spcPts val="0"/>
              </a:spcAft>
              <a:buNone/>
            </a:pPr>
            <a:r>
              <a:t/>
            </a:r>
            <a:endParaRPr sz="2400"/>
          </a:p>
        </p:txBody>
      </p:sp>
      <p:pic>
        <p:nvPicPr>
          <p:cNvPr id="67" name="Google Shape;67;p2"/>
          <p:cNvPicPr preferRelativeResize="0"/>
          <p:nvPr/>
        </p:nvPicPr>
        <p:blipFill rotWithShape="1">
          <a:blip r:embed="rId3">
            <a:alphaModFix/>
          </a:blip>
          <a:srcRect b="0" l="0" r="0" t="10682"/>
          <a:stretch/>
        </p:blipFill>
        <p:spPr>
          <a:xfrm>
            <a:off x="5433550" y="2166075"/>
            <a:ext cx="3187624" cy="33758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457200" y="1049177"/>
            <a:ext cx="8229600" cy="80375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System Overview</a:t>
            </a:r>
            <a:endParaRPr/>
          </a:p>
        </p:txBody>
      </p:sp>
      <p:sp>
        <p:nvSpPr>
          <p:cNvPr id="73" name="Google Shape;73;p3"/>
          <p:cNvSpPr/>
          <p:nvPr/>
        </p:nvSpPr>
        <p:spPr>
          <a:xfrm>
            <a:off x="686300" y="3930388"/>
            <a:ext cx="3281100" cy="1988100"/>
          </a:xfrm>
          <a:prstGeom prst="rect">
            <a:avLst/>
          </a:prstGeom>
          <a:noFill/>
          <a:ln cap="flat" cmpd="sng" w="21425">
            <a:solidFill>
              <a:srgbClr val="0000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 name="Google Shape;74;p3"/>
          <p:cNvSpPr txBox="1"/>
          <p:nvPr/>
        </p:nvSpPr>
        <p:spPr>
          <a:xfrm>
            <a:off x="4904900" y="4545922"/>
            <a:ext cx="1600200" cy="2055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US" sz="1200">
                <a:solidFill>
                  <a:srgbClr val="888888"/>
                </a:solidFill>
              </a:rPr>
              <a:t>‹#›</a:t>
            </a:fld>
            <a:endParaRPr sz="1200">
              <a:solidFill>
                <a:srgbClr val="888888"/>
              </a:solidFill>
            </a:endParaRPr>
          </a:p>
        </p:txBody>
      </p:sp>
      <p:cxnSp>
        <p:nvCxnSpPr>
          <p:cNvPr id="75" name="Google Shape;75;p3"/>
          <p:cNvCxnSpPr/>
          <p:nvPr/>
        </p:nvCxnSpPr>
        <p:spPr>
          <a:xfrm>
            <a:off x="6629656" y="2938278"/>
            <a:ext cx="8700" cy="1469700"/>
          </a:xfrm>
          <a:prstGeom prst="straightConnector1">
            <a:avLst/>
          </a:prstGeom>
          <a:noFill/>
          <a:ln cap="flat" cmpd="sng" w="14300">
            <a:solidFill>
              <a:srgbClr val="1F497D"/>
            </a:solidFill>
            <a:prstDash val="dash"/>
            <a:round/>
            <a:headEnd len="med" w="med" type="none"/>
            <a:tailEnd len="med" w="med" type="none"/>
          </a:ln>
        </p:spPr>
      </p:cxnSp>
      <p:sp>
        <p:nvSpPr>
          <p:cNvPr id="76" name="Google Shape;76;p3"/>
          <p:cNvSpPr/>
          <p:nvPr/>
        </p:nvSpPr>
        <p:spPr>
          <a:xfrm>
            <a:off x="1541356" y="3268381"/>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77" name="Google Shape;77;p3"/>
          <p:cNvSpPr/>
          <p:nvPr/>
        </p:nvSpPr>
        <p:spPr>
          <a:xfrm>
            <a:off x="2275700" y="4844524"/>
            <a:ext cx="680400" cy="238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78" name="Google Shape;78;p3"/>
          <p:cNvSpPr/>
          <p:nvPr/>
        </p:nvSpPr>
        <p:spPr>
          <a:xfrm>
            <a:off x="2367619" y="4192131"/>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79" name="Google Shape;79;p3"/>
          <p:cNvSpPr/>
          <p:nvPr/>
        </p:nvSpPr>
        <p:spPr>
          <a:xfrm>
            <a:off x="5186638" y="2370885"/>
            <a:ext cx="3103800" cy="1443300"/>
          </a:xfrm>
          <a:prstGeom prst="rect">
            <a:avLst/>
          </a:prstGeom>
          <a:noFill/>
          <a:ln cap="flat" cmpd="sng" w="21425">
            <a:solidFill>
              <a:srgbClr val="6AA84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 name="Google Shape;80;p3"/>
          <p:cNvSpPr/>
          <p:nvPr/>
        </p:nvSpPr>
        <p:spPr>
          <a:xfrm>
            <a:off x="686300" y="2398728"/>
            <a:ext cx="3103800" cy="1258500"/>
          </a:xfrm>
          <a:prstGeom prst="rect">
            <a:avLst/>
          </a:prstGeom>
          <a:noFill/>
          <a:ln cap="flat" cmpd="sng" w="21425">
            <a:solidFill>
              <a:srgbClr val="FF0000"/>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 name="Google Shape;81;p3"/>
          <p:cNvSpPr/>
          <p:nvPr/>
        </p:nvSpPr>
        <p:spPr>
          <a:xfrm>
            <a:off x="5036863" y="4339606"/>
            <a:ext cx="3103800" cy="1354500"/>
          </a:xfrm>
          <a:prstGeom prst="rect">
            <a:avLst/>
          </a:prstGeom>
          <a:noFill/>
          <a:ln cap="flat" cmpd="sng" w="21425">
            <a:solidFill>
              <a:srgbClr val="FF00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 name="Google Shape;82;p3"/>
          <p:cNvSpPr txBox="1"/>
          <p:nvPr/>
        </p:nvSpPr>
        <p:spPr>
          <a:xfrm>
            <a:off x="1097565" y="2161270"/>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US" sz="1100"/>
              <a:t>Adam Garcia</a:t>
            </a:r>
            <a:endParaRPr b="0" i="0" sz="1100" u="none" cap="none" strike="noStrike">
              <a:solidFill>
                <a:srgbClr val="000000"/>
              </a:solidFill>
              <a:latin typeface="Arial"/>
              <a:ea typeface="Arial"/>
              <a:cs typeface="Arial"/>
              <a:sym typeface="Arial"/>
            </a:endParaRPr>
          </a:p>
        </p:txBody>
      </p:sp>
      <p:sp>
        <p:nvSpPr>
          <p:cNvPr id="83" name="Google Shape;83;p3"/>
          <p:cNvSpPr txBox="1"/>
          <p:nvPr/>
        </p:nvSpPr>
        <p:spPr>
          <a:xfrm>
            <a:off x="933137" y="3657163"/>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US" sz="1100"/>
              <a:t>Jack Holdridge</a:t>
            </a:r>
            <a:endParaRPr b="0" i="0" sz="1100" u="none" cap="none" strike="noStrike">
              <a:solidFill>
                <a:srgbClr val="000000"/>
              </a:solidFill>
              <a:latin typeface="Arial"/>
              <a:ea typeface="Arial"/>
              <a:cs typeface="Arial"/>
              <a:sym typeface="Arial"/>
            </a:endParaRPr>
          </a:p>
        </p:txBody>
      </p:sp>
      <p:sp>
        <p:nvSpPr>
          <p:cNvPr id="84" name="Google Shape;84;p3"/>
          <p:cNvSpPr txBox="1"/>
          <p:nvPr/>
        </p:nvSpPr>
        <p:spPr>
          <a:xfrm>
            <a:off x="6683979" y="1908035"/>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US" sz="1100"/>
              <a:t>Kyle Walcher</a:t>
            </a:r>
            <a:endParaRPr b="0" i="0" sz="1100" u="none" cap="none" strike="noStrike">
              <a:solidFill>
                <a:srgbClr val="000000"/>
              </a:solidFill>
              <a:latin typeface="Arial"/>
              <a:ea typeface="Arial"/>
              <a:cs typeface="Arial"/>
              <a:sym typeface="Arial"/>
            </a:endParaRPr>
          </a:p>
        </p:txBody>
      </p:sp>
      <p:sp>
        <p:nvSpPr>
          <p:cNvPr id="85" name="Google Shape;85;p3"/>
          <p:cNvSpPr txBox="1"/>
          <p:nvPr/>
        </p:nvSpPr>
        <p:spPr>
          <a:xfrm>
            <a:off x="7238647" y="3962772"/>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lang="en-US" sz="1100"/>
              <a:t>Matthew Greer</a:t>
            </a:r>
            <a:endParaRPr b="0" i="0" sz="1100" u="none" cap="none" strike="noStrike">
              <a:solidFill>
                <a:srgbClr val="000000"/>
              </a:solidFill>
              <a:latin typeface="Arial"/>
              <a:ea typeface="Arial"/>
              <a:cs typeface="Arial"/>
              <a:sym typeface="Arial"/>
            </a:endParaRPr>
          </a:p>
        </p:txBody>
      </p:sp>
      <p:sp>
        <p:nvSpPr>
          <p:cNvPr id="86" name="Google Shape;86;p3"/>
          <p:cNvSpPr/>
          <p:nvPr/>
        </p:nvSpPr>
        <p:spPr>
          <a:xfrm>
            <a:off x="686300" y="4286341"/>
            <a:ext cx="1553100" cy="2739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87" name="Google Shape;87;p3"/>
          <p:cNvSpPr/>
          <p:nvPr/>
        </p:nvSpPr>
        <p:spPr>
          <a:xfrm>
            <a:off x="733447" y="5326409"/>
            <a:ext cx="8727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88" name="Google Shape;88;p3"/>
          <p:cNvSpPr/>
          <p:nvPr/>
        </p:nvSpPr>
        <p:spPr>
          <a:xfrm>
            <a:off x="1115975" y="4834166"/>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89" name="Google Shape;89;p3"/>
          <p:cNvSpPr txBox="1"/>
          <p:nvPr/>
        </p:nvSpPr>
        <p:spPr>
          <a:xfrm>
            <a:off x="1097563" y="4834156"/>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Touch screen HMI</a:t>
            </a:r>
            <a:endParaRPr sz="800">
              <a:solidFill>
                <a:srgbClr val="000000"/>
              </a:solidFill>
            </a:endParaRPr>
          </a:p>
        </p:txBody>
      </p:sp>
      <p:sp>
        <p:nvSpPr>
          <p:cNvPr id="90" name="Google Shape;90;p3"/>
          <p:cNvSpPr txBox="1"/>
          <p:nvPr/>
        </p:nvSpPr>
        <p:spPr>
          <a:xfrm>
            <a:off x="2257363" y="4834156"/>
            <a:ext cx="652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ESP32</a:t>
            </a:r>
            <a:endParaRPr sz="800">
              <a:solidFill>
                <a:srgbClr val="000000"/>
              </a:solidFill>
            </a:endParaRPr>
          </a:p>
        </p:txBody>
      </p:sp>
      <p:sp>
        <p:nvSpPr>
          <p:cNvPr id="91" name="Google Shape;91;p3"/>
          <p:cNvSpPr txBox="1"/>
          <p:nvPr/>
        </p:nvSpPr>
        <p:spPr>
          <a:xfrm>
            <a:off x="850525" y="4266063"/>
            <a:ext cx="1507200" cy="3144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12v Buck Boost DC converter</a:t>
            </a:r>
            <a:endParaRPr sz="800">
              <a:solidFill>
                <a:srgbClr val="000000"/>
              </a:solidFill>
            </a:endParaRPr>
          </a:p>
        </p:txBody>
      </p:sp>
      <p:sp>
        <p:nvSpPr>
          <p:cNvPr id="92" name="Google Shape;92;p3"/>
          <p:cNvSpPr txBox="1"/>
          <p:nvPr/>
        </p:nvSpPr>
        <p:spPr>
          <a:xfrm>
            <a:off x="663359" y="5382453"/>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Relay board and LED Lights</a:t>
            </a:r>
            <a:endParaRPr sz="800">
              <a:solidFill>
                <a:srgbClr val="000000"/>
              </a:solidFill>
            </a:endParaRPr>
          </a:p>
        </p:txBody>
      </p:sp>
      <p:sp>
        <p:nvSpPr>
          <p:cNvPr id="93" name="Google Shape;93;p3"/>
          <p:cNvSpPr/>
          <p:nvPr/>
        </p:nvSpPr>
        <p:spPr>
          <a:xfrm>
            <a:off x="5301161" y="3250709"/>
            <a:ext cx="10131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94" name="Google Shape;94;p3"/>
          <p:cNvSpPr txBox="1"/>
          <p:nvPr/>
        </p:nvSpPr>
        <p:spPr>
          <a:xfrm>
            <a:off x="2310619" y="4171419"/>
            <a:ext cx="1090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3.3v Buck Converter</a:t>
            </a:r>
            <a:endParaRPr sz="800">
              <a:solidFill>
                <a:srgbClr val="000000"/>
              </a:solidFill>
            </a:endParaRPr>
          </a:p>
        </p:txBody>
      </p:sp>
      <p:sp>
        <p:nvSpPr>
          <p:cNvPr id="95" name="Google Shape;95;p3"/>
          <p:cNvSpPr txBox="1"/>
          <p:nvPr/>
        </p:nvSpPr>
        <p:spPr>
          <a:xfrm>
            <a:off x="5301162" y="3347563"/>
            <a:ext cx="10131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ESP32-</a:t>
            </a:r>
            <a:r>
              <a:rPr lang="en-US" sz="800"/>
              <a:t>WROVER</a:t>
            </a:r>
            <a:endParaRPr sz="800">
              <a:solidFill>
                <a:srgbClr val="000000"/>
              </a:solidFill>
            </a:endParaRPr>
          </a:p>
        </p:txBody>
      </p:sp>
      <p:sp>
        <p:nvSpPr>
          <p:cNvPr id="96" name="Google Shape;96;p3"/>
          <p:cNvSpPr txBox="1"/>
          <p:nvPr/>
        </p:nvSpPr>
        <p:spPr>
          <a:xfrm>
            <a:off x="6254866" y="2599622"/>
            <a:ext cx="1090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3.3v Buck Converteri</a:t>
            </a:r>
            <a:endParaRPr sz="800">
              <a:solidFill>
                <a:srgbClr val="000000"/>
              </a:solidFill>
            </a:endParaRPr>
          </a:p>
        </p:txBody>
      </p:sp>
      <p:sp>
        <p:nvSpPr>
          <p:cNvPr id="97" name="Google Shape;97;p3"/>
          <p:cNvSpPr/>
          <p:nvPr/>
        </p:nvSpPr>
        <p:spPr>
          <a:xfrm>
            <a:off x="6040743" y="2502763"/>
            <a:ext cx="11979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US" sz="1100"/>
              <a:t>Android Application</a:t>
            </a:r>
            <a:endParaRPr sz="1100"/>
          </a:p>
          <a:p>
            <a:pPr indent="0" lvl="0" marL="0" rtl="0" algn="ctr">
              <a:spcBef>
                <a:spcPts val="0"/>
              </a:spcBef>
              <a:spcAft>
                <a:spcPts val="0"/>
              </a:spcAft>
              <a:buNone/>
            </a:pPr>
            <a:r>
              <a:rPr lang="en-US" sz="1100"/>
              <a:t>(Kotlin/Java)</a:t>
            </a:r>
            <a:endParaRPr sz="1100"/>
          </a:p>
        </p:txBody>
      </p:sp>
      <p:cxnSp>
        <p:nvCxnSpPr>
          <p:cNvPr id="98" name="Google Shape;98;p3"/>
          <p:cNvCxnSpPr>
            <a:stCxn id="89" idx="3"/>
            <a:endCxn id="90" idx="1"/>
          </p:cNvCxnSpPr>
          <p:nvPr/>
        </p:nvCxnSpPr>
        <p:spPr>
          <a:xfrm>
            <a:off x="2110663" y="4971106"/>
            <a:ext cx="146700" cy="0"/>
          </a:xfrm>
          <a:prstGeom prst="straightConnector1">
            <a:avLst/>
          </a:prstGeom>
          <a:noFill/>
          <a:ln cap="flat" cmpd="sng" w="21425">
            <a:solidFill>
              <a:srgbClr val="000000"/>
            </a:solidFill>
            <a:prstDash val="solid"/>
            <a:round/>
            <a:headEnd len="med" w="med" type="none"/>
            <a:tailEnd len="med" w="med" type="none"/>
          </a:ln>
        </p:spPr>
      </p:cxnSp>
      <p:cxnSp>
        <p:nvCxnSpPr>
          <p:cNvPr id="99" name="Google Shape;99;p3"/>
          <p:cNvCxnSpPr>
            <a:stCxn id="94" idx="2"/>
            <a:endCxn id="90" idx="0"/>
          </p:cNvCxnSpPr>
          <p:nvPr/>
        </p:nvCxnSpPr>
        <p:spPr>
          <a:xfrm flipH="1">
            <a:off x="2583319" y="4445319"/>
            <a:ext cx="272400" cy="388800"/>
          </a:xfrm>
          <a:prstGeom prst="straightConnector1">
            <a:avLst/>
          </a:prstGeom>
          <a:noFill/>
          <a:ln cap="flat" cmpd="sng" w="21425">
            <a:solidFill>
              <a:srgbClr val="000000"/>
            </a:solidFill>
            <a:prstDash val="solid"/>
            <a:round/>
            <a:headEnd len="med" w="med" type="none"/>
            <a:tailEnd len="med" w="med" type="none"/>
          </a:ln>
        </p:spPr>
      </p:cxnSp>
      <p:cxnSp>
        <p:nvCxnSpPr>
          <p:cNvPr id="100" name="Google Shape;100;p3"/>
          <p:cNvCxnSpPr/>
          <p:nvPr/>
        </p:nvCxnSpPr>
        <p:spPr>
          <a:xfrm>
            <a:off x="3391522" y="5087300"/>
            <a:ext cx="9300" cy="465900"/>
          </a:xfrm>
          <a:prstGeom prst="straightConnector1">
            <a:avLst/>
          </a:prstGeom>
          <a:noFill/>
          <a:ln cap="flat" cmpd="sng" w="21425">
            <a:solidFill>
              <a:srgbClr val="000000"/>
            </a:solidFill>
            <a:prstDash val="solid"/>
            <a:round/>
            <a:headEnd len="med" w="med" type="none"/>
            <a:tailEnd len="med" w="med" type="none"/>
          </a:ln>
        </p:spPr>
      </p:cxnSp>
      <p:cxnSp>
        <p:nvCxnSpPr>
          <p:cNvPr id="101" name="Google Shape;101;p3"/>
          <p:cNvCxnSpPr/>
          <p:nvPr/>
        </p:nvCxnSpPr>
        <p:spPr>
          <a:xfrm flipH="1">
            <a:off x="1604300" y="5555375"/>
            <a:ext cx="1804500" cy="7500"/>
          </a:xfrm>
          <a:prstGeom prst="straightConnector1">
            <a:avLst/>
          </a:prstGeom>
          <a:noFill/>
          <a:ln cap="flat" cmpd="sng" w="21425">
            <a:solidFill>
              <a:srgbClr val="000000"/>
            </a:solidFill>
            <a:prstDash val="solid"/>
            <a:round/>
            <a:headEnd len="med" w="med" type="none"/>
            <a:tailEnd len="med" w="med" type="none"/>
          </a:ln>
        </p:spPr>
      </p:cxnSp>
      <p:sp>
        <p:nvSpPr>
          <p:cNvPr id="102" name="Google Shape;102;p3"/>
          <p:cNvSpPr/>
          <p:nvPr/>
        </p:nvSpPr>
        <p:spPr>
          <a:xfrm>
            <a:off x="6954311" y="3250691"/>
            <a:ext cx="1197900" cy="467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US" sz="1100"/>
              <a:t>OpenAI/Python Flask Server</a:t>
            </a:r>
            <a:endParaRPr sz="1100"/>
          </a:p>
        </p:txBody>
      </p:sp>
      <p:cxnSp>
        <p:nvCxnSpPr>
          <p:cNvPr id="103" name="Google Shape;103;p3"/>
          <p:cNvCxnSpPr/>
          <p:nvPr/>
        </p:nvCxnSpPr>
        <p:spPr>
          <a:xfrm rot="10800000">
            <a:off x="2029494" y="3510791"/>
            <a:ext cx="0" cy="501600"/>
          </a:xfrm>
          <a:prstGeom prst="straightConnector1">
            <a:avLst/>
          </a:prstGeom>
          <a:noFill/>
          <a:ln cap="flat" cmpd="sng" w="28575">
            <a:solidFill>
              <a:srgbClr val="000000"/>
            </a:solidFill>
            <a:prstDash val="solid"/>
            <a:round/>
            <a:headEnd len="med" w="med" type="none"/>
            <a:tailEnd len="med" w="med" type="none"/>
          </a:ln>
        </p:spPr>
      </p:cxnSp>
      <p:cxnSp>
        <p:nvCxnSpPr>
          <p:cNvPr id="104" name="Google Shape;104;p3"/>
          <p:cNvCxnSpPr/>
          <p:nvPr/>
        </p:nvCxnSpPr>
        <p:spPr>
          <a:xfrm>
            <a:off x="5718059" y="2692583"/>
            <a:ext cx="9000" cy="479100"/>
          </a:xfrm>
          <a:prstGeom prst="straightConnector1">
            <a:avLst/>
          </a:prstGeom>
          <a:noFill/>
          <a:ln cap="flat" cmpd="sng" w="14300">
            <a:solidFill>
              <a:srgbClr val="1F497D"/>
            </a:solidFill>
            <a:prstDash val="dash"/>
            <a:round/>
            <a:headEnd len="med" w="med" type="none"/>
            <a:tailEnd len="med" w="med" type="none"/>
          </a:ln>
        </p:spPr>
      </p:cxnSp>
      <p:sp>
        <p:nvSpPr>
          <p:cNvPr id="105" name="Google Shape;105;p3"/>
          <p:cNvSpPr txBox="1"/>
          <p:nvPr/>
        </p:nvSpPr>
        <p:spPr>
          <a:xfrm>
            <a:off x="1484431" y="3191469"/>
            <a:ext cx="1090200" cy="273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12v deep cycle battery</a:t>
            </a:r>
            <a:endParaRPr sz="800">
              <a:solidFill>
                <a:srgbClr val="000000"/>
              </a:solidFill>
            </a:endParaRPr>
          </a:p>
        </p:txBody>
      </p:sp>
      <p:sp>
        <p:nvSpPr>
          <p:cNvPr id="106" name="Google Shape;106;p3"/>
          <p:cNvSpPr/>
          <p:nvPr/>
        </p:nvSpPr>
        <p:spPr>
          <a:xfrm>
            <a:off x="5152513" y="4673778"/>
            <a:ext cx="1172100" cy="3156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07" name="Google Shape;107;p3"/>
          <p:cNvSpPr txBox="1"/>
          <p:nvPr/>
        </p:nvSpPr>
        <p:spPr>
          <a:xfrm>
            <a:off x="5186638" y="4695247"/>
            <a:ext cx="1172100" cy="2382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Clr>
                <a:srgbClr val="000000"/>
              </a:buClr>
              <a:buSzPts val="800"/>
              <a:buFont typeface="Arial"/>
              <a:buNone/>
            </a:pPr>
            <a:r>
              <a:rPr lang="en-US" sz="1100"/>
              <a:t>MCU</a:t>
            </a:r>
            <a:endParaRPr sz="1100">
              <a:solidFill>
                <a:srgbClr val="000000"/>
              </a:solidFill>
            </a:endParaRPr>
          </a:p>
          <a:p>
            <a:pPr indent="0" lvl="0" marL="0" rtl="0" algn="ctr">
              <a:spcBef>
                <a:spcPts val="0"/>
              </a:spcBef>
              <a:spcAft>
                <a:spcPts val="0"/>
              </a:spcAft>
              <a:buNone/>
            </a:pPr>
            <a:r>
              <a:t/>
            </a:r>
            <a:endParaRPr sz="800">
              <a:solidFill>
                <a:srgbClr val="000000"/>
              </a:solidFill>
            </a:endParaRPr>
          </a:p>
        </p:txBody>
      </p:sp>
      <p:cxnSp>
        <p:nvCxnSpPr>
          <p:cNvPr id="108" name="Google Shape;108;p3"/>
          <p:cNvCxnSpPr/>
          <p:nvPr/>
        </p:nvCxnSpPr>
        <p:spPr>
          <a:xfrm>
            <a:off x="2044875" y="3989750"/>
            <a:ext cx="804900" cy="188100"/>
          </a:xfrm>
          <a:prstGeom prst="straightConnector1">
            <a:avLst/>
          </a:prstGeom>
          <a:noFill/>
          <a:ln cap="flat" cmpd="sng" w="21425">
            <a:solidFill>
              <a:srgbClr val="000000"/>
            </a:solidFill>
            <a:prstDash val="solid"/>
            <a:round/>
            <a:headEnd len="med" w="med" type="none"/>
            <a:tailEnd len="med" w="med" type="none"/>
          </a:ln>
        </p:spPr>
      </p:cxnSp>
      <p:cxnSp>
        <p:nvCxnSpPr>
          <p:cNvPr id="109" name="Google Shape;109;p3"/>
          <p:cNvCxnSpPr/>
          <p:nvPr/>
        </p:nvCxnSpPr>
        <p:spPr>
          <a:xfrm flipH="1" rot="10800000">
            <a:off x="5728169" y="2663899"/>
            <a:ext cx="312300" cy="4200"/>
          </a:xfrm>
          <a:prstGeom prst="straightConnector1">
            <a:avLst/>
          </a:prstGeom>
          <a:noFill/>
          <a:ln cap="flat" cmpd="sng" w="14300">
            <a:solidFill>
              <a:srgbClr val="1F497D"/>
            </a:solidFill>
            <a:prstDash val="dash"/>
            <a:round/>
            <a:headEnd len="med" w="med" type="none"/>
            <a:tailEnd len="med" w="med" type="none"/>
          </a:ln>
        </p:spPr>
      </p:cxnSp>
      <p:sp>
        <p:nvSpPr>
          <p:cNvPr id="110" name="Google Shape;110;p3"/>
          <p:cNvSpPr/>
          <p:nvPr/>
        </p:nvSpPr>
        <p:spPr>
          <a:xfrm>
            <a:off x="6683975" y="4675203"/>
            <a:ext cx="1367700" cy="3144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US" sz="1100"/>
              <a:t>Database</a:t>
            </a:r>
            <a:endParaRPr sz="1100"/>
          </a:p>
        </p:txBody>
      </p:sp>
      <p:cxnSp>
        <p:nvCxnSpPr>
          <p:cNvPr id="111" name="Google Shape;111;p3"/>
          <p:cNvCxnSpPr/>
          <p:nvPr/>
        </p:nvCxnSpPr>
        <p:spPr>
          <a:xfrm>
            <a:off x="7690332" y="2692583"/>
            <a:ext cx="9000" cy="479100"/>
          </a:xfrm>
          <a:prstGeom prst="straightConnector1">
            <a:avLst/>
          </a:prstGeom>
          <a:noFill/>
          <a:ln cap="flat" cmpd="sng" w="14300">
            <a:solidFill>
              <a:srgbClr val="1F497D"/>
            </a:solidFill>
            <a:prstDash val="dash"/>
            <a:round/>
            <a:headEnd len="med" w="med" type="none"/>
            <a:tailEnd len="med" w="med" type="none"/>
          </a:ln>
        </p:spPr>
      </p:cxnSp>
      <p:cxnSp>
        <p:nvCxnSpPr>
          <p:cNvPr id="112" name="Google Shape;112;p3"/>
          <p:cNvCxnSpPr/>
          <p:nvPr/>
        </p:nvCxnSpPr>
        <p:spPr>
          <a:xfrm>
            <a:off x="7288563" y="2655911"/>
            <a:ext cx="373500" cy="5700"/>
          </a:xfrm>
          <a:prstGeom prst="straightConnector1">
            <a:avLst/>
          </a:prstGeom>
          <a:noFill/>
          <a:ln cap="flat" cmpd="sng" w="14300">
            <a:solidFill>
              <a:srgbClr val="1F497D"/>
            </a:solidFill>
            <a:prstDash val="dash"/>
            <a:round/>
            <a:headEnd len="med" w="med" type="none"/>
            <a:tailEnd len="med" w="med" type="none"/>
          </a:ln>
        </p:spPr>
      </p:cxnSp>
      <p:cxnSp>
        <p:nvCxnSpPr>
          <p:cNvPr id="113" name="Google Shape;113;p3"/>
          <p:cNvCxnSpPr/>
          <p:nvPr/>
        </p:nvCxnSpPr>
        <p:spPr>
          <a:xfrm>
            <a:off x="5684300" y="3818169"/>
            <a:ext cx="11400" cy="777300"/>
          </a:xfrm>
          <a:prstGeom prst="straightConnector1">
            <a:avLst/>
          </a:prstGeom>
          <a:noFill/>
          <a:ln cap="flat" cmpd="sng" w="14300">
            <a:solidFill>
              <a:srgbClr val="1F497D"/>
            </a:solidFill>
            <a:prstDash val="dash"/>
            <a:round/>
            <a:headEnd len="med" w="med" type="none"/>
            <a:tailEnd len="med" w="med" type="none"/>
          </a:ln>
        </p:spPr>
      </p:cxnSp>
      <p:sp>
        <p:nvSpPr>
          <p:cNvPr id="114" name="Google Shape;114;p3"/>
          <p:cNvSpPr/>
          <p:nvPr/>
        </p:nvSpPr>
        <p:spPr>
          <a:xfrm>
            <a:off x="805288" y="2565284"/>
            <a:ext cx="9762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US" sz="800"/>
              <a:t>Solar panel</a:t>
            </a:r>
            <a:endParaRPr sz="800"/>
          </a:p>
        </p:txBody>
      </p:sp>
      <p:sp>
        <p:nvSpPr>
          <p:cNvPr id="115" name="Google Shape;115;p3"/>
          <p:cNvSpPr/>
          <p:nvPr/>
        </p:nvSpPr>
        <p:spPr>
          <a:xfrm>
            <a:off x="2462075" y="2565284"/>
            <a:ext cx="1013100" cy="253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US" sz="800"/>
              <a:t>MPPT charge controller</a:t>
            </a:r>
            <a:endParaRPr sz="800"/>
          </a:p>
        </p:txBody>
      </p:sp>
      <p:cxnSp>
        <p:nvCxnSpPr>
          <p:cNvPr id="116" name="Google Shape;116;p3"/>
          <p:cNvCxnSpPr>
            <a:stCxn id="115" idx="1"/>
            <a:endCxn id="114" idx="3"/>
          </p:cNvCxnSpPr>
          <p:nvPr/>
        </p:nvCxnSpPr>
        <p:spPr>
          <a:xfrm rot="10800000">
            <a:off x="1781375" y="2691884"/>
            <a:ext cx="680700" cy="0"/>
          </a:xfrm>
          <a:prstGeom prst="straightConnector1">
            <a:avLst/>
          </a:prstGeom>
          <a:noFill/>
          <a:ln cap="flat" cmpd="sng" w="28575">
            <a:solidFill>
              <a:srgbClr val="000000"/>
            </a:solidFill>
            <a:prstDash val="solid"/>
            <a:round/>
            <a:headEnd len="med" w="med" type="none"/>
            <a:tailEnd len="med" w="med" type="none"/>
          </a:ln>
        </p:spPr>
      </p:cxnSp>
      <p:cxnSp>
        <p:nvCxnSpPr>
          <p:cNvPr id="117" name="Google Shape;117;p3"/>
          <p:cNvCxnSpPr>
            <a:endCxn id="115" idx="2"/>
          </p:cNvCxnSpPr>
          <p:nvPr/>
        </p:nvCxnSpPr>
        <p:spPr>
          <a:xfrm rot="10800000">
            <a:off x="2968625" y="2818484"/>
            <a:ext cx="4200" cy="213300"/>
          </a:xfrm>
          <a:prstGeom prst="straightConnector1">
            <a:avLst/>
          </a:prstGeom>
          <a:noFill/>
          <a:ln cap="flat" cmpd="sng" w="28575">
            <a:solidFill>
              <a:srgbClr val="000000"/>
            </a:solidFill>
            <a:prstDash val="solid"/>
            <a:round/>
            <a:headEnd len="med" w="med" type="none"/>
            <a:tailEnd len="med" w="med" type="none"/>
          </a:ln>
        </p:spPr>
      </p:cxnSp>
      <p:cxnSp>
        <p:nvCxnSpPr>
          <p:cNvPr id="118" name="Google Shape;118;p3"/>
          <p:cNvCxnSpPr/>
          <p:nvPr/>
        </p:nvCxnSpPr>
        <p:spPr>
          <a:xfrm rot="10800000">
            <a:off x="2007950" y="3021172"/>
            <a:ext cx="972900" cy="5700"/>
          </a:xfrm>
          <a:prstGeom prst="straightConnector1">
            <a:avLst/>
          </a:prstGeom>
          <a:noFill/>
          <a:ln cap="flat" cmpd="sng" w="28575">
            <a:solidFill>
              <a:srgbClr val="000000"/>
            </a:solidFill>
            <a:prstDash val="solid"/>
            <a:round/>
            <a:headEnd len="med" w="med" type="none"/>
            <a:tailEnd len="med" w="med" type="none"/>
          </a:ln>
        </p:spPr>
      </p:cxnSp>
      <p:cxnSp>
        <p:nvCxnSpPr>
          <p:cNvPr id="119" name="Google Shape;119;p3"/>
          <p:cNvCxnSpPr/>
          <p:nvPr/>
        </p:nvCxnSpPr>
        <p:spPr>
          <a:xfrm rot="10800000">
            <a:off x="2017044" y="3021622"/>
            <a:ext cx="1800" cy="238200"/>
          </a:xfrm>
          <a:prstGeom prst="straightConnector1">
            <a:avLst/>
          </a:prstGeom>
          <a:noFill/>
          <a:ln cap="flat" cmpd="sng" w="28575">
            <a:solidFill>
              <a:srgbClr val="000000"/>
            </a:solidFill>
            <a:prstDash val="solid"/>
            <a:round/>
            <a:headEnd len="med" w="med" type="none"/>
            <a:tailEnd len="med" w="med" type="none"/>
          </a:ln>
        </p:spPr>
      </p:cxnSp>
      <p:cxnSp>
        <p:nvCxnSpPr>
          <p:cNvPr id="120" name="Google Shape;120;p3"/>
          <p:cNvCxnSpPr/>
          <p:nvPr/>
        </p:nvCxnSpPr>
        <p:spPr>
          <a:xfrm flipH="1">
            <a:off x="1507600" y="4575975"/>
            <a:ext cx="1500" cy="166800"/>
          </a:xfrm>
          <a:prstGeom prst="straightConnector1">
            <a:avLst/>
          </a:prstGeom>
          <a:noFill/>
          <a:ln cap="flat" cmpd="sng" w="21425">
            <a:solidFill>
              <a:srgbClr val="000000"/>
            </a:solidFill>
            <a:prstDash val="solid"/>
            <a:round/>
            <a:headEnd len="med" w="med" type="none"/>
            <a:tailEnd len="med" w="med" type="none"/>
          </a:ln>
        </p:spPr>
      </p:cxnSp>
      <p:cxnSp>
        <p:nvCxnSpPr>
          <p:cNvPr id="121" name="Google Shape;121;p3"/>
          <p:cNvCxnSpPr/>
          <p:nvPr/>
        </p:nvCxnSpPr>
        <p:spPr>
          <a:xfrm>
            <a:off x="947769" y="4742759"/>
            <a:ext cx="3000" cy="583800"/>
          </a:xfrm>
          <a:prstGeom prst="straightConnector1">
            <a:avLst/>
          </a:prstGeom>
          <a:noFill/>
          <a:ln cap="flat" cmpd="sng" w="21425">
            <a:solidFill>
              <a:srgbClr val="000000"/>
            </a:solidFill>
            <a:prstDash val="solid"/>
            <a:round/>
            <a:headEnd len="med" w="med" type="none"/>
            <a:tailEnd len="med" w="med" type="none"/>
          </a:ln>
        </p:spPr>
      </p:cxnSp>
      <p:cxnSp>
        <p:nvCxnSpPr>
          <p:cNvPr id="122" name="Google Shape;122;p3"/>
          <p:cNvCxnSpPr/>
          <p:nvPr/>
        </p:nvCxnSpPr>
        <p:spPr>
          <a:xfrm flipH="1" rot="10800000">
            <a:off x="947769" y="4749341"/>
            <a:ext cx="564600" cy="3300"/>
          </a:xfrm>
          <a:prstGeom prst="straightConnector1">
            <a:avLst/>
          </a:prstGeom>
          <a:noFill/>
          <a:ln cap="flat" cmpd="sng" w="21425">
            <a:solidFill>
              <a:srgbClr val="000000"/>
            </a:solidFill>
            <a:prstDash val="solid"/>
            <a:round/>
            <a:headEnd len="med" w="med" type="none"/>
            <a:tailEnd len="med" w="med" type="none"/>
          </a:ln>
        </p:spPr>
      </p:cxnSp>
      <p:cxnSp>
        <p:nvCxnSpPr>
          <p:cNvPr id="123" name="Google Shape;123;p3"/>
          <p:cNvCxnSpPr/>
          <p:nvPr/>
        </p:nvCxnSpPr>
        <p:spPr>
          <a:xfrm>
            <a:off x="6639275" y="4439741"/>
            <a:ext cx="652200" cy="3900"/>
          </a:xfrm>
          <a:prstGeom prst="straightConnector1">
            <a:avLst/>
          </a:prstGeom>
          <a:noFill/>
          <a:ln cap="flat" cmpd="sng" w="14300">
            <a:solidFill>
              <a:srgbClr val="1F497D"/>
            </a:solidFill>
            <a:prstDash val="dash"/>
            <a:round/>
            <a:headEnd len="med" w="med" type="none"/>
            <a:tailEnd len="med" w="med" type="none"/>
          </a:ln>
        </p:spPr>
      </p:cxnSp>
      <p:cxnSp>
        <p:nvCxnSpPr>
          <p:cNvPr id="124" name="Google Shape;124;p3"/>
          <p:cNvCxnSpPr/>
          <p:nvPr/>
        </p:nvCxnSpPr>
        <p:spPr>
          <a:xfrm rot="10800000">
            <a:off x="7368481" y="4432297"/>
            <a:ext cx="2100" cy="199200"/>
          </a:xfrm>
          <a:prstGeom prst="straightConnector1">
            <a:avLst/>
          </a:prstGeom>
          <a:noFill/>
          <a:ln cap="flat" cmpd="sng" w="14300">
            <a:solidFill>
              <a:srgbClr val="1F497D"/>
            </a:solidFill>
            <a:prstDash val="dash"/>
            <a:round/>
            <a:headEnd len="med" w="med" type="none"/>
            <a:tailEnd len="med" w="med" type="none"/>
          </a:ln>
        </p:spPr>
      </p:cxnSp>
      <p:sp>
        <p:nvSpPr>
          <p:cNvPr id="125" name="Google Shape;125;p3"/>
          <p:cNvSpPr/>
          <p:nvPr/>
        </p:nvSpPr>
        <p:spPr>
          <a:xfrm>
            <a:off x="5841575" y="5249722"/>
            <a:ext cx="1308300" cy="3387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US" sz="1100"/>
              <a:t>Sensors</a:t>
            </a:r>
            <a:endParaRPr sz="1100"/>
          </a:p>
        </p:txBody>
      </p:sp>
      <p:cxnSp>
        <p:nvCxnSpPr>
          <p:cNvPr id="126" name="Google Shape;126;p3"/>
          <p:cNvCxnSpPr/>
          <p:nvPr/>
        </p:nvCxnSpPr>
        <p:spPr>
          <a:xfrm flipH="1">
            <a:off x="6044525" y="5032953"/>
            <a:ext cx="900" cy="176100"/>
          </a:xfrm>
          <a:prstGeom prst="straightConnector1">
            <a:avLst/>
          </a:prstGeom>
          <a:noFill/>
          <a:ln cap="flat" cmpd="sng" w="14300">
            <a:solidFill>
              <a:srgbClr val="1F497D"/>
            </a:solidFill>
            <a:prstDash val="dash"/>
            <a:round/>
            <a:headEnd len="med" w="med" type="none"/>
            <a:tailEnd len="med" w="med" type="none"/>
          </a:ln>
        </p:spPr>
      </p:cxnSp>
      <p:cxnSp>
        <p:nvCxnSpPr>
          <p:cNvPr id="127" name="Google Shape;127;p3"/>
          <p:cNvCxnSpPr/>
          <p:nvPr/>
        </p:nvCxnSpPr>
        <p:spPr>
          <a:xfrm>
            <a:off x="6967888" y="5032991"/>
            <a:ext cx="900" cy="172500"/>
          </a:xfrm>
          <a:prstGeom prst="straightConnector1">
            <a:avLst/>
          </a:prstGeom>
          <a:noFill/>
          <a:ln cap="flat" cmpd="sng" w="14300">
            <a:solidFill>
              <a:srgbClr val="1F497D"/>
            </a:solidFill>
            <a:prstDash val="dash"/>
            <a:round/>
            <a:headEnd len="med" w="med" type="none"/>
            <a:tailEnd len="med" w="med" type="none"/>
          </a:ln>
        </p:spPr>
      </p:cxnSp>
      <p:sp>
        <p:nvSpPr>
          <p:cNvPr id="128" name="Google Shape;128;p3"/>
          <p:cNvSpPr/>
          <p:nvPr/>
        </p:nvSpPr>
        <p:spPr>
          <a:xfrm>
            <a:off x="3024969" y="4841618"/>
            <a:ext cx="680400" cy="238200"/>
          </a:xfrm>
          <a:prstGeom prst="roundRect">
            <a:avLst>
              <a:gd fmla="val 16667" name="adj"/>
            </a:avLst>
          </a:prstGeom>
          <a:solidFill>
            <a:srgbClr val="EEECE1"/>
          </a:solidFill>
          <a:ln cap="flat" cmpd="sng" w="7150">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129" name="Google Shape;129;p3"/>
          <p:cNvSpPr txBox="1"/>
          <p:nvPr/>
        </p:nvSpPr>
        <p:spPr>
          <a:xfrm>
            <a:off x="3074750" y="4841581"/>
            <a:ext cx="620700" cy="2382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800">
                <a:solidFill>
                  <a:srgbClr val="000000"/>
                </a:solidFill>
              </a:rPr>
              <a:t>ESP32</a:t>
            </a:r>
            <a:endParaRPr sz="800">
              <a:solidFill>
                <a:srgbClr val="000000"/>
              </a:solidFill>
            </a:endParaRPr>
          </a:p>
        </p:txBody>
      </p:sp>
      <p:cxnSp>
        <p:nvCxnSpPr>
          <p:cNvPr id="130" name="Google Shape;130;p3"/>
          <p:cNvCxnSpPr>
            <a:stCxn id="94" idx="2"/>
          </p:cNvCxnSpPr>
          <p:nvPr/>
        </p:nvCxnSpPr>
        <p:spPr>
          <a:xfrm>
            <a:off x="2855719" y="4445319"/>
            <a:ext cx="374400" cy="399000"/>
          </a:xfrm>
          <a:prstGeom prst="straightConnector1">
            <a:avLst/>
          </a:prstGeom>
          <a:noFill/>
          <a:ln cap="flat" cmpd="sng" w="21425">
            <a:solidFill>
              <a:srgbClr val="000000"/>
            </a:solidFill>
            <a:prstDash val="solid"/>
            <a:round/>
            <a:headEnd len="med" w="med" type="none"/>
            <a:tailEnd len="med" w="med" type="none"/>
          </a:ln>
        </p:spPr>
      </p:cxnSp>
      <p:cxnSp>
        <p:nvCxnSpPr>
          <p:cNvPr id="131" name="Google Shape;131;p3"/>
          <p:cNvCxnSpPr>
            <a:endCxn id="128" idx="1"/>
          </p:cNvCxnSpPr>
          <p:nvPr/>
        </p:nvCxnSpPr>
        <p:spPr>
          <a:xfrm>
            <a:off x="2956269" y="4959518"/>
            <a:ext cx="68700" cy="1200"/>
          </a:xfrm>
          <a:prstGeom prst="straightConnector1">
            <a:avLst/>
          </a:prstGeom>
          <a:noFill/>
          <a:ln cap="flat" cmpd="sng" w="21425">
            <a:solidFill>
              <a:srgbClr val="000000"/>
            </a:solidFill>
            <a:prstDash val="solid"/>
            <a:round/>
            <a:headEnd len="med" w="med" type="none"/>
            <a:tailEnd len="med" w="med" type="none"/>
          </a:ln>
        </p:spPr>
      </p:cxnSp>
      <p:cxnSp>
        <p:nvCxnSpPr>
          <p:cNvPr id="132" name="Google Shape;132;p3"/>
          <p:cNvCxnSpPr>
            <a:endCxn id="91" idx="0"/>
          </p:cNvCxnSpPr>
          <p:nvPr/>
        </p:nvCxnSpPr>
        <p:spPr>
          <a:xfrm flipH="1">
            <a:off x="1604125" y="3989763"/>
            <a:ext cx="421800" cy="276300"/>
          </a:xfrm>
          <a:prstGeom prst="straightConnector1">
            <a:avLst/>
          </a:prstGeom>
          <a:noFill/>
          <a:ln cap="flat" cmpd="sng" w="21425">
            <a:solidFill>
              <a:srgbClr val="000000"/>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457200" y="1049177"/>
            <a:ext cx="8229600" cy="80375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Project Timeline </a:t>
            </a:r>
            <a:endParaRPr/>
          </a:p>
        </p:txBody>
      </p:sp>
      <p:pic>
        <p:nvPicPr>
          <p:cNvPr id="138" name="Google Shape;138;p5"/>
          <p:cNvPicPr preferRelativeResize="0"/>
          <p:nvPr/>
        </p:nvPicPr>
        <p:blipFill>
          <a:blip r:embed="rId3">
            <a:alphaModFix/>
          </a:blip>
          <a:stretch>
            <a:fillRect/>
          </a:stretch>
        </p:blipFill>
        <p:spPr>
          <a:xfrm>
            <a:off x="420550" y="1798758"/>
            <a:ext cx="8302905" cy="4700266"/>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a:t>MPPT Charge Controller</a:t>
            </a:r>
            <a:br>
              <a:rPr lang="en-US" sz="3600"/>
            </a:br>
            <a:r>
              <a:rPr lang="en-US" sz="1800"/>
              <a:t>Adam Garcia</a:t>
            </a:r>
            <a:endParaRPr/>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44" name="Google Shape;144;p6"/>
          <p:cNvGraphicFramePr/>
          <p:nvPr/>
        </p:nvGraphicFramePr>
        <p:xfrm>
          <a:off x="685800" y="1952075"/>
          <a:ext cx="3000000" cy="3000000"/>
        </p:xfrm>
        <a:graphic>
          <a:graphicData uri="http://schemas.openxmlformats.org/drawingml/2006/table">
            <a:tbl>
              <a:tblPr>
                <a:noFill/>
                <a:tableStyleId>{BE7A01E9-2284-4A97-8274-5A77BA4A5575}</a:tableStyleId>
              </a:tblPr>
              <a:tblGrid>
                <a:gridCol w="3886200"/>
                <a:gridCol w="3886200"/>
              </a:tblGrid>
              <a:tr h="707900">
                <a:tc>
                  <a:txBody>
                    <a:bodyPr/>
                    <a:lstStyle/>
                    <a:p>
                      <a:pPr indent="0" lvl="0" marL="0" marR="0" rtl="0" algn="l">
                        <a:spcBef>
                          <a:spcPts val="0"/>
                        </a:spcBef>
                        <a:spcAft>
                          <a:spcPts val="0"/>
                        </a:spcAft>
                        <a:buClr>
                          <a:schemeClr val="dk1"/>
                        </a:buClr>
                        <a:buSzPts val="1800"/>
                        <a:buFont typeface="Arial"/>
                        <a:buNone/>
                      </a:pPr>
                      <a:r>
                        <a:rPr lang="en-US" sz="1800" u="none" cap="none" strike="noStrike"/>
                        <a:t>Accomplishments since 403                          </a:t>
                      </a:r>
                      <a:r>
                        <a:rPr lang="en-US" sz="1800">
                          <a:solidFill>
                            <a:srgbClr val="C00000"/>
                          </a:solidFill>
                        </a:rPr>
                        <a:t>12h</a:t>
                      </a:r>
                      <a:r>
                        <a:rPr lang="en-US" sz="1800" u="none" cap="none" strike="noStrike">
                          <a:solidFill>
                            <a:srgbClr val="C00000"/>
                          </a:solidFill>
                        </a:rPr>
                        <a:t>rs of effort</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920850">
                <a:tc>
                  <a:txBody>
                    <a:bodyPr/>
                    <a:lstStyle/>
                    <a:p>
                      <a:pPr indent="0" lvl="0" marL="0" marR="0" rtl="0" algn="l">
                        <a:spcBef>
                          <a:spcPts val="0"/>
                        </a:spcBef>
                        <a:spcAft>
                          <a:spcPts val="0"/>
                        </a:spcAft>
                        <a:buNone/>
                      </a:pPr>
                      <a:r>
                        <a:rPr lang="en-US" sz="1800"/>
                        <a:t>Tested buck converters on PCB</a:t>
                      </a:r>
                      <a:endParaRPr sz="1800"/>
                    </a:p>
                    <a:p>
                      <a:pPr indent="-342900" lvl="0" marL="457200" marR="0" rtl="0" algn="l">
                        <a:spcBef>
                          <a:spcPts val="0"/>
                        </a:spcBef>
                        <a:spcAft>
                          <a:spcPts val="0"/>
                        </a:spcAft>
                        <a:buSzPts val="1800"/>
                        <a:buChar char="●"/>
                      </a:pPr>
                      <a:r>
                        <a:rPr lang="en-US" sz="1800"/>
                        <a:t>Common ground issue</a:t>
                      </a:r>
                      <a:endParaRPr sz="1800"/>
                    </a:p>
                    <a:p>
                      <a:pPr indent="-342900" lvl="0" marL="457200" marR="0" rtl="0" algn="l">
                        <a:spcBef>
                          <a:spcPts val="0"/>
                        </a:spcBef>
                        <a:spcAft>
                          <a:spcPts val="0"/>
                        </a:spcAft>
                        <a:buSzPts val="1800"/>
                        <a:buChar char="●"/>
                      </a:pPr>
                      <a:r>
                        <a:rPr lang="en-US" sz="1800"/>
                        <a:t>I</a:t>
                      </a:r>
                      <a:r>
                        <a:rPr lang="en-US" sz="1800"/>
                        <a:t>ncorrect</a:t>
                      </a:r>
                      <a:r>
                        <a:rPr lang="en-US" sz="1800"/>
                        <a:t> inductor sizing</a:t>
                      </a:r>
                      <a:endParaRPr sz="1800"/>
                    </a:p>
                    <a:p>
                      <a:pPr indent="0" lvl="0" marL="0" marR="0" rtl="0" algn="l">
                        <a:spcBef>
                          <a:spcPts val="0"/>
                        </a:spcBef>
                        <a:spcAft>
                          <a:spcPts val="0"/>
                        </a:spcAft>
                        <a:buNone/>
                      </a:pPr>
                      <a:r>
                        <a:t/>
                      </a:r>
                      <a:endParaRPr sz="1800"/>
                    </a:p>
                    <a:p>
                      <a:pPr indent="0" lvl="0" marL="0" marR="0" rtl="0" algn="l">
                        <a:spcBef>
                          <a:spcPts val="0"/>
                        </a:spcBef>
                        <a:spcAft>
                          <a:spcPts val="0"/>
                        </a:spcAft>
                        <a:buClr>
                          <a:schemeClr val="dk1"/>
                        </a:buClr>
                        <a:buSzPts val="1800"/>
                        <a:buFont typeface="Arial"/>
                        <a:buNone/>
                      </a:pPr>
                      <a:r>
                        <a:t/>
                      </a:r>
                      <a:endParaRPr sz="1800"/>
                    </a:p>
                    <a:p>
                      <a:pPr indent="0" lvl="0" marL="0" marR="0" rtl="0" algn="l">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Clr>
                          <a:schemeClr val="dk1"/>
                        </a:buClr>
                        <a:buSzPts val="1800"/>
                        <a:buFont typeface="Arial"/>
                        <a:buNone/>
                      </a:pPr>
                      <a:r>
                        <a:rPr lang="en-US" sz="1800"/>
                        <a:t>Redesign charge controller PCB</a:t>
                      </a:r>
                      <a:endParaRPr sz="1800"/>
                    </a:p>
                    <a:p>
                      <a:pPr indent="-342900" lvl="0" marL="457200" marR="0" rtl="0" algn="l">
                        <a:spcBef>
                          <a:spcPts val="0"/>
                        </a:spcBef>
                        <a:spcAft>
                          <a:spcPts val="0"/>
                        </a:spcAft>
                        <a:buSzPts val="1800"/>
                        <a:buChar char="●"/>
                      </a:pPr>
                      <a:r>
                        <a:rPr lang="en-US" sz="1800"/>
                        <a:t>Ground plane</a:t>
                      </a:r>
                      <a:endParaRPr sz="1800"/>
                    </a:p>
                    <a:p>
                      <a:pPr indent="-342900" lvl="0" marL="457200" marR="0" rtl="0" algn="l">
                        <a:spcBef>
                          <a:spcPts val="0"/>
                        </a:spcBef>
                        <a:spcAft>
                          <a:spcPts val="0"/>
                        </a:spcAft>
                        <a:buSzPts val="1800"/>
                        <a:buChar char="●"/>
                      </a:pPr>
                      <a:r>
                        <a:rPr lang="en-US" sz="1800"/>
                        <a:t>Appropriately sized components</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rPr lang="en-US" sz="1800"/>
                        <a:t>Order PCB</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a:t>MPPT Charge Controller</a:t>
            </a:r>
            <a:br>
              <a:rPr lang="en-US" sz="3600"/>
            </a:br>
            <a:r>
              <a:rPr lang="en-US" sz="1800"/>
              <a:t>Adam Garcia</a:t>
            </a:r>
            <a:endParaRPr/>
          </a:p>
          <a:p>
            <a:pPr indent="0" lvl="0" marL="0" rtl="0" algn="ctr">
              <a:lnSpc>
                <a:spcPct val="115000"/>
              </a:lnSpc>
              <a:spcBef>
                <a:spcPts val="0"/>
              </a:spcBef>
              <a:spcAft>
                <a:spcPts val="0"/>
              </a:spcAft>
              <a:buClr>
                <a:schemeClr val="dk1"/>
              </a:buClr>
              <a:buSzPts val="990"/>
              <a:buFont typeface="Arial"/>
              <a:buNone/>
            </a:pPr>
            <a:r>
              <a:t/>
            </a:r>
            <a:endParaRPr/>
          </a:p>
        </p:txBody>
      </p:sp>
      <p:sp>
        <p:nvSpPr>
          <p:cNvPr id="150" name="Google Shape;150;p7"/>
          <p:cNvSpPr txBox="1"/>
          <p:nvPr>
            <p:ph idx="1" type="body"/>
          </p:nvPr>
        </p:nvSpPr>
        <p:spPr>
          <a:xfrm>
            <a:off x="457200" y="2049270"/>
            <a:ext cx="8229600" cy="4077000"/>
          </a:xfrm>
          <a:prstGeom prst="rect">
            <a:avLst/>
          </a:prstGeom>
          <a:noFill/>
          <a:ln>
            <a:noFill/>
          </a:ln>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3200"/>
              <a:buNone/>
            </a:pPr>
            <a:r>
              <a:t/>
            </a:r>
            <a:endParaRPr/>
          </a:p>
        </p:txBody>
      </p:sp>
      <p:pic>
        <p:nvPicPr>
          <p:cNvPr id="151" name="Google Shape;151;p7"/>
          <p:cNvPicPr preferRelativeResize="0"/>
          <p:nvPr/>
        </p:nvPicPr>
        <p:blipFill>
          <a:blip r:embed="rId3">
            <a:alphaModFix/>
          </a:blip>
          <a:stretch>
            <a:fillRect/>
          </a:stretch>
        </p:blipFill>
        <p:spPr>
          <a:xfrm>
            <a:off x="457200" y="2049275"/>
            <a:ext cx="4689701" cy="3245425"/>
          </a:xfrm>
          <a:prstGeom prst="rect">
            <a:avLst/>
          </a:prstGeom>
          <a:noFill/>
          <a:ln>
            <a:noFill/>
          </a:ln>
        </p:spPr>
      </p:pic>
      <p:pic>
        <p:nvPicPr>
          <p:cNvPr id="152" name="Google Shape;152;p7"/>
          <p:cNvPicPr preferRelativeResize="0"/>
          <p:nvPr/>
        </p:nvPicPr>
        <p:blipFill rotWithShape="1">
          <a:blip r:embed="rId4">
            <a:alphaModFix/>
          </a:blip>
          <a:srcRect b="13799" l="16838" r="9469" t="21412"/>
          <a:stretch/>
        </p:blipFill>
        <p:spPr>
          <a:xfrm>
            <a:off x="5195025" y="2049275"/>
            <a:ext cx="3708800" cy="2446650"/>
          </a:xfrm>
          <a:prstGeom prst="rect">
            <a:avLst/>
          </a:prstGeom>
          <a:noFill/>
          <a:ln>
            <a:noFill/>
          </a:ln>
        </p:spPr>
      </p:pic>
      <p:sp>
        <p:nvSpPr>
          <p:cNvPr id="153" name="Google Shape;153;p7"/>
          <p:cNvSpPr/>
          <p:nvPr/>
        </p:nvSpPr>
        <p:spPr>
          <a:xfrm>
            <a:off x="6755300" y="2453350"/>
            <a:ext cx="91200" cy="114000"/>
          </a:xfrm>
          <a:prstGeom prst="ellipse">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7"/>
          <p:cNvSpPr txBox="1"/>
          <p:nvPr/>
        </p:nvSpPr>
        <p:spPr>
          <a:xfrm>
            <a:off x="1985500" y="5397400"/>
            <a:ext cx="28071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Separate</a:t>
            </a:r>
            <a:r>
              <a:rPr lang="en-US" sz="1200">
                <a:solidFill>
                  <a:schemeClr val="dk1"/>
                </a:solidFill>
              </a:rPr>
              <a:t> </a:t>
            </a:r>
            <a:r>
              <a:rPr lang="en-US" sz="1200">
                <a:solidFill>
                  <a:schemeClr val="dk1"/>
                </a:solidFill>
              </a:rPr>
              <a:t>ground</a:t>
            </a:r>
            <a:endParaRPr sz="1200">
              <a:solidFill>
                <a:schemeClr val="dk1"/>
              </a:solidFill>
            </a:endParaRPr>
          </a:p>
        </p:txBody>
      </p:sp>
      <p:sp>
        <p:nvSpPr>
          <p:cNvPr id="155" name="Google Shape;155;p7"/>
          <p:cNvSpPr txBox="1"/>
          <p:nvPr/>
        </p:nvSpPr>
        <p:spPr>
          <a:xfrm>
            <a:off x="5967950" y="4929550"/>
            <a:ext cx="22593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Missing </a:t>
            </a:r>
            <a:r>
              <a:rPr lang="en-US" sz="1200">
                <a:solidFill>
                  <a:schemeClr val="dk1"/>
                </a:solidFill>
              </a:rPr>
              <a:t>feedback</a:t>
            </a:r>
            <a:r>
              <a:rPr lang="en-US" sz="1200">
                <a:solidFill>
                  <a:schemeClr val="dk1"/>
                </a:solidFill>
              </a:rPr>
              <a:t> resistor</a:t>
            </a:r>
            <a:endParaRPr sz="1200">
              <a:solidFill>
                <a:schemeClr val="dk1"/>
              </a:solidFill>
            </a:endParaRPr>
          </a:p>
        </p:txBody>
      </p:sp>
      <p:cxnSp>
        <p:nvCxnSpPr>
          <p:cNvPr id="156" name="Google Shape;156;p7"/>
          <p:cNvCxnSpPr/>
          <p:nvPr/>
        </p:nvCxnSpPr>
        <p:spPr>
          <a:xfrm>
            <a:off x="2259375" y="3777025"/>
            <a:ext cx="376500" cy="1711800"/>
          </a:xfrm>
          <a:prstGeom prst="straightConnector1">
            <a:avLst/>
          </a:prstGeom>
          <a:noFill/>
          <a:ln cap="flat" cmpd="sng" w="9525">
            <a:solidFill>
              <a:srgbClr val="FFFF00"/>
            </a:solidFill>
            <a:prstDash val="solid"/>
            <a:round/>
            <a:headEnd len="med" w="med" type="none"/>
            <a:tailEnd len="med" w="med" type="none"/>
          </a:ln>
        </p:spPr>
      </p:cxnSp>
      <p:cxnSp>
        <p:nvCxnSpPr>
          <p:cNvPr id="157" name="Google Shape;157;p7"/>
          <p:cNvCxnSpPr>
            <a:stCxn id="153" idx="4"/>
          </p:cNvCxnSpPr>
          <p:nvPr/>
        </p:nvCxnSpPr>
        <p:spPr>
          <a:xfrm>
            <a:off x="6800900" y="2567350"/>
            <a:ext cx="57000" cy="2316600"/>
          </a:xfrm>
          <a:prstGeom prst="straightConnector1">
            <a:avLst/>
          </a:prstGeom>
          <a:noFill/>
          <a:ln cap="flat" cmpd="sng" w="9525">
            <a:solidFill>
              <a:srgbClr val="FFFF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b6f2694c51_0_293"/>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sz="3600"/>
              <a:t>Physical Controls</a:t>
            </a:r>
            <a:br>
              <a:rPr lang="en-US" sz="3600"/>
            </a:br>
            <a:r>
              <a:rPr lang="en-US" sz="1800"/>
              <a:t>Jack Holdridge</a:t>
            </a:r>
            <a:endParaRPr sz="1800"/>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63" name="Google Shape;163;g3b6f2694c51_0_293"/>
          <p:cNvGraphicFramePr/>
          <p:nvPr/>
        </p:nvGraphicFramePr>
        <p:xfrm>
          <a:off x="685800" y="1952075"/>
          <a:ext cx="3000000" cy="3000000"/>
        </p:xfrm>
        <a:graphic>
          <a:graphicData uri="http://schemas.openxmlformats.org/drawingml/2006/table">
            <a:tbl>
              <a:tblPr>
                <a:noFill/>
                <a:tableStyleId>{BE7A01E9-2284-4A97-8274-5A77BA4A5575}</a:tableStyleId>
              </a:tblPr>
              <a:tblGrid>
                <a:gridCol w="3886200"/>
                <a:gridCol w="3886200"/>
              </a:tblGrid>
              <a:tr h="640300">
                <a:tc>
                  <a:txBody>
                    <a:bodyPr/>
                    <a:lstStyle/>
                    <a:p>
                      <a:pPr indent="0" lvl="0" marL="0" marR="0" rtl="0" algn="l">
                        <a:spcBef>
                          <a:spcPts val="0"/>
                        </a:spcBef>
                        <a:spcAft>
                          <a:spcPts val="0"/>
                        </a:spcAft>
                        <a:buClr>
                          <a:schemeClr val="dk1"/>
                        </a:buClr>
                        <a:buSzPts val="1800"/>
                        <a:buFont typeface="Arial"/>
                        <a:buNone/>
                      </a:pPr>
                      <a:r>
                        <a:rPr lang="en-US" sz="1800" u="none" cap="none" strike="noStrike"/>
                        <a:t>Accomplishments since 403                          </a:t>
                      </a:r>
                      <a:r>
                        <a:rPr lang="en-US" sz="1800">
                          <a:solidFill>
                            <a:srgbClr val="C00000"/>
                          </a:solidFill>
                        </a:rPr>
                        <a:t>14</a:t>
                      </a:r>
                      <a:r>
                        <a:rPr lang="en-US" sz="1800" u="none" cap="none" strike="noStrike">
                          <a:solidFill>
                            <a:srgbClr val="C00000"/>
                          </a:solidFill>
                        </a:rPr>
                        <a:t> hrs of effort</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734600">
                <a:tc>
                  <a:txBody>
                    <a:bodyPr/>
                    <a:lstStyle/>
                    <a:p>
                      <a:pPr indent="0" lvl="0" marL="0" marR="0" rtl="0" algn="l">
                        <a:spcBef>
                          <a:spcPts val="0"/>
                        </a:spcBef>
                        <a:spcAft>
                          <a:spcPts val="0"/>
                        </a:spcAft>
                        <a:buClr>
                          <a:schemeClr val="dk1"/>
                        </a:buClr>
                        <a:buSzPts val="1800"/>
                        <a:buFont typeface="Arial"/>
                        <a:buNone/>
                      </a:pPr>
                      <a:r>
                        <a:t/>
                      </a:r>
                      <a:endParaRPr sz="1800" u="none" cap="none" strike="noStrike"/>
                    </a:p>
                    <a:p>
                      <a:pPr indent="0" lvl="0" marL="0" marR="0" rtl="0" algn="l">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342900" lvl="0" marL="457200" marR="0" rtl="0" algn="l">
                        <a:spcBef>
                          <a:spcPts val="0"/>
                        </a:spcBef>
                        <a:spcAft>
                          <a:spcPts val="0"/>
                        </a:spcAft>
                        <a:buSzPts val="1800"/>
                        <a:buChar char="●"/>
                      </a:pPr>
                      <a:r>
                        <a:rPr lang="en-US" sz="1800"/>
                        <a:t>Diagnosing and repairing failed 12v converter. </a:t>
                      </a:r>
                      <a:endParaRPr sz="1800"/>
                    </a:p>
                    <a:p>
                      <a:pPr indent="-342900" lvl="0" marL="457200" marR="0" rtl="0" algn="l">
                        <a:spcBef>
                          <a:spcPts val="0"/>
                        </a:spcBef>
                        <a:spcAft>
                          <a:spcPts val="0"/>
                        </a:spcAft>
                        <a:buSzPts val="1800"/>
                        <a:buChar char="●"/>
                      </a:pPr>
                      <a:r>
                        <a:rPr lang="en-US" sz="1800"/>
                        <a:t>Updating Touchscreen code to provide </a:t>
                      </a:r>
                      <a:r>
                        <a:rPr lang="en-US" sz="1800"/>
                        <a:t>improved</a:t>
                      </a:r>
                      <a:r>
                        <a:rPr lang="en-US" sz="1800"/>
                        <a:t> UI.</a:t>
                      </a:r>
                      <a:endParaRPr sz="1800"/>
                    </a:p>
                    <a:p>
                      <a:pPr indent="-342900" lvl="0" marL="457200" marR="0" rtl="0" algn="l">
                        <a:spcBef>
                          <a:spcPts val="0"/>
                        </a:spcBef>
                        <a:spcAft>
                          <a:spcPts val="0"/>
                        </a:spcAft>
                        <a:buSzPts val="1800"/>
                        <a:buChar char="●"/>
                      </a:pPr>
                      <a:r>
                        <a:rPr lang="en-US" sz="1800"/>
                        <a:t>Adding Inline fuses for 12V light connections. </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b6f2694c51_0_299"/>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sz="3600"/>
              <a:t>Physical Controls</a:t>
            </a:r>
            <a:br>
              <a:rPr lang="en-US" sz="3600"/>
            </a:br>
            <a:r>
              <a:rPr lang="en-US" sz="1800"/>
              <a:t>Jack Holdridge</a:t>
            </a:r>
            <a:endParaRPr sz="1800"/>
          </a:p>
          <a:p>
            <a:pPr indent="0" lvl="0" marL="0" rtl="0" algn="ctr">
              <a:lnSpc>
                <a:spcPct val="115000"/>
              </a:lnSpc>
              <a:spcBef>
                <a:spcPts val="0"/>
              </a:spcBef>
              <a:spcAft>
                <a:spcPts val="0"/>
              </a:spcAft>
              <a:buClr>
                <a:schemeClr val="dk1"/>
              </a:buClr>
              <a:buSzPts val="990"/>
              <a:buFont typeface="Arial"/>
              <a:buNone/>
            </a:pPr>
            <a:r>
              <a:t/>
            </a:r>
            <a:endParaRPr/>
          </a:p>
        </p:txBody>
      </p:sp>
      <p:sp>
        <p:nvSpPr>
          <p:cNvPr id="169" name="Google Shape;169;g3b6f2694c51_0_299"/>
          <p:cNvSpPr txBox="1"/>
          <p:nvPr>
            <p:ph idx="1" type="body"/>
          </p:nvPr>
        </p:nvSpPr>
        <p:spPr>
          <a:xfrm>
            <a:off x="148100" y="2243350"/>
            <a:ext cx="4881600" cy="4077000"/>
          </a:xfrm>
          <a:prstGeom prst="rect">
            <a:avLst/>
          </a:prstGeom>
          <a:noFill/>
          <a:ln>
            <a:noFill/>
          </a:ln>
        </p:spPr>
        <p:txBody>
          <a:bodyPr anchorCtr="0" anchor="t" bIns="45700" lIns="91425" spcFirstLastPara="1" rIns="91425" wrap="square" tIns="45700">
            <a:normAutofit lnSpcReduction="10000"/>
          </a:bodyPr>
          <a:lstStyle/>
          <a:p>
            <a:pPr indent="-342900" lvl="0" marL="457200" rtl="0" algn="l">
              <a:spcBef>
                <a:spcPts val="360"/>
              </a:spcBef>
              <a:spcAft>
                <a:spcPts val="0"/>
              </a:spcAft>
              <a:buSzPts val="1800"/>
              <a:buChar char="•"/>
            </a:pPr>
            <a:r>
              <a:rPr b="1" lang="en-US" sz="1800"/>
              <a:t>Touchscreen HMI:</a:t>
            </a:r>
            <a:r>
              <a:rPr lang="en-US" sz="1800"/>
              <a:t> The ESP32-S3 reliably renders the user interface, detects touch inputs, and transmits UART control commands to the main MCU.</a:t>
            </a:r>
            <a:endParaRPr sz="1800"/>
          </a:p>
          <a:p>
            <a:pPr indent="0" lvl="0" marL="457200" rtl="0" algn="l">
              <a:spcBef>
                <a:spcPts val="360"/>
              </a:spcBef>
              <a:spcAft>
                <a:spcPts val="0"/>
              </a:spcAft>
              <a:buNone/>
            </a:pPr>
            <a:r>
              <a:t/>
            </a:r>
            <a:endParaRPr sz="1800"/>
          </a:p>
          <a:p>
            <a:pPr indent="-342900" lvl="0" marL="457200" rtl="0" algn="l">
              <a:spcBef>
                <a:spcPts val="360"/>
              </a:spcBef>
              <a:spcAft>
                <a:spcPts val="0"/>
              </a:spcAft>
              <a:buSzPts val="1800"/>
              <a:buChar char="•"/>
            </a:pPr>
            <a:r>
              <a:rPr b="1" lang="en-US" sz="1800"/>
              <a:t>12V</a:t>
            </a:r>
            <a:r>
              <a:rPr b="1" lang="en-US" sz="1800"/>
              <a:t> Buck-Boost Converter:</a:t>
            </a:r>
            <a:r>
              <a:rPr lang="en-US" sz="1800"/>
              <a:t> </a:t>
            </a:r>
            <a:r>
              <a:rPr lang="en-US" sz="1800"/>
              <a:t>Exhibits instability and intermittent failure due to grounding/layout deficiencies and prior thermal overstress; redesign and revalidation are in progress.</a:t>
            </a:r>
            <a:endParaRPr sz="1800"/>
          </a:p>
          <a:p>
            <a:pPr indent="0" lvl="0" marL="457200" rtl="0" algn="l">
              <a:spcBef>
                <a:spcPts val="360"/>
              </a:spcBef>
              <a:spcAft>
                <a:spcPts val="0"/>
              </a:spcAft>
              <a:buNone/>
            </a:pPr>
            <a:r>
              <a:t/>
            </a:r>
            <a:endParaRPr sz="1800"/>
          </a:p>
          <a:p>
            <a:pPr indent="-342900" lvl="0" marL="457200" rtl="0" algn="l">
              <a:spcBef>
                <a:spcPts val="360"/>
              </a:spcBef>
              <a:spcAft>
                <a:spcPts val="0"/>
              </a:spcAft>
              <a:buSzPts val="1800"/>
              <a:buChar char="•"/>
            </a:pPr>
            <a:r>
              <a:rPr b="1" lang="en-US" sz="1800"/>
              <a:t>3.3 V Buck Converter:</a:t>
            </a:r>
            <a:r>
              <a:rPr lang="en-US" sz="1800"/>
              <a:t> </a:t>
            </a:r>
            <a:r>
              <a:rPr lang="en-US" sz="1800"/>
              <a:t>Operates stably and meets expected performance across normal input and load conditions.</a:t>
            </a:r>
            <a:endParaRPr sz="1800"/>
          </a:p>
        </p:txBody>
      </p:sp>
      <p:pic>
        <p:nvPicPr>
          <p:cNvPr id="170" name="Google Shape;170;g3b6f2694c51_0_299"/>
          <p:cNvPicPr preferRelativeResize="0"/>
          <p:nvPr/>
        </p:nvPicPr>
        <p:blipFill>
          <a:blip r:embed="rId3">
            <a:alphaModFix/>
          </a:blip>
          <a:stretch>
            <a:fillRect/>
          </a:stretch>
        </p:blipFill>
        <p:spPr>
          <a:xfrm>
            <a:off x="5182100" y="2005277"/>
            <a:ext cx="3809500" cy="45235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b6f2694c51_0_305"/>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a:t>Android Application and Camera</a:t>
            </a:r>
            <a:br>
              <a:rPr lang="en-US" sz="3600"/>
            </a:br>
            <a:r>
              <a:rPr lang="en-US" sz="1800"/>
              <a:t>Kyle Walcher</a:t>
            </a:r>
            <a:endParaRPr sz="3600"/>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76" name="Google Shape;176;g3b6f2694c51_0_305"/>
          <p:cNvGraphicFramePr/>
          <p:nvPr/>
        </p:nvGraphicFramePr>
        <p:xfrm>
          <a:off x="685800" y="1952075"/>
          <a:ext cx="3000000" cy="3000000"/>
        </p:xfrm>
        <a:graphic>
          <a:graphicData uri="http://schemas.openxmlformats.org/drawingml/2006/table">
            <a:tbl>
              <a:tblPr>
                <a:noFill/>
                <a:tableStyleId>{BE7A01E9-2284-4A97-8274-5A77BA4A5575}</a:tableStyleId>
              </a:tblPr>
              <a:tblGrid>
                <a:gridCol w="3886200"/>
                <a:gridCol w="3886200"/>
              </a:tblGrid>
              <a:tr h="640300">
                <a:tc>
                  <a:txBody>
                    <a:bodyPr/>
                    <a:lstStyle/>
                    <a:p>
                      <a:pPr indent="0" lvl="0" marL="0" marR="0" rtl="0" algn="l">
                        <a:spcBef>
                          <a:spcPts val="0"/>
                        </a:spcBef>
                        <a:spcAft>
                          <a:spcPts val="0"/>
                        </a:spcAft>
                        <a:buClr>
                          <a:schemeClr val="dk1"/>
                        </a:buClr>
                        <a:buSzPts val="1800"/>
                        <a:buFont typeface="Arial"/>
                        <a:buNone/>
                      </a:pPr>
                      <a:r>
                        <a:rPr lang="en-US" sz="1800" u="none" cap="none" strike="noStrike"/>
                        <a:t>Accomplishments since 403                          </a:t>
                      </a:r>
                      <a:r>
                        <a:rPr lang="en-US" sz="1800" u="none" cap="none" strike="noStrike">
                          <a:solidFill>
                            <a:srgbClr val="C00000"/>
                          </a:solidFill>
                        </a:rPr>
                        <a:t>10 hrs of effort</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734600">
                <a:tc>
                  <a:txBody>
                    <a:bodyPr/>
                    <a:lstStyle/>
                    <a:p>
                      <a:pPr indent="-342900" lvl="0" marL="457200" marR="0" rtl="0" algn="l">
                        <a:spcBef>
                          <a:spcPts val="0"/>
                        </a:spcBef>
                        <a:spcAft>
                          <a:spcPts val="0"/>
                        </a:spcAft>
                        <a:buSzPts val="1800"/>
                        <a:buChar char="●"/>
                      </a:pPr>
                      <a:r>
                        <a:rPr lang="en-US" sz="1800"/>
                        <a:t>Added multiple user </a:t>
                      </a:r>
                      <a:r>
                        <a:rPr lang="en-US" sz="1800"/>
                        <a:t>login</a:t>
                      </a:r>
                      <a:endParaRPr sz="1800"/>
                    </a:p>
                    <a:p>
                      <a:pPr indent="0" lvl="0" marL="457200" marR="0" rtl="0" algn="l">
                        <a:spcBef>
                          <a:spcPts val="0"/>
                        </a:spcBef>
                        <a:spcAft>
                          <a:spcPts val="0"/>
                        </a:spcAft>
                        <a:buNone/>
                      </a:pPr>
                      <a:r>
                        <a:t/>
                      </a:r>
                      <a:endParaRPr sz="1800"/>
                    </a:p>
                    <a:p>
                      <a:pPr indent="-342900" lvl="0" marL="457200" marR="0" rtl="0" algn="l">
                        <a:spcBef>
                          <a:spcPts val="0"/>
                        </a:spcBef>
                        <a:spcAft>
                          <a:spcPts val="0"/>
                        </a:spcAft>
                        <a:buSzPts val="1800"/>
                        <a:buChar char="●"/>
                      </a:pPr>
                      <a:r>
                        <a:rPr lang="en-US" sz="1800"/>
                        <a:t>Timestamp on Camera </a:t>
                      </a:r>
                      <a:r>
                        <a:rPr lang="en-US" sz="1800"/>
                        <a:t>screenshot</a:t>
                      </a:r>
                      <a:r>
                        <a:rPr lang="en-US" sz="1800"/>
                        <a:t> and AI Analysis</a:t>
                      </a:r>
                      <a:br>
                        <a:rPr lang="en-US" sz="1800"/>
                      </a:br>
                      <a:endParaRPr sz="1800"/>
                    </a:p>
                    <a:p>
                      <a:pPr indent="-342900" lvl="0" marL="457200" marR="0" rtl="0" algn="l">
                        <a:spcBef>
                          <a:spcPts val="0"/>
                        </a:spcBef>
                        <a:spcAft>
                          <a:spcPts val="0"/>
                        </a:spcAft>
                        <a:buSzPts val="1800"/>
                        <a:buChar char="●"/>
                      </a:pPr>
                      <a:r>
                        <a:rPr lang="en-US" sz="1800"/>
                        <a:t>Added Solar Panel Suggestions Based on weather</a:t>
                      </a:r>
                      <a:endParaRPr sz="1800"/>
                    </a:p>
                    <a:p>
                      <a:pPr indent="0" lvl="0" marL="0" marR="0" rtl="0" algn="l">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342900" lvl="0" marL="457200" marR="0" rtl="0" algn="l">
                        <a:spcBef>
                          <a:spcPts val="0"/>
                        </a:spcBef>
                        <a:spcAft>
                          <a:spcPts val="0"/>
                        </a:spcAft>
                        <a:buSzPts val="1800"/>
                        <a:buChar char="●"/>
                      </a:pPr>
                      <a:r>
                        <a:rPr lang="en-US" sz="1800"/>
                        <a:t>Implement global database instead of local database</a:t>
                      </a:r>
                      <a:endParaRPr sz="1800"/>
                    </a:p>
                    <a:p>
                      <a:pPr indent="0" lvl="0" marL="457200" marR="0" rtl="0" algn="l">
                        <a:spcBef>
                          <a:spcPts val="0"/>
                        </a:spcBef>
                        <a:spcAft>
                          <a:spcPts val="0"/>
                        </a:spcAft>
                        <a:buNone/>
                      </a:pPr>
                      <a:r>
                        <a:t/>
                      </a:r>
                      <a:endParaRPr sz="1800"/>
                    </a:p>
                    <a:p>
                      <a:pPr indent="-342900" lvl="0" marL="457200" marR="0" rtl="0" algn="l">
                        <a:spcBef>
                          <a:spcPts val="0"/>
                        </a:spcBef>
                        <a:spcAft>
                          <a:spcPts val="0"/>
                        </a:spcAft>
                        <a:buSzPts val="1800"/>
                        <a:buChar char="●"/>
                      </a:pPr>
                      <a:r>
                        <a:rPr lang="en-US" sz="1800"/>
                        <a:t>Add user/login </a:t>
                      </a:r>
                      <a:r>
                        <a:rPr lang="en-US" sz="1800"/>
                        <a:t>capabilities</a:t>
                      </a:r>
                      <a:r>
                        <a:rPr lang="en-US" sz="1800"/>
                        <a:t> (Forgot Password, profile customization, activity status)</a:t>
                      </a:r>
                      <a:endParaRPr sz="1800"/>
                    </a:p>
                    <a:p>
                      <a:pPr indent="0" lvl="0" marL="457200" marR="0" rtl="0" algn="l">
                        <a:spcBef>
                          <a:spcPts val="0"/>
                        </a:spcBef>
                        <a:spcAft>
                          <a:spcPts val="0"/>
                        </a:spcAft>
                        <a:buNone/>
                      </a:pPr>
                      <a:r>
                        <a:t/>
                      </a:r>
                      <a:endParaRPr sz="1800"/>
                    </a:p>
                    <a:p>
                      <a:pPr indent="-342900" lvl="0" marL="457200" marR="0" rtl="0" algn="l">
                        <a:spcBef>
                          <a:spcPts val="0"/>
                        </a:spcBef>
                        <a:spcAft>
                          <a:spcPts val="0"/>
                        </a:spcAft>
                        <a:buSzPts val="1800"/>
                        <a:buChar char="●"/>
                      </a:pPr>
                      <a:r>
                        <a:rPr lang="en-US" sz="1800"/>
                        <a:t>Motion sensor integration plan for AI Camera</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b6f2694c51_0_311"/>
          <p:cNvSpPr txBox="1"/>
          <p:nvPr>
            <p:ph type="title"/>
          </p:nvPr>
        </p:nvSpPr>
        <p:spPr>
          <a:xfrm>
            <a:off x="457200" y="80872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a:t>Android Application and Camera</a:t>
            </a:r>
            <a:br>
              <a:rPr lang="en-US" sz="3600"/>
            </a:br>
            <a:r>
              <a:rPr lang="en-US" sz="1800"/>
              <a:t>Kyle Walcher</a:t>
            </a:r>
            <a:endParaRPr sz="3600"/>
          </a:p>
          <a:p>
            <a:pPr indent="0" lvl="0" marL="0" rtl="0" algn="ctr">
              <a:lnSpc>
                <a:spcPct val="115000"/>
              </a:lnSpc>
              <a:spcBef>
                <a:spcPts val="0"/>
              </a:spcBef>
              <a:spcAft>
                <a:spcPts val="0"/>
              </a:spcAft>
              <a:buClr>
                <a:schemeClr val="dk1"/>
              </a:buClr>
              <a:buSzPts val="990"/>
              <a:buFont typeface="Arial"/>
              <a:buNone/>
            </a:pPr>
            <a:r>
              <a:t/>
            </a:r>
            <a:endParaRPr/>
          </a:p>
        </p:txBody>
      </p:sp>
      <p:pic>
        <p:nvPicPr>
          <p:cNvPr id="182" name="Google Shape;182;g3b6f2694c51_0_311"/>
          <p:cNvPicPr preferRelativeResize="0"/>
          <p:nvPr/>
        </p:nvPicPr>
        <p:blipFill>
          <a:blip r:embed="rId3">
            <a:alphaModFix/>
          </a:blip>
          <a:stretch>
            <a:fillRect/>
          </a:stretch>
        </p:blipFill>
        <p:spPr>
          <a:xfrm>
            <a:off x="3950250" y="1698502"/>
            <a:ext cx="4736553" cy="2209245"/>
          </a:xfrm>
          <a:prstGeom prst="rect">
            <a:avLst/>
          </a:prstGeom>
          <a:noFill/>
          <a:ln>
            <a:noFill/>
          </a:ln>
        </p:spPr>
      </p:pic>
      <p:pic>
        <p:nvPicPr>
          <p:cNvPr id="183" name="Google Shape;183;g3b6f2694c51_0_311"/>
          <p:cNvPicPr preferRelativeResize="0"/>
          <p:nvPr/>
        </p:nvPicPr>
        <p:blipFill>
          <a:blip r:embed="rId4">
            <a:alphaModFix/>
          </a:blip>
          <a:stretch>
            <a:fillRect/>
          </a:stretch>
        </p:blipFill>
        <p:spPr>
          <a:xfrm>
            <a:off x="198200" y="1698502"/>
            <a:ext cx="2343960" cy="4700322"/>
          </a:xfrm>
          <a:prstGeom prst="rect">
            <a:avLst/>
          </a:prstGeom>
          <a:noFill/>
          <a:ln>
            <a:noFill/>
          </a:ln>
        </p:spPr>
      </p:pic>
      <p:pic>
        <p:nvPicPr>
          <p:cNvPr id="184" name="Google Shape;184;g3b6f2694c51_0_311"/>
          <p:cNvPicPr preferRelativeResize="0"/>
          <p:nvPr/>
        </p:nvPicPr>
        <p:blipFill>
          <a:blip r:embed="rId5">
            <a:alphaModFix/>
          </a:blip>
          <a:stretch>
            <a:fillRect/>
          </a:stretch>
        </p:blipFill>
        <p:spPr>
          <a:xfrm>
            <a:off x="2923560" y="3993822"/>
            <a:ext cx="1780259" cy="2338678"/>
          </a:xfrm>
          <a:prstGeom prst="rect">
            <a:avLst/>
          </a:prstGeom>
          <a:noFill/>
          <a:ln>
            <a:noFill/>
          </a:ln>
        </p:spPr>
      </p:pic>
      <p:sp>
        <p:nvSpPr>
          <p:cNvPr id="185" name="Google Shape;185;g3b6f2694c51_0_311"/>
          <p:cNvSpPr txBox="1"/>
          <p:nvPr/>
        </p:nvSpPr>
        <p:spPr>
          <a:xfrm>
            <a:off x="5529350" y="4286250"/>
            <a:ext cx="3157500" cy="19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UI/Camera Displayed on the left. Figure shows FPS over 1 minute </a:t>
            </a:r>
            <a:r>
              <a:rPr lang="en-US" sz="1700">
                <a:solidFill>
                  <a:schemeClr val="dk1"/>
                </a:solidFill>
              </a:rPr>
              <a:t>within</a:t>
            </a:r>
            <a:r>
              <a:rPr lang="en-US" sz="1700">
                <a:solidFill>
                  <a:schemeClr val="dk1"/>
                </a:solidFill>
              </a:rPr>
              <a:t> application. Camera </a:t>
            </a:r>
            <a:r>
              <a:rPr lang="en-US" sz="1700">
                <a:solidFill>
                  <a:schemeClr val="dk1"/>
                </a:solidFill>
              </a:rPr>
              <a:t>Optimization</a:t>
            </a:r>
            <a:r>
              <a:rPr lang="en-US" sz="1700">
                <a:solidFill>
                  <a:schemeClr val="dk1"/>
                </a:solidFill>
              </a:rPr>
              <a:t> and controls integration will be focused on in 404.</a:t>
            </a:r>
            <a:endParaRPr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b6f2694c51_0_317"/>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sz="3600"/>
              <a:t>MCU, Sensors &amp; Database</a:t>
            </a:r>
            <a:br>
              <a:rPr lang="en-US" sz="3600"/>
            </a:br>
            <a:r>
              <a:rPr lang="en-US" sz="1800"/>
              <a:t>Matthew Greer</a:t>
            </a:r>
            <a:endParaRPr/>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91" name="Google Shape;191;g3b6f2694c51_0_317"/>
          <p:cNvGraphicFramePr/>
          <p:nvPr/>
        </p:nvGraphicFramePr>
        <p:xfrm>
          <a:off x="685800" y="2107725"/>
          <a:ext cx="3000000" cy="3000000"/>
        </p:xfrm>
        <a:graphic>
          <a:graphicData uri="http://schemas.openxmlformats.org/drawingml/2006/table">
            <a:tbl>
              <a:tblPr>
                <a:noFill/>
                <a:tableStyleId>{BE7A01E9-2284-4A97-8274-5A77BA4A5575}</a:tableStyleId>
              </a:tblPr>
              <a:tblGrid>
                <a:gridCol w="3886200"/>
                <a:gridCol w="3886200"/>
              </a:tblGrid>
              <a:tr h="640300">
                <a:tc>
                  <a:txBody>
                    <a:bodyPr/>
                    <a:lstStyle/>
                    <a:p>
                      <a:pPr indent="0" lvl="0" marL="0" marR="0" rtl="0" algn="l">
                        <a:spcBef>
                          <a:spcPts val="0"/>
                        </a:spcBef>
                        <a:spcAft>
                          <a:spcPts val="0"/>
                        </a:spcAft>
                        <a:buClr>
                          <a:schemeClr val="dk1"/>
                        </a:buClr>
                        <a:buSzPts val="1800"/>
                        <a:buFont typeface="Arial"/>
                        <a:buNone/>
                      </a:pPr>
                      <a:r>
                        <a:rPr lang="en-US" sz="1800" u="none" cap="none" strike="noStrike"/>
                        <a:t>Accomplishments since 403                          </a:t>
                      </a:r>
                      <a:r>
                        <a:rPr lang="en-US" sz="1800">
                          <a:solidFill>
                            <a:srgbClr val="C00000"/>
                          </a:solidFill>
                        </a:rPr>
                        <a:t>10 Hours </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734600">
                <a:tc>
                  <a:txBody>
                    <a:bodyPr/>
                    <a:lstStyle/>
                    <a:p>
                      <a:pPr indent="-342900" lvl="0" marL="457200" marR="0" rtl="0" algn="l">
                        <a:spcBef>
                          <a:spcPts val="0"/>
                        </a:spcBef>
                        <a:spcAft>
                          <a:spcPts val="0"/>
                        </a:spcAft>
                        <a:buSzPts val="1800"/>
                        <a:buChar char="●"/>
                      </a:pPr>
                      <a:r>
                        <a:rPr lang="en-US" sz="1800"/>
                        <a:t>Verified sensor control logic for PIR motion detection and light sensor</a:t>
                      </a:r>
                      <a:endParaRPr sz="1800"/>
                    </a:p>
                    <a:p>
                      <a:pPr indent="-342900" lvl="0" marL="457200" marR="0" rtl="0" algn="l">
                        <a:spcBef>
                          <a:spcPts val="0"/>
                        </a:spcBef>
                        <a:spcAft>
                          <a:spcPts val="0"/>
                        </a:spcAft>
                        <a:buSzPts val="1800"/>
                        <a:buChar char="●"/>
                      </a:pPr>
                      <a:r>
                        <a:rPr lang="en-US" sz="1800"/>
                        <a:t>Designed </a:t>
                      </a:r>
                      <a:r>
                        <a:rPr lang="en-US" sz="1800"/>
                        <a:t>and</a:t>
                      </a:r>
                      <a:r>
                        <a:rPr lang="en-US" sz="1800"/>
                        <a:t> built cloud </a:t>
                      </a:r>
                      <a:r>
                        <a:rPr lang="en-US" sz="1800"/>
                        <a:t>database for storing information and remote commands</a:t>
                      </a:r>
                      <a:endParaRPr sz="1800"/>
                    </a:p>
                    <a:p>
                      <a:pPr indent="-342900" lvl="0" marL="457200" marR="0" rtl="0" algn="l">
                        <a:spcBef>
                          <a:spcPts val="0"/>
                        </a:spcBef>
                        <a:spcAft>
                          <a:spcPts val="0"/>
                        </a:spcAft>
                        <a:buSzPts val="1800"/>
                        <a:buChar char="●"/>
                      </a:pPr>
                      <a:r>
                        <a:rPr lang="en-US" sz="1800"/>
                        <a:t>Integrated Sensors, MCU logic and database completing subsystem </a:t>
                      </a:r>
                      <a:endParaRPr sz="1800"/>
                    </a:p>
                    <a:p>
                      <a:pPr indent="0" lvl="0" marL="0" marR="0" rtl="0" algn="l">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c>
                  <a:txBody>
                    <a:bodyPr/>
                    <a:lstStyle/>
                    <a:p>
                      <a:pPr indent="-342900" lvl="0" marL="457200" marR="0" rtl="0" algn="l">
                        <a:spcBef>
                          <a:spcPts val="0"/>
                        </a:spcBef>
                        <a:spcAft>
                          <a:spcPts val="0"/>
                        </a:spcAft>
                        <a:buSzPts val="1800"/>
                        <a:buChar char="●"/>
                      </a:pPr>
                      <a:r>
                        <a:rPr lang="en-US" sz="1800"/>
                        <a:t>Latency in switch and sensor command updates when the MCU is fully </a:t>
                      </a:r>
                      <a:r>
                        <a:rPr lang="en-US" sz="1800"/>
                        <a:t>running</a:t>
                      </a:r>
                      <a:r>
                        <a:rPr lang="en-US" sz="1800"/>
                        <a:t> all tasks</a:t>
                      </a:r>
                      <a:endParaRPr sz="1800"/>
                    </a:p>
                    <a:p>
                      <a:pPr indent="-342900" lvl="0" marL="457200" marR="0" rtl="0" algn="l">
                        <a:spcBef>
                          <a:spcPts val="0"/>
                        </a:spcBef>
                        <a:spcAft>
                          <a:spcPts val="0"/>
                        </a:spcAft>
                        <a:buSzPts val="1800"/>
                        <a:buChar char="●"/>
                      </a:pPr>
                      <a:r>
                        <a:rPr lang="en-US" sz="1800"/>
                        <a:t>MCU connects to </a:t>
                      </a:r>
                      <a:r>
                        <a:rPr lang="en-US" sz="1800"/>
                        <a:t>Wi-Fi</a:t>
                      </a:r>
                      <a:r>
                        <a:rPr lang="en-US" sz="1800"/>
                        <a:t> reliably but data transfer is inconsistent</a:t>
                      </a:r>
                      <a:endParaRPr sz="1800"/>
                    </a:p>
                    <a:p>
                      <a:pPr indent="-342900" lvl="0" marL="457200" marR="0" rtl="0" algn="l">
                        <a:spcBef>
                          <a:spcPts val="0"/>
                        </a:spcBef>
                        <a:spcAft>
                          <a:spcPts val="0"/>
                        </a:spcAft>
                        <a:buSzPts val="1800"/>
                        <a:buChar char="●"/>
                      </a:pPr>
                      <a:r>
                        <a:rPr lang="en-US" sz="1800"/>
                        <a:t>Remote </a:t>
                      </a:r>
                      <a:r>
                        <a:rPr lang="en-US" sz="1800"/>
                        <a:t>command changes from database aren't always received by the MCU</a:t>
                      </a:r>
                      <a:r>
                        <a:rPr lang="en-US" sz="1800"/>
                        <a:t>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b6f2694c51_0_323"/>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sz="3600"/>
              <a:t>MCU, Sensors &amp; Database</a:t>
            </a:r>
            <a:br>
              <a:rPr lang="en-US" sz="3600"/>
            </a:br>
            <a:r>
              <a:rPr lang="en-US" sz="1800"/>
              <a:t>Matthew Greer</a:t>
            </a:r>
            <a:endParaRPr/>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97" name="Google Shape;197;g3b6f2694c51_0_323"/>
          <p:cNvGraphicFramePr/>
          <p:nvPr/>
        </p:nvGraphicFramePr>
        <p:xfrm>
          <a:off x="197525" y="2074750"/>
          <a:ext cx="3000000" cy="3000000"/>
        </p:xfrm>
        <a:graphic>
          <a:graphicData uri="http://schemas.openxmlformats.org/drawingml/2006/table">
            <a:tbl>
              <a:tblPr>
                <a:noFill/>
                <a:tableStyleId>{BE7A01E9-2284-4A97-8274-5A77BA4A5575}</a:tableStyleId>
              </a:tblPr>
              <a:tblGrid>
                <a:gridCol w="881375"/>
                <a:gridCol w="774875"/>
                <a:gridCol w="1320625"/>
                <a:gridCol w="1234950"/>
              </a:tblGrid>
              <a:tr h="367275">
                <a:tc>
                  <a:txBody>
                    <a:bodyPr/>
                    <a:lstStyle/>
                    <a:p>
                      <a:pPr indent="0" lvl="0" marL="0" rtl="0" algn="ctr">
                        <a:lnSpc>
                          <a:spcPct val="115000"/>
                        </a:lnSpc>
                        <a:spcBef>
                          <a:spcPts val="0"/>
                        </a:spcBef>
                        <a:spcAft>
                          <a:spcPts val="0"/>
                        </a:spcAft>
                        <a:buNone/>
                      </a:pPr>
                      <a:r>
                        <a:rPr b="1" lang="en-US" sz="700"/>
                        <a:t>Test Case</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US" sz="700"/>
                        <a:t>Conditions</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US" sz="700"/>
                        <a:t>Expected Relay Outputs</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b="1" lang="en-US" sz="700"/>
                        <a:t>Result</a:t>
                      </a:r>
                      <a:endParaRPr b="1"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Daytime, No Motion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LDR = Day, PIR = 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Porch: OFF • Foyer: OFF • Security: OFF</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Daytime, Motion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LDR = Day, PIR = 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Porch: OFF • Foyer: OFF • Security: OFF</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Nighttime, No Motion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LDR = Night, PIR = 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Porch: ON • Foyer: OFF • Security: OFF</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Nighttime, Motion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LDR = Night, PIR = 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Porch: ON • Foyer: OFF • Security: 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Relay: Foyer Light</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Relay_Foyer = 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Foyer: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Relay: Porch Light</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Relay Porch =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Porch: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Relay: Security Light</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Relay Security =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Security: ON </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469950">
                <a:tc>
                  <a:txBody>
                    <a:bodyPr/>
                    <a:lstStyle/>
                    <a:p>
                      <a:pPr indent="0" lvl="0" marL="0" rtl="0" algn="ctr">
                        <a:spcBef>
                          <a:spcPts val="0"/>
                        </a:spcBef>
                        <a:spcAft>
                          <a:spcPts val="0"/>
                        </a:spcAft>
                        <a:buNone/>
                      </a:pPr>
                      <a:r>
                        <a:rPr lang="en-US" sz="700"/>
                        <a:t>Fail-Safe / Fault Condition</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System Fault Flag = 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ALL Lights = OFF (Safety Mode)</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rtl="0" algn="ctr">
                        <a:spcBef>
                          <a:spcPts val="0"/>
                        </a:spcBef>
                        <a:spcAft>
                          <a:spcPts val="0"/>
                        </a:spcAft>
                        <a:buNone/>
                      </a:pPr>
                      <a:r>
                        <a:rPr lang="en-US" sz="700"/>
                        <a:t>Pass</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bl>
          </a:graphicData>
        </a:graphic>
      </p:graphicFrame>
      <p:pic>
        <p:nvPicPr>
          <p:cNvPr id="198" name="Google Shape;198;g3b6f2694c51_0_323"/>
          <p:cNvPicPr preferRelativeResize="0"/>
          <p:nvPr/>
        </p:nvPicPr>
        <p:blipFill>
          <a:blip r:embed="rId3">
            <a:alphaModFix/>
          </a:blip>
          <a:stretch>
            <a:fillRect/>
          </a:stretch>
        </p:blipFill>
        <p:spPr>
          <a:xfrm>
            <a:off x="4902200" y="2302318"/>
            <a:ext cx="4122926" cy="1816882"/>
          </a:xfrm>
          <a:prstGeom prst="rect">
            <a:avLst/>
          </a:prstGeom>
          <a:noFill/>
          <a:ln>
            <a:noFill/>
          </a:ln>
        </p:spPr>
      </p:pic>
      <p:pic>
        <p:nvPicPr>
          <p:cNvPr id="199" name="Google Shape;199;g3b6f2694c51_0_323"/>
          <p:cNvPicPr preferRelativeResize="0"/>
          <p:nvPr/>
        </p:nvPicPr>
        <p:blipFill>
          <a:blip r:embed="rId4">
            <a:alphaModFix/>
          </a:blip>
          <a:stretch>
            <a:fillRect/>
          </a:stretch>
        </p:blipFill>
        <p:spPr>
          <a:xfrm>
            <a:off x="5488850" y="4246200"/>
            <a:ext cx="2434000" cy="2434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8"/>
          <p:cNvSpPr txBox="1"/>
          <p:nvPr>
            <p:ph type="title"/>
          </p:nvPr>
        </p:nvSpPr>
        <p:spPr>
          <a:xfrm>
            <a:off x="450851" y="1049177"/>
            <a:ext cx="8235950" cy="80375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Parts Ordering Status</a:t>
            </a:r>
            <a:endParaRPr/>
          </a:p>
        </p:txBody>
      </p:sp>
      <p:sp>
        <p:nvSpPr>
          <p:cNvPr id="205" name="Google Shape;205;p8"/>
          <p:cNvSpPr txBox="1"/>
          <p:nvPr/>
        </p:nvSpPr>
        <p:spPr>
          <a:xfrm>
            <a:off x="370133" y="1767996"/>
            <a:ext cx="8455200" cy="452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Calibri"/>
                <a:ea typeface="Calibri"/>
                <a:cs typeface="Calibri"/>
                <a:sym typeface="Calibri"/>
              </a:rPr>
              <a:t>Ordered, Not Yet Received:</a:t>
            </a:r>
            <a:endParaRPr b="1"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None at this time.</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b="1" lang="en-US" sz="1800">
                <a:solidFill>
                  <a:schemeClr val="dk1"/>
                </a:solidFill>
                <a:latin typeface="Calibri"/>
                <a:ea typeface="Calibri"/>
                <a:cs typeface="Calibri"/>
                <a:sym typeface="Calibri"/>
              </a:rPr>
              <a:t>Remaining Parts to Be Ordered:</a:t>
            </a:r>
            <a:endParaRPr b="1"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Ceiling-mounted lighting fixtures and exterior security light fixture.</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Replacement 12 V buck converter IC (pending final part selection).</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Redesigned Charge Controller PCB.</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Thermistor</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Solar Panel to PCB Male and Female connectors</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b="1" lang="en-US" sz="1800">
                <a:solidFill>
                  <a:schemeClr val="dk1"/>
                </a:solidFill>
                <a:latin typeface="Calibri"/>
                <a:ea typeface="Calibri"/>
                <a:cs typeface="Calibri"/>
                <a:sym typeface="Calibri"/>
              </a:rPr>
              <a:t>Expected Completion of Parts Ordering:</a:t>
            </a:r>
            <a:endParaRPr b="1"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All remaining components are expected to be ordered within the next 1–2 weeks, with full parts availability anticipated shortly thereafter, pending supplier lead times.</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9"/>
          <p:cNvSpPr txBox="1"/>
          <p:nvPr>
            <p:ph type="title"/>
          </p:nvPr>
        </p:nvSpPr>
        <p:spPr>
          <a:xfrm>
            <a:off x="450851" y="1049177"/>
            <a:ext cx="8235950" cy="803756"/>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Execution &amp; Plan</a:t>
            </a:r>
            <a:endParaRPr/>
          </a:p>
        </p:txBody>
      </p:sp>
      <p:pic>
        <p:nvPicPr>
          <p:cNvPr id="211" name="Google Shape;211;p9"/>
          <p:cNvPicPr preferRelativeResize="0"/>
          <p:nvPr/>
        </p:nvPicPr>
        <p:blipFill>
          <a:blip r:embed="rId3">
            <a:alphaModFix/>
          </a:blip>
          <a:stretch>
            <a:fillRect/>
          </a:stretch>
        </p:blipFill>
        <p:spPr>
          <a:xfrm>
            <a:off x="152400" y="2005325"/>
            <a:ext cx="8692375" cy="3475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b6f2694c51_0_334"/>
          <p:cNvSpPr txBox="1"/>
          <p:nvPr/>
        </p:nvSpPr>
        <p:spPr>
          <a:xfrm>
            <a:off x="8126730" y="6494683"/>
            <a:ext cx="5601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300"/>
              <a:buFont typeface="Arial"/>
              <a:buNone/>
            </a:pPr>
            <a:fld id="{00000000-1234-1234-1234-123412341234}" type="slidenum">
              <a:rPr b="0" i="0" lang="en-US" sz="1200" u="none" cap="none" strike="noStrike">
                <a:solidFill>
                  <a:srgbClr val="888888"/>
                </a:solidFill>
                <a:latin typeface="Arial"/>
                <a:ea typeface="Arial"/>
                <a:cs typeface="Arial"/>
                <a:sym typeface="Arial"/>
              </a:rPr>
              <a:t>‹#›</a:t>
            </a:fld>
            <a:endParaRPr b="0" i="0" sz="1200" u="none" cap="none" strike="noStrike">
              <a:solidFill>
                <a:srgbClr val="888888"/>
              </a:solidFill>
              <a:latin typeface="Arial"/>
              <a:ea typeface="Arial"/>
              <a:cs typeface="Arial"/>
              <a:sym typeface="Arial"/>
            </a:endParaRPr>
          </a:p>
        </p:txBody>
      </p:sp>
      <p:sp>
        <p:nvSpPr>
          <p:cNvPr id="217" name="Google Shape;217;g3b6f2694c51_0_334"/>
          <p:cNvSpPr txBox="1"/>
          <p:nvPr>
            <p:ph idx="1" type="body"/>
          </p:nvPr>
        </p:nvSpPr>
        <p:spPr>
          <a:xfrm>
            <a:off x="392975" y="1123825"/>
            <a:ext cx="7878900" cy="3636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700"/>
              <a:buNone/>
            </a:pPr>
            <a:r>
              <a:rPr b="1" lang="en-US"/>
              <a:t>Solar Home Lighting 3:</a:t>
            </a:r>
            <a:r>
              <a:rPr lang="en-US"/>
              <a:t> </a:t>
            </a:r>
            <a:endParaRPr/>
          </a:p>
          <a:p>
            <a:pPr indent="0" lvl="0" marL="0" rtl="0" algn="ctr">
              <a:spcBef>
                <a:spcPts val="0"/>
              </a:spcBef>
              <a:spcAft>
                <a:spcPts val="0"/>
              </a:spcAft>
              <a:buSzPts val="700"/>
              <a:buNone/>
            </a:pPr>
            <a:r>
              <a:t/>
            </a:r>
            <a:endParaRPr/>
          </a:p>
          <a:p>
            <a:pPr indent="0" lvl="0" marL="0" rtl="0" algn="ctr">
              <a:spcBef>
                <a:spcPts val="0"/>
              </a:spcBef>
              <a:spcAft>
                <a:spcPts val="0"/>
              </a:spcAft>
              <a:buSzPts val="700"/>
              <a:buNone/>
            </a:pPr>
            <a:r>
              <a:t/>
            </a:r>
            <a:endParaRPr/>
          </a:p>
          <a:p>
            <a:pPr indent="0" lvl="0" marL="0" rtl="0" algn="l">
              <a:spcBef>
                <a:spcPts val="0"/>
              </a:spcBef>
              <a:spcAft>
                <a:spcPts val="0"/>
              </a:spcAft>
              <a:buSzPts val="700"/>
              <a:buNone/>
            </a:pPr>
            <a:r>
              <a:rPr lang="en-US"/>
              <a:t>                  Thank you for listening!</a:t>
            </a:r>
            <a:endParaRPr/>
          </a:p>
          <a:p>
            <a:pPr indent="0" lvl="0" marL="0" rtl="0" algn="ctr">
              <a:spcBef>
                <a:spcPts val="0"/>
              </a:spcBef>
              <a:spcAft>
                <a:spcPts val="0"/>
              </a:spcAft>
              <a:buSzPts val="700"/>
              <a:buNone/>
            </a:pPr>
            <a:r>
              <a:rPr lang="en-US"/>
              <a:t>Questions?</a:t>
            </a:r>
            <a:br>
              <a:rPr lang="en-US"/>
            </a:br>
            <a:br>
              <a:rPr lang="en-US"/>
            </a:br>
            <a:endParaRPr/>
          </a:p>
          <a:p>
            <a:pPr indent="0" lvl="0" marL="0" rtl="0" algn="r">
              <a:lnSpc>
                <a:spcPct val="100000"/>
              </a:lnSpc>
              <a:spcBef>
                <a:spcPts val="0"/>
              </a:spcBef>
              <a:spcAft>
                <a:spcPts val="0"/>
              </a:spcAft>
              <a:buSzPts val="700"/>
              <a:buNone/>
            </a:pPr>
            <a:r>
              <a:t/>
            </a:r>
            <a:endParaRPr/>
          </a:p>
        </p:txBody>
      </p:sp>
      <p:sp>
        <p:nvSpPr>
          <p:cNvPr id="218" name="Google Shape;218;g3b6f2694c51_0_334"/>
          <p:cNvSpPr txBox="1"/>
          <p:nvPr/>
        </p:nvSpPr>
        <p:spPr>
          <a:xfrm>
            <a:off x="6373975" y="3527225"/>
            <a:ext cx="2714100" cy="2893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br>
              <a:rPr lang="en-US" sz="2800">
                <a:solidFill>
                  <a:schemeClr val="dk1"/>
                </a:solidFill>
              </a:rPr>
            </a:br>
            <a:r>
              <a:rPr lang="en-US" sz="2800">
                <a:solidFill>
                  <a:schemeClr val="dk1"/>
                </a:solidFill>
              </a:rPr>
              <a:t>Jack Holdridge</a:t>
            </a:r>
            <a:endParaRPr sz="2800">
              <a:solidFill>
                <a:schemeClr val="dk1"/>
              </a:solidFill>
            </a:endParaRPr>
          </a:p>
          <a:p>
            <a:pPr indent="0" lvl="0" marL="0" rtl="0" algn="r">
              <a:spcBef>
                <a:spcPts val="0"/>
              </a:spcBef>
              <a:spcAft>
                <a:spcPts val="0"/>
              </a:spcAft>
              <a:buNone/>
            </a:pPr>
            <a:r>
              <a:rPr lang="en-US" sz="2800">
                <a:solidFill>
                  <a:schemeClr val="dk1"/>
                </a:solidFill>
              </a:rPr>
              <a:t>Kyle Walcher</a:t>
            </a:r>
            <a:endParaRPr sz="2800">
              <a:solidFill>
                <a:schemeClr val="dk1"/>
              </a:solidFill>
            </a:endParaRPr>
          </a:p>
          <a:p>
            <a:pPr indent="0" lvl="0" marL="0" rtl="0" algn="r">
              <a:spcBef>
                <a:spcPts val="0"/>
              </a:spcBef>
              <a:spcAft>
                <a:spcPts val="0"/>
              </a:spcAft>
              <a:buNone/>
            </a:pPr>
            <a:r>
              <a:rPr lang="en-US" sz="2800">
                <a:solidFill>
                  <a:schemeClr val="dk1"/>
                </a:solidFill>
              </a:rPr>
              <a:t>Matthew Greer</a:t>
            </a:r>
            <a:endParaRPr sz="2800">
              <a:solidFill>
                <a:schemeClr val="dk1"/>
              </a:solidFill>
            </a:endParaRPr>
          </a:p>
          <a:p>
            <a:pPr indent="0" lvl="0" marL="0" rtl="0" algn="r">
              <a:spcBef>
                <a:spcPts val="0"/>
              </a:spcBef>
              <a:spcAft>
                <a:spcPts val="0"/>
              </a:spcAft>
              <a:buNone/>
            </a:pPr>
            <a:r>
              <a:rPr lang="en-US" sz="2800">
                <a:solidFill>
                  <a:schemeClr val="dk1"/>
                </a:solidFill>
              </a:rPr>
              <a:t>Adam Garcia</a:t>
            </a:r>
            <a:endParaRPr sz="2800">
              <a:solidFill>
                <a:schemeClr val="dk1"/>
              </a:solidFill>
            </a:endParaRPr>
          </a:p>
          <a:p>
            <a:pPr indent="0" lvl="0" marL="0" rtl="0" algn="r">
              <a:spcBef>
                <a:spcPts val="0"/>
              </a:spcBef>
              <a:spcAft>
                <a:spcPts val="0"/>
              </a:spcAft>
              <a:buNone/>
            </a:pPr>
            <a:r>
              <a:rPr lang="en-US" sz="1800">
                <a:solidFill>
                  <a:schemeClr val="dk1"/>
                </a:solidFill>
              </a:rPr>
              <a:t>TA: Guanhua Tao</a:t>
            </a:r>
            <a:endParaRPr sz="1800">
              <a:solidFill>
                <a:schemeClr val="dk1"/>
              </a:solidFill>
            </a:endParaRPr>
          </a:p>
          <a:p>
            <a:pPr indent="0" lvl="0" marL="0" rtl="0" algn="r">
              <a:spcBef>
                <a:spcPts val="0"/>
              </a:spcBef>
              <a:spcAft>
                <a:spcPts val="0"/>
              </a:spcAft>
              <a:buNone/>
            </a:pPr>
            <a:r>
              <a:rPr lang="en-US" sz="1800">
                <a:solidFill>
                  <a:schemeClr val="dk1"/>
                </a:solidFill>
              </a:rPr>
              <a:t>Sponsor: Won Jang</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2013-06-18T16:37:55Z</dcterms:created>
  <dc:creator>Nowka, Kevin J.</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eadingOrderVerifiedPages">
    <vt:lpwstr>9</vt:lpwstr>
  </property>
</Properties>
</file>