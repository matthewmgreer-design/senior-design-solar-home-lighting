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CJ//87I9p6QTZTO1NJepQA2cX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89457C-B720-4F6F-A3B6-708674B07216}">
  <a:tblStyle styleId="{8C89457C-B720-4F6F-A3B6-708674B0721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4E6EA8F-FD8B-4B77-AC46-8D09E45F8F0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24EB9C6-48ED-4FD4-93EA-4EA858FB5F2B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c425a8daa_5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c425a8daa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cc425a8daa_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c425a8da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7" name="Google Shape;97;g3cc425a8daa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c425a8daa_2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cc425a8da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c425a8da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1" name="Google Shape;111;g3cc425a8daa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c425a8daa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6" name="Google Shape;126;g3cc425a8daa_6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c425a8daa_6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2" name="Google Shape;132;g3cc425a8daa_6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c425a8daa_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0" name="Google Shape;140;g3cc425a8daa_7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c425a8daa_4_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c425a8daa_4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cc425a8daa_4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22: Solar Home Lighting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/>
              <a:t>Bi-Weekly Update 4</a:t>
            </a:r>
            <a:br>
              <a:rPr lang="en-US"/>
            </a:br>
            <a:r>
              <a:rPr lang="en-US" sz="2455"/>
              <a:t>Jack Holdridge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Kyle Walcher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Matthew Greer</a:t>
            </a:r>
            <a:br>
              <a:rPr lang="en-US" sz="2455"/>
            </a:br>
            <a:r>
              <a:rPr lang="en-US" sz="2455"/>
              <a:t>Sponsor: Guanhua Tao</a:t>
            </a:r>
            <a:br>
              <a:rPr lang="en-US" sz="2455"/>
            </a:br>
            <a:r>
              <a:rPr lang="en-US" sz="2455"/>
              <a:t>TA: Won Jang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2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 </a:t>
            </a:r>
            <a:endParaRPr/>
          </a:p>
        </p:txBody>
      </p:sp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10682"/>
          <a:stretch/>
        </p:blipFill>
        <p:spPr>
          <a:xfrm>
            <a:off x="5433550" y="2166075"/>
            <a:ext cx="3187624" cy="337582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382150" y="200422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Problem statement: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</a:rPr>
              <a:t>Current smart-home systems depend on grid power and cloud connectivity, causing lighting and monitoring to fail during outages and creating reliability and usability barriers for users.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</a:rPr>
              <a:t>Our Solution:</a:t>
            </a:r>
            <a:endParaRPr b="1" sz="3200">
              <a:solidFill>
                <a:srgbClr val="000000"/>
              </a:solidFill>
            </a:endParaRPr>
          </a:p>
          <a:p>
            <a:pPr indent="-247650" lvl="0" marL="3429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-US" sz="1300">
                <a:solidFill>
                  <a:srgbClr val="000000"/>
                </a:solidFill>
              </a:rPr>
              <a:t>Combine security, lighting control, and user interaction into one coordinated platform</a:t>
            </a:r>
            <a:endParaRPr sz="1300">
              <a:solidFill>
                <a:srgbClr val="000000"/>
              </a:solidFill>
            </a:endParaRPr>
          </a:p>
          <a:p>
            <a:pPr indent="-247650" lvl="0" marL="3429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-US" sz="1300">
                <a:solidFill>
                  <a:srgbClr val="000000"/>
                </a:solidFill>
              </a:rPr>
              <a:t>Offer flexible controls, with both local and remote capabilities.</a:t>
            </a:r>
            <a:endParaRPr sz="1300">
              <a:solidFill>
                <a:srgbClr val="000000"/>
              </a:solidFill>
            </a:endParaRPr>
          </a:p>
          <a:p>
            <a:pPr indent="-247650" lvl="0" marL="3429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Char char="•"/>
            </a:pPr>
            <a:r>
              <a:rPr lang="en-US" sz="1300">
                <a:solidFill>
                  <a:srgbClr val="000000"/>
                </a:solidFill>
              </a:rPr>
              <a:t>Ensures the home remains safely lit and monitored regardless of grid fluctuations.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534825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Integrated System Diagram </a:t>
            </a:r>
            <a:endParaRPr/>
          </a:p>
        </p:txBody>
      </p:sp>
      <p:pic>
        <p:nvPicPr>
          <p:cNvPr id="73" name="Google Shape;7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700" y="1852877"/>
            <a:ext cx="8348588" cy="4700323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 </a:t>
            </a:r>
            <a:endParaRPr/>
          </a:p>
        </p:txBody>
      </p:sp>
      <p:graphicFrame>
        <p:nvGraphicFramePr>
          <p:cNvPr id="79" name="Google Shape;79;p5"/>
          <p:cNvGraphicFramePr/>
          <p:nvPr/>
        </p:nvGraphicFramePr>
        <p:xfrm>
          <a:off x="327425" y="28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{8C89457C-B720-4F6F-A3B6-708674B07216}</a:tableStyleId>
              </a:tblPr>
              <a:tblGrid>
                <a:gridCol w="1503525"/>
                <a:gridCol w="1383275"/>
                <a:gridCol w="1194200"/>
                <a:gridCol w="1194200"/>
                <a:gridCol w="1125450"/>
                <a:gridCol w="1046375"/>
                <a:gridCol w="912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Subsystem Designs updated and ready for integration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(to complete 2/4/26)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Integration of Database with application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(completed 1/28/26)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Integration of </a:t>
                      </a:r>
                      <a:r>
                        <a:rPr lang="en-US"/>
                        <a:t>motion </a:t>
                      </a:r>
                      <a:r>
                        <a:rPr lang="en-US" sz="1400" u="none" cap="none" strike="noStrike"/>
                        <a:t>controls with android application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(complete 2/1</a:t>
                      </a:r>
                      <a:r>
                        <a:rPr lang="en-US"/>
                        <a:t>8</a:t>
                      </a:r>
                      <a:r>
                        <a:rPr lang="en-US" sz="1400" u="none" cap="none" strike="noStrike"/>
                        <a:t>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Final Integration (to complete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3</a:t>
                      </a:r>
                      <a:r>
                        <a:rPr lang="en-US" sz="1400" u="none" cap="none" strike="noStrike"/>
                        <a:t>/</a:t>
                      </a:r>
                      <a:r>
                        <a:rPr lang="en-US"/>
                        <a:t>4</a:t>
                      </a:r>
                      <a:r>
                        <a:rPr lang="en-US" sz="1400" u="none" cap="none" strike="noStrike"/>
                        <a:t>/26)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System Test (to complete 3/</a:t>
                      </a:r>
                      <a:r>
                        <a:rPr lang="en-US"/>
                        <a:t>18</a:t>
                      </a:r>
                      <a:r>
                        <a:rPr lang="en-US" sz="1400" u="none" cap="none" strike="noStrike"/>
                        <a:t>/26)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Validation of system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(to complete 3/</a:t>
                      </a:r>
                      <a:r>
                        <a:rPr lang="en-US"/>
                        <a:t>25</a:t>
                      </a:r>
                      <a:r>
                        <a:rPr lang="en-US" sz="1400" u="none" cap="none" strike="noStrike"/>
                        <a:t>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Demo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(to complete 4/15/26)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MPPT Charge Controller</a:t>
            </a:r>
            <a:br>
              <a:rPr lang="en-US" sz="3600"/>
            </a:br>
            <a:r>
              <a:rPr lang="en-US" sz="1800"/>
              <a:t>Adam Garcia</a:t>
            </a:r>
            <a:endParaRPr/>
          </a:p>
        </p:txBody>
      </p:sp>
      <p:graphicFrame>
        <p:nvGraphicFramePr>
          <p:cNvPr id="85" name="Google Shape;85;p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{74E6EA8F-FD8B-4B77-AC46-8D09E45F8F00}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12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Tested MPPT IC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DC Electronic Load CC Mode: Current not limiting to set 8.3A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Finish testing components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c425a8daa_5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en-US"/>
              <a:t>MPPT Charge Controller</a:t>
            </a:r>
            <a:br>
              <a:rPr lang="en-US" sz="3600"/>
            </a:br>
            <a:r>
              <a:rPr lang="en-US" sz="1800"/>
              <a:t>Adam Garcia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38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2" name="Google Shape;92;g3cc425a8daa_5_0"/>
          <p:cNvSpPr txBox="1"/>
          <p:nvPr>
            <p:ph idx="1" type="body"/>
          </p:nvPr>
        </p:nvSpPr>
        <p:spPr>
          <a:xfrm>
            <a:off x="5213425" y="2401500"/>
            <a:ext cx="3545700" cy="205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/>
              <a:t>Testing:</a:t>
            </a:r>
            <a:endParaRPr b="1" sz="1500" u="sng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MPPT IC soldered onto board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Tested buck conversion with DC Electronic Load.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RSNSB set to limit current to 8.33A</a:t>
            </a:r>
            <a:endParaRPr sz="1400"/>
          </a:p>
        </p:txBody>
      </p:sp>
      <p:pic>
        <p:nvPicPr>
          <p:cNvPr id="93" name="Google Shape;93;g3cc425a8daa_5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" y="2211275"/>
            <a:ext cx="4453146" cy="3753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g3cc425a8daa_5_0"/>
          <p:cNvCxnSpPr/>
          <p:nvPr/>
        </p:nvCxnSpPr>
        <p:spPr>
          <a:xfrm flipH="1">
            <a:off x="3284150" y="3597800"/>
            <a:ext cx="3014400" cy="104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c425a8daa_2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Physical Controls</a:t>
            </a:r>
            <a:br>
              <a:rPr lang="en-US" sz="3600"/>
            </a:br>
            <a:r>
              <a:rPr lang="en-US" sz="1800"/>
              <a:t>Jack Holdridge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00" name="Google Shape;100;g3cc425a8daa_2_0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{D24EB9C6-48ED-4FD4-93EA-4EA858FB5F2B}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Accomplishments since last update</a:t>
                      </a:r>
                      <a:r>
                        <a:rPr lang="en-US" sz="1800" u="none" cap="none" strike="noStrike"/>
                        <a:t>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22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Verified bidirectional communication between HMI touchscreen and MCU controller, </a:t>
                      </a:r>
                      <a:r>
                        <a:rPr lang="en-US" sz="1800"/>
                        <a:t>through</a:t>
                      </a:r>
                      <a:r>
                        <a:rPr lang="en-US" sz="1800"/>
                        <a:t> local and remote toggles.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Confirmed remote state updates propagate to the HMI display.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Tested lighting control hardware integration.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Added pull up wire circuit to send security camera trigger.</a:t>
                      </a:r>
                      <a:endParaRPr sz="1800"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Completed 3D CAD model for the system housing; initial 3D print failed and </a:t>
                      </a:r>
                      <a:r>
                        <a:rPr lang="en-US" sz="1800"/>
                        <a:t>adjustment</a:t>
                      </a:r>
                      <a:r>
                        <a:rPr lang="en-US" sz="1800"/>
                        <a:t> are being made.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Firmware refinement and </a:t>
                      </a:r>
                      <a:r>
                        <a:rPr lang="en-US" sz="1800"/>
                        <a:t>communication</a:t>
                      </a:r>
                      <a:r>
                        <a:rPr lang="en-US" sz="1800"/>
                        <a:t> testing to prepare for complete MCU code upload. 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Installing motion and LDR sensors, and verifying stability. </a:t>
                      </a:r>
                      <a:endParaRPr sz="1800"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c425a8daa_2_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Physical Controls</a:t>
            </a:r>
            <a:br>
              <a:rPr lang="en-US" sz="3600"/>
            </a:br>
            <a:r>
              <a:rPr lang="en-US" sz="1800"/>
              <a:t>Jack Holdridge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06" name="Google Shape;106;g3cc425a8daa_2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322" y="2851200"/>
            <a:ext cx="5451699" cy="3493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cc425a8daa_2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975" y="4185477"/>
            <a:ext cx="3071523" cy="2159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cc425a8daa_2_5"/>
          <p:cNvSpPr txBox="1"/>
          <p:nvPr/>
        </p:nvSpPr>
        <p:spPr>
          <a:xfrm>
            <a:off x="227125" y="2284425"/>
            <a:ext cx="289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>
                <a:solidFill>
                  <a:schemeClr val="dk1"/>
                </a:solidFill>
              </a:rPr>
              <a:t>Subsystem Housing</a:t>
            </a:r>
            <a:endParaRPr b="1" sz="1500" u="sng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3D model complete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3D print failed due to machine issue, planned to restart print tonight.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c425a8daa_0_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Android Application and Camera</a:t>
            </a:r>
            <a:br>
              <a:rPr lang="en-US"/>
            </a:br>
            <a:r>
              <a:rPr lang="en-US" sz="1600"/>
              <a:t>Kyle Walcher</a:t>
            </a:r>
            <a:endParaRPr/>
          </a:p>
        </p:txBody>
      </p:sp>
      <p:graphicFrame>
        <p:nvGraphicFramePr>
          <p:cNvPr id="114" name="Google Shape;114;g3cc425a8daa_0_3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{74E6EA8F-FD8B-4B77-AC46-8D09E45F8F00}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12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Motion Sensor to Camera Logic Code and Circuit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Backend and </a:t>
                      </a:r>
                      <a:r>
                        <a:rPr lang="en-US" sz="1800"/>
                        <a:t>Frontend</a:t>
                      </a:r>
                      <a:r>
                        <a:rPr lang="en-US" sz="1800"/>
                        <a:t> Battery Percentage Display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Remote Lighting Control Logic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Lighting Control Testing and Verification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Battery Display Integration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457200" y="1049338"/>
            <a:ext cx="8229600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Android Application and Camera</a:t>
            </a:r>
            <a:br>
              <a:rPr lang="en-US"/>
            </a:br>
            <a:r>
              <a:rPr lang="en-US" sz="1600"/>
              <a:t>Kyle Walcher</a:t>
            </a:r>
            <a:endParaRPr/>
          </a:p>
        </p:txBody>
      </p:sp>
      <p:pic>
        <p:nvPicPr>
          <p:cNvPr id="120" name="Google Shape;12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600" y="4189022"/>
            <a:ext cx="3550174" cy="220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4349" y="1870600"/>
            <a:ext cx="3907426" cy="230044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 txBox="1"/>
          <p:nvPr/>
        </p:nvSpPr>
        <p:spPr>
          <a:xfrm>
            <a:off x="5576350" y="2053650"/>
            <a:ext cx="289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>
                <a:solidFill>
                  <a:schemeClr val="dk1"/>
                </a:solidFill>
              </a:rPr>
              <a:t>Motion Sensor Integration Test Criteria</a:t>
            </a:r>
            <a:endParaRPr b="1" sz="1500" u="sng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3.3V -&gt; ESP32 Wakes &amp; Pic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Picture Uploads to Firebase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Application Notification and displays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&lt;15 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5756225" y="4407100"/>
            <a:ext cx="2713200" cy="1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>
                <a:solidFill>
                  <a:schemeClr val="dk1"/>
                </a:solidFill>
              </a:rPr>
              <a:t>Motion Sensor Integration Test Results</a:t>
            </a:r>
            <a:endParaRPr b="1" sz="1500" u="sng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93% Efficiency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1 fail due to connection timeout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Stable WiFi is a must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c425a8daa_6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MCU, Sensors &amp; Database</a:t>
            </a:r>
            <a:br>
              <a:rPr lang="en-US" sz="3600"/>
            </a:br>
            <a:r>
              <a:rPr lang="en-US" sz="1800"/>
              <a:t>Matthew Greer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29" name="Google Shape;129;g3cc425a8daa_6_0"/>
          <p:cNvGraphicFramePr/>
          <p:nvPr/>
        </p:nvGraphicFramePr>
        <p:xfrm>
          <a:off x="685800" y="259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{D24EB9C6-48ED-4FD4-93EA-4EA858FB5F2B}</a:tableStyleId>
              </a:tblPr>
              <a:tblGrid>
                <a:gridCol w="3886200"/>
                <a:gridCol w="3886200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Accomplishments Update                </a:t>
                      </a:r>
                      <a:r>
                        <a:rPr lang="en-US" sz="19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sz="1900">
                          <a:solidFill>
                            <a:srgbClr val="C00000"/>
                          </a:solidFill>
                        </a:rPr>
                        <a:t>7</a:t>
                      </a:r>
                      <a:r>
                        <a:rPr lang="en-US" sz="1900" u="none" cap="none" strike="noStrike">
                          <a:solidFill>
                            <a:srgbClr val="C00000"/>
                          </a:solidFill>
                        </a:rPr>
                        <a:t> Hours</a:t>
                      </a:r>
                      <a:endParaRPr sz="19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75" marB="457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Ongoing progress/problems and plans until the next presentation</a:t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Implemented UART command parsing for touchscreen → to MCU</a:t>
                      </a:r>
                      <a:b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Restructured lighting logic to support Auto and Manual Override</a:t>
                      </a:r>
                      <a:b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Structured 3-task RTOS architecture (UI/Control,Network)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Integrate database control with mobile app interface</a:t>
                      </a:r>
                      <a:b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Implement software-level integration between MCU and charge controller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Char char="●"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Begin physical testing of updated motion sensors and collect data of logic timing 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45775" marB="457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cc425a8daa_6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1475" y="1341125"/>
            <a:ext cx="5672525" cy="508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cc425a8daa_6_57"/>
          <p:cNvSpPr/>
          <p:nvPr/>
        </p:nvSpPr>
        <p:spPr>
          <a:xfrm>
            <a:off x="3698800" y="3349938"/>
            <a:ext cx="2303100" cy="1063200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cc425a8daa_6_57"/>
          <p:cNvSpPr/>
          <p:nvPr/>
        </p:nvSpPr>
        <p:spPr>
          <a:xfrm rot="-8671375">
            <a:off x="2564872" y="3165373"/>
            <a:ext cx="1286060" cy="39875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g3cc425a8daa_6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75" y="1652175"/>
            <a:ext cx="3286551" cy="126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cc425a8daa_7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375" y="1399625"/>
            <a:ext cx="4244517" cy="4386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cc425a8daa_7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543" y="1399625"/>
            <a:ext cx="4065932" cy="43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 </a:t>
            </a:r>
            <a:endParaRPr/>
          </a:p>
        </p:txBody>
      </p:sp>
      <p:pic>
        <p:nvPicPr>
          <p:cNvPr id="149" name="Google Shape;14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333"/>
            <a:ext cx="8839198" cy="3205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c425a8daa_4_10"/>
          <p:cNvSpPr txBox="1"/>
          <p:nvPr>
            <p:ph type="title"/>
          </p:nvPr>
        </p:nvSpPr>
        <p:spPr>
          <a:xfrm>
            <a:off x="2320925" y="293952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Validation Plan</a:t>
            </a:r>
            <a:endParaRPr/>
          </a:p>
        </p:txBody>
      </p:sp>
      <p:graphicFrame>
        <p:nvGraphicFramePr>
          <p:cNvPr id="156" name="Google Shape;156;g3cc425a8daa_4_10"/>
          <p:cNvGraphicFramePr/>
          <p:nvPr/>
        </p:nvGraphicFramePr>
        <p:xfrm>
          <a:off x="159675" y="123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{74E6EA8F-FD8B-4B77-AC46-8D09E45F8F00}</a:tableStyleId>
              </a:tblPr>
              <a:tblGrid>
                <a:gridCol w="933450"/>
                <a:gridCol w="942975"/>
                <a:gridCol w="2197625"/>
                <a:gridCol w="2711900"/>
                <a:gridCol w="1119475"/>
                <a:gridCol w="9192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Requirement</a:t>
                      </a:r>
                      <a:endParaRPr b="1"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Success Criteria</a:t>
                      </a:r>
                      <a:endParaRPr b="1"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Methodology</a:t>
                      </a:r>
                      <a:endParaRPr b="1"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Responsible</a:t>
                      </a:r>
                      <a:endParaRPr b="1"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Status</a:t>
                      </a:r>
                      <a:endParaRPr b="1"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57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Solar Charging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FSR-PWR-1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Battery charges to 13.6–14.4 V from solar input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Apply solar input and measure battery voltage/current rise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Adam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Battery Powered Operation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FSR-PWR-2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 operates from 10.8–14.2 V battery rail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Disconnect solar and verify lights, sensors, and MCU operation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Jack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69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Motion Lighting Response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FSR-FUNC-1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Lights activate ≤3 s after motion detection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Trigger PIR sensor and measure relay/light response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Matt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8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Sensor Functionality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FSR-FUNC-2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PIR, reed, and daylight sensors report correct state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Trigger each sensor and verify MCU detection and response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Matt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33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Touchscreen Control &amp; Status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FSR-FUNC-3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Button press toggles relay and updates button color/state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Press HMI buttons and verify relay action + UI update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Jack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Mobile App Control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FSR-FUNC-4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 command toggles lighting ≤3 s delay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Send command from app and verify relay activation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Kyle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35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Camera Streaming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FSR-SEC-1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Live video visible with ≤2 s latency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 mobile app and verify camera stream delay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Matt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Event Capture &amp; Upload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FSR-SEC-2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Motion event stored in database with timestamp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Trigger motion and confirm uploaded image/log entry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Matt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 Power Stability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FSR-SYS-1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3.3 V and 12 V rails within ±5% during operation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 full system and measure rails with multimeter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Jack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Multi-Subsystem Operation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FSR-SYS-2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Lights, sensors, camera, and app operate together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 integrated system 30 min without reset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Team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NC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/>
        </p:nvSpPr>
        <p:spPr>
          <a:xfrm>
            <a:off x="392975" y="1123825"/>
            <a:ext cx="7878900" cy="3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</a:rPr>
              <a:t>Solar Home Lighting 3:</a:t>
            </a:r>
            <a:r>
              <a:rPr lang="en-US" sz="3200">
                <a:solidFill>
                  <a:srgbClr val="000000"/>
                </a:solidFill>
              </a:rPr>
              <a:t> </a:t>
            </a:r>
            <a:endParaRPr sz="3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</a:rPr>
              <a:t>                  Thank you for listening!</a:t>
            </a:r>
            <a:endParaRPr sz="3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</a:rPr>
              <a:t>Questions?</a:t>
            </a:r>
            <a:br>
              <a:rPr lang="en-US" sz="3200">
                <a:solidFill>
                  <a:srgbClr val="000000"/>
                </a:solidFill>
              </a:rPr>
            </a:br>
            <a:br>
              <a:rPr lang="en-US" sz="3200">
                <a:solidFill>
                  <a:srgbClr val="000000"/>
                </a:solidFill>
              </a:rPr>
            </a:br>
            <a:endParaRPr sz="3200">
              <a:solidFill>
                <a:srgbClr val="0000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6373975" y="3527225"/>
            <a:ext cx="2714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Jack Holdridge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Kyle Walcher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Matthew Greer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Adam Garcia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TA: Guanhua Tao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Sponsor: Won Jang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4,5,6,8,9</vt:lpwstr>
  </property>
</Properties>
</file>