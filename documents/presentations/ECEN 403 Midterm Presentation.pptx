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embeddedFontLst>
    <p:embeddedFont>
      <p:font typeface="Helvetica Neue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w3KS3nVEYy4HqQ3zalD2PHtG7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8AF2CA-5A2A-41DF-BA95-44136ACC2625}">
  <a:tblStyle styleId="{998AF2CA-5A2A-41DF-BA95-44136ACC26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015111D-9561-41E7-AE4B-8FF0E8720CC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bold.fntdata"/><Relationship Id="rId14" Type="http://schemas.openxmlformats.org/officeDocument/2006/relationships/font" Target="fonts/HelveticaNeue-regular.fntdata"/><Relationship Id="rId17" Type="http://schemas.openxmlformats.org/officeDocument/2006/relationships/font" Target="fonts/HelveticaNeue-boldItalic.fntdata"/><Relationship Id="rId16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</a:t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482e0a45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8482e0a4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What does the subsystem do?</a:t>
            </a:r>
            <a:endParaRPr sz="1800"/>
          </a:p>
          <a:p>
            <a:pPr indent="-114300" lvl="1" marL="74295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Collects sensor input, executes control logic and provides communication to mobile application and database via wifi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How is it being designed </a:t>
            </a:r>
            <a:endParaRPr sz="1800"/>
          </a:p>
          <a:p>
            <a:pPr indent="-114300" lvl="1" marL="74295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Being implemented using an ESP32 MCU and programmed in the ESP-IDF environment. The Sensors being used are blank and the database platform being used is blank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Key objectives, constraints, metrics (from FSR)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Objective: Ensure reliable data collection from sensors, execute control logic and maintain real-time communication with mobile app and database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Constraints: Must operate in low power to ensure optimal battery life, limited MCU memory, dependent on Wi-Fi availability for communication with database and app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Metrics: Accuracy of sensor data, communication latency, low power consumption and reliability 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How will it connect to and interact with other subsystems (from ICD)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Physical Controls: receives regulated DC power, exchanges data and sends/receives I/O signals for lighting control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Charge Controllers: Reads battery/solar status for logging and uses charge data for inputs into logic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AI Camera+iOS App: Provides real-time data and trends to the app/database and receives commands over Wi-Fi from app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If you have picked SW language, parts, show a tradeoff table that led you to that decision</a:t>
            </a:r>
            <a:endParaRPr sz="18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27491" cy="412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jpg"/><Relationship Id="rId4" Type="http://schemas.openxmlformats.org/officeDocument/2006/relationships/image" Target="../media/image4.jp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ECE</a:t>
            </a:r>
            <a:r>
              <a:rPr lang="en-US"/>
              <a:t>N</a:t>
            </a: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403</a:t>
            </a:r>
            <a:b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Midterm Presentation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093334" cy="52561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3124200" y="3600450"/>
            <a:ext cx="5334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/>
              <a:t>Solar Home Lighting 3:</a:t>
            </a: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/>
              <a:t>Jack Holdridge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Kyle Walcher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Matthew Greer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Adam Garcia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1800"/>
              <a:t>TA: Hailey Ward</a:t>
            </a:r>
            <a:endParaRPr sz="1800"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1800"/>
              <a:t>Sponsor: Won Jang</a:t>
            </a:r>
            <a:br>
              <a:rPr lang="en-US"/>
            </a:br>
            <a:endParaRPr/>
          </a:p>
        </p:txBody>
      </p:sp>
      <p:sp>
        <p:nvSpPr>
          <p:cNvPr id="58" name="Google Shape;58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457200" y="9273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Summary</a:t>
            </a:r>
            <a:endParaRPr/>
          </a:p>
        </p:txBody>
      </p:sp>
      <p:sp>
        <p:nvSpPr>
          <p:cNvPr id="64" name="Google Shape;64;p2"/>
          <p:cNvSpPr txBox="1"/>
          <p:nvPr>
            <p:ph idx="1" type="body"/>
          </p:nvPr>
        </p:nvSpPr>
        <p:spPr>
          <a:xfrm>
            <a:off x="212400" y="1791975"/>
            <a:ext cx="5152500" cy="28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r>
              <a:rPr b="1" lang="en-US" sz="24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1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Rising 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electricity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demand is 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increasing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household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utility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cost while grid 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dependence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leaves homeowners exposed to outages and price 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fluctuations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 b="1"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Provides reliable illumination and 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security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through renewable solar energy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Reduces reliance on grid and lowers monthly utility bill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3">
            <a:alphaModFix/>
          </a:blip>
          <a:srcRect b="0" l="0" r="3110" t="1380"/>
          <a:stretch/>
        </p:blipFill>
        <p:spPr>
          <a:xfrm>
            <a:off x="5364900" y="1635000"/>
            <a:ext cx="3687075" cy="48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3"/>
          <p:cNvCxnSpPr/>
          <p:nvPr/>
        </p:nvCxnSpPr>
        <p:spPr>
          <a:xfrm>
            <a:off x="6533250" y="2598575"/>
            <a:ext cx="11400" cy="195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2" name="Google Shape;72;p3"/>
          <p:cNvSpPr/>
          <p:nvPr/>
        </p:nvSpPr>
        <p:spPr>
          <a:xfrm>
            <a:off x="1362550" y="2701063"/>
            <a:ext cx="1301700" cy="33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2341675" y="4802575"/>
            <a:ext cx="1301700" cy="33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222475" y="3638550"/>
            <a:ext cx="3676800" cy="24933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207600" y="4233863"/>
            <a:ext cx="1301700" cy="33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 txBox="1"/>
          <p:nvPr>
            <p:ph type="title"/>
          </p:nvPr>
        </p:nvSpPr>
        <p:spPr>
          <a:xfrm>
            <a:off x="457200" y="823036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System</a:t>
            </a:r>
            <a:r>
              <a:rPr lang="en-US"/>
              <a:t> Overview</a:t>
            </a:r>
            <a:endParaRPr/>
          </a:p>
        </p:txBody>
      </p:sp>
      <p:sp>
        <p:nvSpPr>
          <p:cNvPr id="77" name="Google Shape;7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609225" y="1842051"/>
            <a:ext cx="4138500" cy="19245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22475" y="1541525"/>
            <a:ext cx="4138500" cy="167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409525" y="4467012"/>
            <a:ext cx="4138500" cy="18060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770829" y="1224914"/>
            <a:ext cx="16560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Adam Garcia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551590" y="3219438"/>
            <a:ext cx="165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Jack Holdridge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6605680" y="1224917"/>
            <a:ext cx="165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Kyle </a:t>
            </a:r>
            <a:r>
              <a:rPr lang="en-US"/>
              <a:t>Walcher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7345237" y="3964567"/>
            <a:ext cx="165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Matthew Greer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63675" y="3707375"/>
            <a:ext cx="2070900" cy="36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85338" y="5445100"/>
            <a:ext cx="1163700" cy="62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795375" y="4788775"/>
            <a:ext cx="1301700" cy="33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770825" y="4788763"/>
            <a:ext cx="1350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Touch screen HMI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2317225" y="4788763"/>
            <a:ext cx="1350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ESP32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994275" y="3666638"/>
            <a:ext cx="2009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12v Buck Boost DC converter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191888" y="5574250"/>
            <a:ext cx="1350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Relay board and LED Lights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761923" y="3015150"/>
            <a:ext cx="1350600" cy="62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2131700" y="4226713"/>
            <a:ext cx="1453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3.3v Buck Converter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4761924" y="3144288"/>
            <a:ext cx="1350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ESP32-EYE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6033529" y="2147033"/>
            <a:ext cx="1453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3.3v Buck Converteri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748032" y="2017888"/>
            <a:ext cx="1597200" cy="62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IOS Application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(SwiftUI)</a:t>
            </a:r>
            <a:endParaRPr/>
          </a:p>
        </p:txBody>
      </p:sp>
      <p:cxnSp>
        <p:nvCxnSpPr>
          <p:cNvPr id="97" name="Google Shape;97;p3"/>
          <p:cNvCxnSpPr>
            <a:stCxn id="88" idx="3"/>
            <a:endCxn id="89" idx="1"/>
          </p:cNvCxnSpPr>
          <p:nvPr/>
        </p:nvCxnSpPr>
        <p:spPr>
          <a:xfrm>
            <a:off x="2121425" y="4971313"/>
            <a:ext cx="195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3"/>
          <p:cNvCxnSpPr>
            <a:endCxn id="89" idx="0"/>
          </p:cNvCxnSpPr>
          <p:nvPr/>
        </p:nvCxnSpPr>
        <p:spPr>
          <a:xfrm>
            <a:off x="2863825" y="4594963"/>
            <a:ext cx="128700" cy="193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3"/>
          <p:cNvCxnSpPr>
            <a:stCxn id="89" idx="2"/>
          </p:cNvCxnSpPr>
          <p:nvPr/>
        </p:nvCxnSpPr>
        <p:spPr>
          <a:xfrm>
            <a:off x="2992525" y="5153863"/>
            <a:ext cx="12300" cy="621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3"/>
          <p:cNvCxnSpPr/>
          <p:nvPr/>
        </p:nvCxnSpPr>
        <p:spPr>
          <a:xfrm rot="10800000">
            <a:off x="1446488" y="5760700"/>
            <a:ext cx="1562700" cy="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3"/>
          <p:cNvSpPr/>
          <p:nvPr/>
        </p:nvSpPr>
        <p:spPr>
          <a:xfrm>
            <a:off x="6966124" y="3015125"/>
            <a:ext cx="1597200" cy="62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OpenAI</a:t>
            </a:r>
            <a:endParaRPr/>
          </a:p>
        </p:txBody>
      </p:sp>
      <p:cxnSp>
        <p:nvCxnSpPr>
          <p:cNvPr id="102" name="Google Shape;102;p3"/>
          <p:cNvCxnSpPr/>
          <p:nvPr/>
        </p:nvCxnSpPr>
        <p:spPr>
          <a:xfrm rot="10800000">
            <a:off x="2013400" y="3024075"/>
            <a:ext cx="0" cy="66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3"/>
          <p:cNvCxnSpPr/>
          <p:nvPr/>
        </p:nvCxnSpPr>
        <p:spPr>
          <a:xfrm>
            <a:off x="5317786" y="2270982"/>
            <a:ext cx="12000" cy="63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4" name="Google Shape;104;p3"/>
          <p:cNvSpPr txBox="1"/>
          <p:nvPr/>
        </p:nvSpPr>
        <p:spPr>
          <a:xfrm>
            <a:off x="1286650" y="2598513"/>
            <a:ext cx="1453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12v deep cycle battery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563725" y="4912575"/>
            <a:ext cx="1562700" cy="420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4609225" y="4941200"/>
            <a:ext cx="15627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ESP32/Firmware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107" name="Google Shape;107;p3"/>
          <p:cNvCxnSpPr>
            <a:endCxn id="93" idx="0"/>
          </p:cNvCxnSpPr>
          <p:nvPr/>
        </p:nvCxnSpPr>
        <p:spPr>
          <a:xfrm>
            <a:off x="2578250" y="4072513"/>
            <a:ext cx="280200" cy="15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3"/>
          <p:cNvCxnSpPr/>
          <p:nvPr/>
        </p:nvCxnSpPr>
        <p:spPr>
          <a:xfrm flipH="1" rot="10800000">
            <a:off x="5331267" y="2232636"/>
            <a:ext cx="416400" cy="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9" name="Google Shape;109;p3"/>
          <p:cNvSpPr/>
          <p:nvPr/>
        </p:nvSpPr>
        <p:spPr>
          <a:xfrm>
            <a:off x="6605675" y="4914475"/>
            <a:ext cx="18237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</a:t>
            </a:r>
            <a:endParaRPr/>
          </a:p>
        </p:txBody>
      </p:sp>
      <p:cxnSp>
        <p:nvCxnSpPr>
          <p:cNvPr id="110" name="Google Shape;110;p3"/>
          <p:cNvCxnSpPr/>
          <p:nvPr/>
        </p:nvCxnSpPr>
        <p:spPr>
          <a:xfrm>
            <a:off x="7947485" y="2270982"/>
            <a:ext cx="12000" cy="63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3"/>
          <p:cNvCxnSpPr/>
          <p:nvPr/>
        </p:nvCxnSpPr>
        <p:spPr>
          <a:xfrm>
            <a:off x="7411792" y="2222086"/>
            <a:ext cx="498000" cy="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3"/>
          <p:cNvCxnSpPr/>
          <p:nvPr/>
        </p:nvCxnSpPr>
        <p:spPr>
          <a:xfrm>
            <a:off x="5272775" y="3771763"/>
            <a:ext cx="15300" cy="103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3" name="Google Shape;113;p3"/>
          <p:cNvSpPr/>
          <p:nvPr/>
        </p:nvSpPr>
        <p:spPr>
          <a:xfrm>
            <a:off x="381125" y="1763600"/>
            <a:ext cx="1301700" cy="33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Solar panel</a:t>
            </a:r>
            <a:endParaRPr sz="1100"/>
          </a:p>
        </p:txBody>
      </p:sp>
      <p:sp>
        <p:nvSpPr>
          <p:cNvPr id="114" name="Google Shape;114;p3"/>
          <p:cNvSpPr/>
          <p:nvPr/>
        </p:nvSpPr>
        <p:spPr>
          <a:xfrm>
            <a:off x="2590175" y="1763600"/>
            <a:ext cx="1350600" cy="33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MPPT charge controller</a:t>
            </a:r>
            <a:endParaRPr sz="1100"/>
          </a:p>
        </p:txBody>
      </p:sp>
      <p:cxnSp>
        <p:nvCxnSpPr>
          <p:cNvPr id="115" name="Google Shape;115;p3"/>
          <p:cNvCxnSpPr>
            <a:stCxn id="114" idx="1"/>
            <a:endCxn id="113" idx="3"/>
          </p:cNvCxnSpPr>
          <p:nvPr/>
        </p:nvCxnSpPr>
        <p:spPr>
          <a:xfrm rot="10800000">
            <a:off x="1682975" y="1932350"/>
            <a:ext cx="907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3"/>
          <p:cNvCxnSpPr>
            <a:endCxn id="114" idx="2"/>
          </p:cNvCxnSpPr>
          <p:nvPr/>
        </p:nvCxnSpPr>
        <p:spPr>
          <a:xfrm rot="10800000">
            <a:off x="3265475" y="2101100"/>
            <a:ext cx="5700" cy="28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3"/>
          <p:cNvCxnSpPr/>
          <p:nvPr/>
        </p:nvCxnSpPr>
        <p:spPr>
          <a:xfrm rot="10800000">
            <a:off x="1984675" y="2371550"/>
            <a:ext cx="1297200" cy="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3"/>
          <p:cNvCxnSpPr/>
          <p:nvPr/>
        </p:nvCxnSpPr>
        <p:spPr>
          <a:xfrm rot="10800000">
            <a:off x="1996800" y="2371950"/>
            <a:ext cx="2400" cy="317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3"/>
          <p:cNvCxnSpPr/>
          <p:nvPr/>
        </p:nvCxnSpPr>
        <p:spPr>
          <a:xfrm>
            <a:off x="1309575" y="4072475"/>
            <a:ext cx="7800" cy="59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3"/>
          <p:cNvCxnSpPr/>
          <p:nvPr/>
        </p:nvCxnSpPr>
        <p:spPr>
          <a:xfrm>
            <a:off x="571100" y="4666900"/>
            <a:ext cx="3900" cy="77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3"/>
          <p:cNvCxnSpPr/>
          <p:nvPr/>
        </p:nvCxnSpPr>
        <p:spPr>
          <a:xfrm flipH="1" rot="10800000">
            <a:off x="571100" y="4675575"/>
            <a:ext cx="752700" cy="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3"/>
          <p:cNvCxnSpPr/>
          <p:nvPr/>
        </p:nvCxnSpPr>
        <p:spPr>
          <a:xfrm>
            <a:off x="6546075" y="4600525"/>
            <a:ext cx="869700" cy="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3"/>
          <p:cNvCxnSpPr/>
          <p:nvPr/>
        </p:nvCxnSpPr>
        <p:spPr>
          <a:xfrm rot="10800000">
            <a:off x="7518450" y="4590400"/>
            <a:ext cx="2700" cy="26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4" name="Google Shape;124;p3"/>
          <p:cNvSpPr/>
          <p:nvPr/>
        </p:nvSpPr>
        <p:spPr>
          <a:xfrm>
            <a:off x="5482475" y="5680500"/>
            <a:ext cx="1744500" cy="45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Sensors</a:t>
            </a:r>
            <a:endParaRPr/>
          </a:p>
        </p:txBody>
      </p:sp>
      <p:cxnSp>
        <p:nvCxnSpPr>
          <p:cNvPr id="125" name="Google Shape;125;p3"/>
          <p:cNvCxnSpPr/>
          <p:nvPr/>
        </p:nvCxnSpPr>
        <p:spPr>
          <a:xfrm flipH="1">
            <a:off x="5753075" y="5391475"/>
            <a:ext cx="1200" cy="23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3"/>
          <p:cNvCxnSpPr/>
          <p:nvPr/>
        </p:nvCxnSpPr>
        <p:spPr>
          <a:xfrm>
            <a:off x="6984225" y="5391525"/>
            <a:ext cx="1200" cy="22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MPPT Charge Controller – Adam Garcia</a:t>
            </a:r>
            <a:endParaRPr/>
          </a:p>
        </p:txBody>
      </p:sp>
      <p:sp>
        <p:nvSpPr>
          <p:cNvPr id="132" name="Google Shape;132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4"/>
          <p:cNvSpPr txBox="1"/>
          <p:nvPr>
            <p:ph idx="1" type="body"/>
          </p:nvPr>
        </p:nvSpPr>
        <p:spPr>
          <a:xfrm>
            <a:off x="457200" y="3533745"/>
            <a:ext cx="82296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Purpose:</a:t>
            </a:r>
            <a:endParaRPr b="1"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Regulates the variable DC output from the solar panel to charge the battery.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Design:</a:t>
            </a:r>
            <a:endParaRPr b="1" sz="16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Regulates power from the solar panel to the battery by continuously adjusting the operating point to maximize energy efficiency with PWM buck converter.</a:t>
            </a:r>
            <a:endParaRPr sz="16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Implemented on an ESP32.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Key components:</a:t>
            </a:r>
            <a:endParaRPr b="1" sz="16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Buck converter, current/voltage sensors, and high-speed switching elements.</a:t>
            </a:r>
            <a:endParaRPr sz="16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Interfaces with the solar panel subsystem via analog sensing lines, communicates with the battery management system over UART, and shares status/control data with the central app interface through the Main MCU bus.</a:t>
            </a:r>
            <a:endParaRPr sz="1600"/>
          </a:p>
        </p:txBody>
      </p:sp>
      <p:pic>
        <p:nvPicPr>
          <p:cNvPr id="134" name="Google Shape;13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410" y="1852863"/>
            <a:ext cx="915588" cy="80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9075" y="1974646"/>
            <a:ext cx="743907" cy="68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3299" y="2933200"/>
            <a:ext cx="420349" cy="57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4"/>
          <p:cNvCxnSpPr/>
          <p:nvPr/>
        </p:nvCxnSpPr>
        <p:spPr>
          <a:xfrm>
            <a:off x="2307250" y="2844600"/>
            <a:ext cx="14154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4"/>
          <p:cNvCxnSpPr/>
          <p:nvPr/>
        </p:nvCxnSpPr>
        <p:spPr>
          <a:xfrm rot="10800000">
            <a:off x="3718650" y="2570550"/>
            <a:ext cx="300" cy="27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" name="Google Shape;139;p4"/>
          <p:cNvCxnSpPr>
            <a:stCxn id="135" idx="2"/>
          </p:cNvCxnSpPr>
          <p:nvPr/>
        </p:nvCxnSpPr>
        <p:spPr>
          <a:xfrm>
            <a:off x="2301028" y="2656572"/>
            <a:ext cx="1800" cy="19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4"/>
          <p:cNvSpPr/>
          <p:nvPr/>
        </p:nvSpPr>
        <p:spPr>
          <a:xfrm>
            <a:off x="6092975" y="1962963"/>
            <a:ext cx="1241700" cy="68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Load/MMCU</a:t>
            </a:r>
            <a:endParaRPr/>
          </a:p>
        </p:txBody>
      </p:sp>
      <p:cxnSp>
        <p:nvCxnSpPr>
          <p:cNvPr id="141" name="Google Shape;141;p4"/>
          <p:cNvCxnSpPr>
            <a:stCxn id="140" idx="1"/>
          </p:cNvCxnSpPr>
          <p:nvPr/>
        </p:nvCxnSpPr>
        <p:spPr>
          <a:xfrm rot="10800000">
            <a:off x="4730675" y="2292213"/>
            <a:ext cx="1362300" cy="1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2" name="Google Shape;142;p4"/>
          <p:cNvCxnSpPr/>
          <p:nvPr/>
        </p:nvCxnSpPr>
        <p:spPr>
          <a:xfrm flipH="1">
            <a:off x="4722275" y="2289750"/>
            <a:ext cx="3000" cy="5403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4"/>
          <p:cNvCxnSpPr/>
          <p:nvPr/>
        </p:nvCxnSpPr>
        <p:spPr>
          <a:xfrm flipH="1">
            <a:off x="3992175" y="2825200"/>
            <a:ext cx="730200" cy="3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4"/>
          <p:cNvCxnSpPr/>
          <p:nvPr/>
        </p:nvCxnSpPr>
        <p:spPr>
          <a:xfrm flipH="1" rot="10800000">
            <a:off x="3996725" y="2578500"/>
            <a:ext cx="600" cy="2466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4"/>
          <p:cNvCxnSpPr/>
          <p:nvPr/>
        </p:nvCxnSpPr>
        <p:spPr>
          <a:xfrm rot="10800000">
            <a:off x="3896575" y="3212200"/>
            <a:ext cx="1274400" cy="153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4"/>
          <p:cNvCxnSpPr/>
          <p:nvPr/>
        </p:nvCxnSpPr>
        <p:spPr>
          <a:xfrm rot="10800000">
            <a:off x="3821900" y="3367575"/>
            <a:ext cx="13515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7" name="Google Shape;147;p4"/>
          <p:cNvCxnSpPr/>
          <p:nvPr/>
        </p:nvCxnSpPr>
        <p:spPr>
          <a:xfrm rot="10800000">
            <a:off x="3893450" y="2557600"/>
            <a:ext cx="6000" cy="6576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8" name="Google Shape;148;p4"/>
          <p:cNvCxnSpPr/>
          <p:nvPr/>
        </p:nvCxnSpPr>
        <p:spPr>
          <a:xfrm>
            <a:off x="3824025" y="2557850"/>
            <a:ext cx="900" cy="81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482e0a452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Physical Controls – Jack Holdridge</a:t>
            </a:r>
            <a:endParaRPr/>
          </a:p>
        </p:txBody>
      </p:sp>
      <p:sp>
        <p:nvSpPr>
          <p:cNvPr id="154" name="Google Shape;154;g38482e0a452_0_0"/>
          <p:cNvSpPr txBox="1"/>
          <p:nvPr>
            <p:ph idx="12" type="sldNum"/>
          </p:nvPr>
        </p:nvSpPr>
        <p:spPr>
          <a:xfrm>
            <a:off x="6640960" y="6356352"/>
            <a:ext cx="205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g38482e0a452_0_0"/>
          <p:cNvSpPr txBox="1"/>
          <p:nvPr>
            <p:ph idx="1" type="body"/>
          </p:nvPr>
        </p:nvSpPr>
        <p:spPr>
          <a:xfrm>
            <a:off x="0" y="1762650"/>
            <a:ext cx="6055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Role of </a:t>
            </a:r>
            <a:r>
              <a:rPr b="1" lang="en-US" sz="1800"/>
              <a:t>Subsystem</a:t>
            </a:r>
            <a:endParaRPr b="1" sz="1800"/>
          </a:p>
          <a:p>
            <a:pPr indent="-11430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 Provides touch screen HMI for lighting</a:t>
            </a:r>
            <a:endParaRPr sz="1800"/>
          </a:p>
          <a:p>
            <a:pPr indent="0" lvl="0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control</a:t>
            </a:r>
            <a:endParaRPr sz="1800"/>
          </a:p>
          <a:p>
            <a:pPr indent="-11430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 Displays </a:t>
            </a:r>
            <a:r>
              <a:rPr lang="en-US" sz="1800"/>
              <a:t>system</a:t>
            </a:r>
            <a:r>
              <a:rPr lang="en-US" sz="1800"/>
              <a:t> power level</a:t>
            </a:r>
            <a:endParaRPr sz="1800"/>
          </a:p>
          <a:p>
            <a:pPr indent="-11430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 Host DC voltage conversion for microcontroller, sensors, and lighting power</a:t>
            </a:r>
            <a:endParaRPr sz="1800"/>
          </a:p>
          <a:p>
            <a:pPr indent="-11430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 PCB serves as connection hub for other subsystems</a:t>
            </a:r>
            <a:endParaRPr sz="1800"/>
          </a:p>
          <a:p>
            <a:pPr indent="0" lvl="0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1143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 Key Objectives and Constraints</a:t>
            </a:r>
            <a:endParaRPr b="1" sz="1800"/>
          </a:p>
          <a:p>
            <a:pPr indent="-11430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b="1" lang="en-US" sz="1800"/>
              <a:t> </a:t>
            </a:r>
            <a:r>
              <a:rPr lang="en-US" sz="1800"/>
              <a:t>Reliable DC conversion and distribution with minimal power loss</a:t>
            </a:r>
            <a:endParaRPr sz="1800"/>
          </a:p>
          <a:p>
            <a:pPr indent="-11430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 Compact and modular form factor to allow for easy installation</a:t>
            </a:r>
            <a:endParaRPr sz="1800"/>
          </a:p>
          <a:p>
            <a:pPr indent="-11430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 NEC design considerations to ensure safe functionality</a:t>
            </a:r>
            <a:endParaRPr sz="1800"/>
          </a:p>
          <a:p>
            <a:pPr indent="0" lvl="0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pic>
        <p:nvPicPr>
          <p:cNvPr id="156" name="Google Shape;156;g38482e0a45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138419">
            <a:off x="6541527" y="4387546"/>
            <a:ext cx="1864867" cy="1849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8482e0a452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579302" y="3219877"/>
            <a:ext cx="1491959" cy="1437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8482e0a452_0_0"/>
          <p:cNvPicPr preferRelativeResize="0"/>
          <p:nvPr/>
        </p:nvPicPr>
        <p:blipFill rotWithShape="1">
          <a:blip r:embed="rId5">
            <a:alphaModFix/>
          </a:blip>
          <a:srcRect b="0" l="9919" r="2137" t="0"/>
          <a:stretch/>
        </p:blipFill>
        <p:spPr>
          <a:xfrm>
            <a:off x="7966347" y="2392238"/>
            <a:ext cx="1000278" cy="800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8482e0a452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5713618" y="2485081"/>
            <a:ext cx="716567" cy="69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8482e0a452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40050" y="1907025"/>
            <a:ext cx="1387545" cy="959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8482e0a452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21654" y="5984083"/>
            <a:ext cx="586653" cy="81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8482e0a452_0_0"/>
          <p:cNvPicPr preferRelativeResize="0"/>
          <p:nvPr/>
        </p:nvPicPr>
        <p:blipFill rotWithShape="1">
          <a:blip r:embed="rId9">
            <a:alphaModFix/>
          </a:blip>
          <a:srcRect b="0" l="26702" r="0" t="0"/>
          <a:stretch/>
        </p:blipFill>
        <p:spPr>
          <a:xfrm rot="-5399973">
            <a:off x="6226936" y="2467843"/>
            <a:ext cx="588714" cy="4375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g38482e0a452_0_0"/>
          <p:cNvCxnSpPr/>
          <p:nvPr/>
        </p:nvCxnSpPr>
        <p:spPr>
          <a:xfrm rot="5400000">
            <a:off x="7098122" y="3202677"/>
            <a:ext cx="671400" cy="0"/>
          </a:xfrm>
          <a:prstGeom prst="straightConnector1">
            <a:avLst/>
          </a:prstGeom>
          <a:noFill/>
          <a:ln cap="flat" cmpd="sng" w="203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g38482e0a452_0_0"/>
          <p:cNvCxnSpPr>
            <a:endCxn id="157" idx="0"/>
          </p:cNvCxnSpPr>
          <p:nvPr/>
        </p:nvCxnSpPr>
        <p:spPr>
          <a:xfrm flipH="1">
            <a:off x="8044134" y="3295229"/>
            <a:ext cx="450600" cy="643500"/>
          </a:xfrm>
          <a:prstGeom prst="straightConnector1">
            <a:avLst/>
          </a:prstGeom>
          <a:noFill/>
          <a:ln cap="flat" cmpd="sng" w="203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g38482e0a452_0_0"/>
          <p:cNvCxnSpPr/>
          <p:nvPr/>
        </p:nvCxnSpPr>
        <p:spPr>
          <a:xfrm flipH="1" rot="-5400000">
            <a:off x="6478026" y="3204543"/>
            <a:ext cx="397500" cy="270000"/>
          </a:xfrm>
          <a:prstGeom prst="straightConnector1">
            <a:avLst/>
          </a:prstGeom>
          <a:noFill/>
          <a:ln cap="flat" cmpd="sng" w="2037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g38482e0a452_0_0"/>
          <p:cNvCxnSpPr/>
          <p:nvPr/>
        </p:nvCxnSpPr>
        <p:spPr>
          <a:xfrm rot="5400000">
            <a:off x="7098781" y="4623897"/>
            <a:ext cx="632400" cy="0"/>
          </a:xfrm>
          <a:prstGeom prst="straightConnector1">
            <a:avLst/>
          </a:prstGeom>
          <a:noFill/>
          <a:ln cap="flat" cmpd="sng" w="203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g38482e0a452_0_0"/>
          <p:cNvCxnSpPr/>
          <p:nvPr/>
        </p:nvCxnSpPr>
        <p:spPr>
          <a:xfrm rot="5400000">
            <a:off x="7213823" y="5816083"/>
            <a:ext cx="336000" cy="0"/>
          </a:xfrm>
          <a:prstGeom prst="straightConnector1">
            <a:avLst/>
          </a:prstGeom>
          <a:noFill/>
          <a:ln cap="flat" cmpd="sng" w="203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g38482e0a452_0_0"/>
          <p:cNvSpPr/>
          <p:nvPr/>
        </p:nvSpPr>
        <p:spPr>
          <a:xfrm rot="1042990">
            <a:off x="5579929" y="2249767"/>
            <a:ext cx="1317283" cy="1085543"/>
          </a:xfrm>
          <a:prstGeom prst="cloud">
            <a:avLst/>
          </a:prstGeom>
          <a:noFill/>
          <a:ln cap="flat" cmpd="sng" w="203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50" lIns="65250" spcFirstLastPara="1" rIns="65250" wrap="square" tIns="6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8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6"/>
          <p:cNvSpPr txBox="1"/>
          <p:nvPr>
            <p:ph idx="1" type="body"/>
          </p:nvPr>
        </p:nvSpPr>
        <p:spPr>
          <a:xfrm>
            <a:off x="167550" y="3503950"/>
            <a:ext cx="59688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Purpose</a:t>
            </a:r>
            <a:endParaRPr b="1" sz="16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Live video monitoring with motion AI alerts and light control</a:t>
            </a:r>
            <a:endParaRPr sz="16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Secure app integration for database logging and notifications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Design</a:t>
            </a:r>
            <a:endParaRPr b="1" sz="16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ESP32-EYE streams camera feed to iOS app (SwiftUI)</a:t>
            </a:r>
            <a:endParaRPr sz="30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Database (Firebase) stores and logs snapshots for later review</a:t>
            </a:r>
            <a:endParaRPr sz="30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OpenAI for intelligent event analysis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Key Components</a:t>
            </a:r>
            <a:endParaRPr b="1"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ESP32-EYE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SwiftUI Application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OpenAI API</a:t>
            </a:r>
            <a:endParaRPr sz="1600"/>
          </a:p>
        </p:txBody>
      </p:sp>
      <p:pic>
        <p:nvPicPr>
          <p:cNvPr id="175" name="Google Shape;17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800" y="1649227"/>
            <a:ext cx="875050" cy="1422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9051" y="2105710"/>
            <a:ext cx="1001650" cy="80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751" y="1922836"/>
            <a:ext cx="875050" cy="87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7835" y="1685965"/>
            <a:ext cx="694776" cy="694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01349" y="2546660"/>
            <a:ext cx="927725" cy="92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 txBox="1"/>
          <p:nvPr>
            <p:ph type="title"/>
          </p:nvPr>
        </p:nvSpPr>
        <p:spPr>
          <a:xfrm>
            <a:off x="167550" y="713076"/>
            <a:ext cx="88089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IOS Application and Camera – Kyle Walcher</a:t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6853700" y="1616111"/>
            <a:ext cx="1001700" cy="896832"/>
          </a:xfrm>
          <a:prstGeom prst="cloud">
            <a:avLst/>
          </a:prstGeom>
          <a:noFill/>
          <a:ln cap="flat" cmpd="sng" w="7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00" lIns="72600" spcFirstLastPara="1" rIns="72600" wrap="square" tIns="72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1"/>
          </a:p>
        </p:txBody>
      </p:sp>
      <p:cxnSp>
        <p:nvCxnSpPr>
          <p:cNvPr id="182" name="Google Shape;182;p6"/>
          <p:cNvCxnSpPr>
            <a:stCxn id="176" idx="3"/>
          </p:cNvCxnSpPr>
          <p:nvPr/>
        </p:nvCxnSpPr>
        <p:spPr>
          <a:xfrm flipH="1" rot="10800000">
            <a:off x="2040701" y="2507374"/>
            <a:ext cx="823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6"/>
          <p:cNvCxnSpPr/>
          <p:nvPr/>
        </p:nvCxnSpPr>
        <p:spPr>
          <a:xfrm flipH="1" rot="10800000">
            <a:off x="3564825" y="2517125"/>
            <a:ext cx="12732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6"/>
          <p:cNvCxnSpPr>
            <a:stCxn id="177" idx="1"/>
          </p:cNvCxnSpPr>
          <p:nvPr/>
        </p:nvCxnSpPr>
        <p:spPr>
          <a:xfrm flipH="1">
            <a:off x="3566651" y="2360361"/>
            <a:ext cx="12561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6"/>
          <p:cNvCxnSpPr/>
          <p:nvPr/>
        </p:nvCxnSpPr>
        <p:spPr>
          <a:xfrm flipH="1" rot="10800000">
            <a:off x="5649350" y="2625450"/>
            <a:ext cx="8583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6"/>
          <p:cNvCxnSpPr/>
          <p:nvPr/>
        </p:nvCxnSpPr>
        <p:spPr>
          <a:xfrm>
            <a:off x="6505075" y="2628000"/>
            <a:ext cx="51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6"/>
          <p:cNvCxnSpPr/>
          <p:nvPr/>
        </p:nvCxnSpPr>
        <p:spPr>
          <a:xfrm flipH="1" rot="10800000">
            <a:off x="6515250" y="3043275"/>
            <a:ext cx="4407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6"/>
          <p:cNvCxnSpPr/>
          <p:nvPr/>
        </p:nvCxnSpPr>
        <p:spPr>
          <a:xfrm flipH="1">
            <a:off x="6623625" y="2904525"/>
            <a:ext cx="3063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6"/>
          <p:cNvCxnSpPr/>
          <p:nvPr/>
        </p:nvCxnSpPr>
        <p:spPr>
          <a:xfrm rot="10800000">
            <a:off x="6623175" y="2505425"/>
            <a:ext cx="780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6"/>
          <p:cNvCxnSpPr/>
          <p:nvPr/>
        </p:nvCxnSpPr>
        <p:spPr>
          <a:xfrm flipH="1">
            <a:off x="5684450" y="2510000"/>
            <a:ext cx="9423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6"/>
          <p:cNvCxnSpPr/>
          <p:nvPr/>
        </p:nvCxnSpPr>
        <p:spPr>
          <a:xfrm flipH="1" rot="10800000">
            <a:off x="5680325" y="2180950"/>
            <a:ext cx="11511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6"/>
          <p:cNvCxnSpPr/>
          <p:nvPr/>
        </p:nvCxnSpPr>
        <p:spPr>
          <a:xfrm rot="10800000">
            <a:off x="5679375" y="2054325"/>
            <a:ext cx="11166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p6"/>
          <p:cNvSpPr/>
          <p:nvPr/>
        </p:nvSpPr>
        <p:spPr>
          <a:xfrm>
            <a:off x="736925" y="1564525"/>
            <a:ext cx="1689300" cy="16932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6753525" y="1553850"/>
            <a:ext cx="1223400" cy="9939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" name="Google Shape;195;p6"/>
          <p:cNvCxnSpPr/>
          <p:nvPr/>
        </p:nvCxnSpPr>
        <p:spPr>
          <a:xfrm flipH="1" rot="10800000">
            <a:off x="2514100" y="1558750"/>
            <a:ext cx="4006500" cy="51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6"/>
          <p:cNvCxnSpPr/>
          <p:nvPr/>
        </p:nvCxnSpPr>
        <p:spPr>
          <a:xfrm>
            <a:off x="2489150" y="1564525"/>
            <a:ext cx="2700" cy="17667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6"/>
          <p:cNvCxnSpPr/>
          <p:nvPr/>
        </p:nvCxnSpPr>
        <p:spPr>
          <a:xfrm flipH="1">
            <a:off x="6511900" y="1553838"/>
            <a:ext cx="15300" cy="11157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6"/>
          <p:cNvCxnSpPr/>
          <p:nvPr/>
        </p:nvCxnSpPr>
        <p:spPr>
          <a:xfrm flipH="1" rot="10800000">
            <a:off x="6527200" y="2654850"/>
            <a:ext cx="1476000" cy="39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6"/>
          <p:cNvCxnSpPr/>
          <p:nvPr/>
        </p:nvCxnSpPr>
        <p:spPr>
          <a:xfrm rot="10800000">
            <a:off x="8013675" y="2680250"/>
            <a:ext cx="7500" cy="6498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6"/>
          <p:cNvCxnSpPr/>
          <p:nvPr/>
        </p:nvCxnSpPr>
        <p:spPr>
          <a:xfrm>
            <a:off x="2487325" y="3335875"/>
            <a:ext cx="5539500" cy="213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201" name="Google Shape;201;p6"/>
          <p:cNvGraphicFramePr/>
          <p:nvPr/>
        </p:nvGraphicFramePr>
        <p:xfrm>
          <a:off x="6116163" y="3889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{998AF2CA-5A2A-41DF-BA95-44136ACC2625}</a:tableStyleId>
              </a:tblPr>
              <a:tblGrid>
                <a:gridCol w="1274475"/>
                <a:gridCol w="1020375"/>
                <a:gridCol w="712825"/>
              </a:tblGrid>
              <a:tr h="62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Framework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2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SwiftUI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Good MJPEG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iOS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Only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57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React Native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Cross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Platform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High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latency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Flutter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Widgets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Poor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stream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>
            <p:ph type="title"/>
          </p:nvPr>
        </p:nvSpPr>
        <p:spPr>
          <a:xfrm>
            <a:off x="119225" y="794575"/>
            <a:ext cx="90249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MCU/Sensors &amp; Database – Matthew Greer</a:t>
            </a:r>
            <a:endParaRPr/>
          </a:p>
        </p:txBody>
      </p:sp>
      <p:sp>
        <p:nvSpPr>
          <p:cNvPr id="207" name="Google Shape;207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7"/>
          <p:cNvSpPr txBox="1"/>
          <p:nvPr>
            <p:ph idx="1" type="body"/>
          </p:nvPr>
        </p:nvSpPr>
        <p:spPr>
          <a:xfrm>
            <a:off x="457200" y="3686700"/>
            <a:ext cx="40728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MCU/Sensors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Reads digital and analog signals to run control logic lighting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Implemented on an ESP32 using ESP-IDF(C) for greater control and </a:t>
            </a:r>
            <a:r>
              <a:rPr lang="en-US" sz="1800"/>
              <a:t>efficiency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Collects data from charge controller and logs readings/events to database</a:t>
            </a:r>
            <a:endParaRPr sz="1800"/>
          </a:p>
        </p:txBody>
      </p:sp>
      <p:graphicFrame>
        <p:nvGraphicFramePr>
          <p:cNvPr id="209" name="Google Shape;209;p7"/>
          <p:cNvGraphicFramePr/>
          <p:nvPr/>
        </p:nvGraphicFramePr>
        <p:xfrm>
          <a:off x="605050" y="705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{998AF2CA-5A2A-41DF-BA95-44136ACC2625}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Option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Reasoning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ESP-IDF (C)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Full control, and many libraries available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Steeper Learning Curves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Scalable and professional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Arduino</a:t>
                      </a:r>
                      <a:r>
                        <a:rPr lang="en-US"/>
                        <a:t> IDE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Easy to use, fast for prototyping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Less Control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Good for prototyping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MicroPython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Simple syntax and familiarity with Python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Uses more resources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suitable for real time control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0" name="Google Shape;210;p7"/>
          <p:cNvSpPr txBox="1"/>
          <p:nvPr>
            <p:ph idx="1" type="body"/>
          </p:nvPr>
        </p:nvSpPr>
        <p:spPr>
          <a:xfrm>
            <a:off x="4944950" y="3686700"/>
            <a:ext cx="4072800" cy="3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Database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Stores MCU data and provides trends and alerts to be sent to the app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Built on a lightweight cloud database (Firebase)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interacts with the IOS app by sending real time data and updates</a:t>
            </a:r>
            <a:endParaRPr sz="1800"/>
          </a:p>
        </p:txBody>
      </p:sp>
      <p:sp>
        <p:nvSpPr>
          <p:cNvPr id="211" name="Google Shape;211;p7"/>
          <p:cNvSpPr/>
          <p:nvPr/>
        </p:nvSpPr>
        <p:spPr>
          <a:xfrm>
            <a:off x="220525" y="1534550"/>
            <a:ext cx="4309500" cy="1521300"/>
          </a:xfrm>
          <a:prstGeom prst="roundRect">
            <a:avLst>
              <a:gd fmla="val 16667" name="adj"/>
            </a:avLst>
          </a:prstGeom>
          <a:solidFill>
            <a:srgbClr val="5B0F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Objective: Collect sensor inputs,execute control logic and enable real time communication with mobile app and database via WiFi.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212" name="Google Shape;21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6250" y="1459075"/>
            <a:ext cx="3119584" cy="192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>
            <p:ph type="title"/>
          </p:nvPr>
        </p:nvSpPr>
        <p:spPr>
          <a:xfrm>
            <a:off x="15875" y="871575"/>
            <a:ext cx="8229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Project Execution &amp; Validation </a:t>
            </a:r>
            <a:endParaRPr/>
          </a:p>
        </p:txBody>
      </p:sp>
      <p:sp>
        <p:nvSpPr>
          <p:cNvPr id="218" name="Google Shape;218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19" name="Google Shape;219;p8"/>
          <p:cNvGraphicFramePr/>
          <p:nvPr/>
        </p:nvGraphicFramePr>
        <p:xfrm>
          <a:off x="150900" y="147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{4015111D-9561-41E7-AE4B-8FF0E8720CCE}</a:tableStyleId>
              </a:tblPr>
              <a:tblGrid>
                <a:gridCol w="1462000"/>
                <a:gridCol w="1462000"/>
                <a:gridCol w="1462000"/>
                <a:gridCol w="1462000"/>
                <a:gridCol w="1462000"/>
                <a:gridCol w="1462000"/>
              </a:tblGrid>
              <a:tr h="31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8/25 - today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10/6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10/20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11/3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11/17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8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/>
                        <a:t>Charge </a:t>
                      </a:r>
                      <a:r>
                        <a:rPr b="1" lang="en-US" sz="1200"/>
                        <a:t>Controller</a:t>
                      </a:r>
                      <a:r>
                        <a:rPr b="1" lang="en-US" sz="1200"/>
                        <a:t>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(</a:t>
                      </a:r>
                      <a:r>
                        <a:rPr b="1" lang="en-US" sz="1200"/>
                        <a:t>Adam Garcia</a:t>
                      </a:r>
                      <a:r>
                        <a:rPr b="1" lang="en-US" sz="1200" u="none" cap="none" strike="noStrike"/>
                        <a:t>)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Researched components for MPPT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Design and simulate MPPT circuit, PCB, and other components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Test converters and MCU program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Circuit PCB, MCU and integrate physical </a:t>
                      </a:r>
                      <a:r>
                        <a:rPr lang="en-US" sz="1200"/>
                        <a:t>controls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Validate </a:t>
                      </a:r>
                      <a:r>
                        <a:rPr lang="en-US" sz="1200"/>
                        <a:t>that the battery and loads are safely powered.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94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/>
                        <a:t>Physical Controls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(</a:t>
                      </a:r>
                      <a:r>
                        <a:rPr b="1" lang="en-US" sz="1200"/>
                        <a:t>Jack Holdridge</a:t>
                      </a:r>
                      <a:r>
                        <a:rPr b="1" lang="en-US" sz="1200" u="none" cap="none" strike="noStrike"/>
                        <a:t>)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Designed system layout and functionality.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Design DC converters, touchscreen connection, and PCB layout.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Receive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circuit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 components, and program touch screen interface.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Assemble PCB and connect sensors, load, and HMI.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Validate that the assembled HMI functions as expected.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110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/>
                        <a:t>IOS Application and Camera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(</a:t>
                      </a:r>
                      <a:r>
                        <a:rPr b="1" lang="en-US" sz="1200"/>
                        <a:t>Kyle Welcher</a:t>
                      </a:r>
                      <a:r>
                        <a:rPr b="1" lang="en-US" sz="1200" u="none" cap="none" strike="noStrike"/>
                        <a:t>)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Installed </a:t>
                      </a:r>
                      <a:r>
                        <a:rPr lang="en-US" sz="1200"/>
                        <a:t>Swift UI. Developing Prototype UI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Test connection between ESP32-EYE and application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Camera fully 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embedded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 with polished UI application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Test functionality with OpenAI + weather 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Validate </a:t>
                      </a:r>
                      <a:r>
                        <a:rPr lang="en-US" sz="1200"/>
                        <a:t>application communicates seamlessly with camera and database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126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/>
                        <a:t>MCU, Database, and Sensors</a:t>
                      </a:r>
                      <a:r>
                        <a:rPr b="1" lang="en-US" sz="1200" u="none" cap="none" strike="noStrike"/>
                        <a:t> </a:t>
                      </a:r>
                      <a:r>
                        <a:rPr b="1" lang="en-US" sz="1200" u="none" cap="none" strike="noStrike"/>
                        <a:t>(</a:t>
                      </a:r>
                      <a:r>
                        <a:rPr b="1" lang="en-US" sz="1200"/>
                        <a:t>Matthew Greer</a:t>
                      </a:r>
                      <a:r>
                        <a:rPr b="1" lang="en-US" sz="1200" u="none" cap="none" strike="noStrike"/>
                        <a:t>)</a:t>
                      </a:r>
                      <a:endParaRPr b="1"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Installed </a:t>
                      </a:r>
                      <a:r>
                        <a:rPr lang="en-US" sz="1200"/>
                        <a:t>ESP-IDF, created database and establish base firmware framework.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Begin coding, implement 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initial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 control logic 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perform calibration test.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Implement MCU to Firebase communication and validate all sensors.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Full integration test from sensors through MCU to database and app including power consumption checks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Validate communication and finalize subsystem and confirm all control logic functions as expected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</cp:coreProperties>
</file>