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p:regular r:id="rId25"/>
      <p:bold r:id="rId26"/>
      <p:italic r:id="rId27"/>
      <p:boldItalic r:id="rId28"/>
    </p:embeddedFont>
    <p:embeddedFont>
      <p:font typeface="Helvetica Neue"/>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8A962C-05DE-476A-A687-FE61E0C67F64}">
  <a:tblStyle styleId="{658A962C-05DE-476A-A687-FE61E0C67F6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C72C388-77CE-438E-AAAB-D3A49228690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HelveticaNeue-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HelveticaNeue-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55371296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a55371296d_2_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55371296d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a55371296d_2_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55371296d_0_9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Cloud server and database</a:t>
            </a:r>
            <a:endParaRPr/>
          </a:p>
        </p:txBody>
      </p:sp>
      <p:sp>
        <p:nvSpPr>
          <p:cNvPr id="112" name="Google Shape;112;g3a55371296d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55371296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55371296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55371296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55371296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55371296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55371296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55371296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55371296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102a0d04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102a0d04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5537129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5537129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55371296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55371296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55371296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55371296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55371296d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a55371296d_2_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55371296d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a55371296d_0_2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55371296d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a55371296d_2_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a55371296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a55371296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55371296d_0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a55371296d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e2b82c61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e2b82c61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14"/>
          <p:cNvSpPr txBox="1"/>
          <p:nvPr>
            <p:ph type="ctrTitle"/>
          </p:nvPr>
        </p:nvSpPr>
        <p:spPr>
          <a:xfrm>
            <a:off x="3969582" y="1597819"/>
            <a:ext cx="4488617" cy="1102519"/>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subTitle"/>
          </p:nvPr>
        </p:nvSpPr>
        <p:spPr>
          <a:xfrm>
            <a:off x="3124200" y="2914650"/>
            <a:ext cx="5333999" cy="131445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9" name="Google Shape;59;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457200" y="786883"/>
            <a:ext cx="8229600" cy="60281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body"/>
          </p:nvPr>
        </p:nvSpPr>
        <p:spPr>
          <a:xfrm>
            <a:off x="457200" y="1536953"/>
            <a:ext cx="8229600" cy="305767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descr="DLCOE_logo_HWHT.png" id="68" name="Google Shape;68;p15"/>
          <p:cNvPicPr preferRelativeResize="0"/>
          <p:nvPr/>
        </p:nvPicPr>
        <p:blipFill rotWithShape="1">
          <a:blip r:embed="rId3">
            <a:alphaModFix/>
          </a:blip>
          <a:srcRect b="0" l="0" r="0" t="0"/>
          <a:stretch/>
        </p:blipFill>
        <p:spPr>
          <a:xfrm>
            <a:off x="450851" y="175610"/>
            <a:ext cx="1832899" cy="30945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9" name="Shape 69"/>
        <p:cNvGrpSpPr/>
        <p:nvPr/>
      </p:nvGrpSpPr>
      <p:grpSpPr>
        <a:xfrm>
          <a:off x="0" y="0"/>
          <a:ext cx="0" cy="0"/>
          <a:chOff x="0" y="0"/>
          <a:chExt cx="0" cy="0"/>
        </a:xfrm>
      </p:grpSpPr>
      <p:sp>
        <p:nvSpPr>
          <p:cNvPr id="70" name="Google Shape;70;p16"/>
          <p:cNvSpPr txBox="1"/>
          <p:nvPr>
            <p:ph idx="1" type="body"/>
          </p:nvPr>
        </p:nvSpPr>
        <p:spPr>
          <a:xfrm>
            <a:off x="457200" y="1481733"/>
            <a:ext cx="4038600" cy="311288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1" name="Google Shape;71;p16"/>
          <p:cNvSpPr txBox="1"/>
          <p:nvPr>
            <p:ph idx="2" type="body"/>
          </p:nvPr>
        </p:nvSpPr>
        <p:spPr>
          <a:xfrm>
            <a:off x="4648200" y="1481733"/>
            <a:ext cx="4038600" cy="311288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2" name="Google Shape;72;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6"/>
          <p:cNvSpPr txBox="1"/>
          <p:nvPr>
            <p:ph type="title"/>
          </p:nvPr>
        </p:nvSpPr>
        <p:spPr>
          <a:xfrm>
            <a:off x="457200" y="786883"/>
            <a:ext cx="8229600" cy="60281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17"/>
          <p:cNvSpPr txBox="1"/>
          <p:nvPr>
            <p:ph type="title"/>
          </p:nvPr>
        </p:nvSpPr>
        <p:spPr>
          <a:xfrm>
            <a:off x="457200" y="2175487"/>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800226"/>
            <a:ext cx="3008313" cy="55266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3575050" y="805290"/>
            <a:ext cx="5111750" cy="378933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4" name="Google Shape;84;p18"/>
          <p:cNvSpPr txBox="1"/>
          <p:nvPr>
            <p:ph idx="2" type="body"/>
          </p:nvPr>
        </p:nvSpPr>
        <p:spPr>
          <a:xfrm>
            <a:off x="457200" y="1352888"/>
            <a:ext cx="3008313" cy="324173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5" name="Google Shape;85;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19"/>
          <p:cNvSpPr txBox="1"/>
          <p:nvPr>
            <p:ph type="title"/>
          </p:nvPr>
        </p:nvSpPr>
        <p:spPr>
          <a:xfrm>
            <a:off x="457200" y="897322"/>
            <a:ext cx="2573672" cy="42505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9"/>
          <p:cNvSpPr/>
          <p:nvPr>
            <p:ph idx="2" type="pic"/>
          </p:nvPr>
        </p:nvSpPr>
        <p:spPr>
          <a:xfrm>
            <a:off x="3200400" y="897322"/>
            <a:ext cx="5486400" cy="3637715"/>
          </a:xfrm>
          <a:prstGeom prst="rect">
            <a:avLst/>
          </a:prstGeom>
          <a:noFill/>
          <a:ln>
            <a:noFill/>
          </a:ln>
        </p:spPr>
      </p:sp>
      <p:sp>
        <p:nvSpPr>
          <p:cNvPr id="91" name="Google Shape;91;p19"/>
          <p:cNvSpPr txBox="1"/>
          <p:nvPr>
            <p:ph idx="1" type="body"/>
          </p:nvPr>
        </p:nvSpPr>
        <p:spPr>
          <a:xfrm>
            <a:off x="457200" y="1326032"/>
            <a:ext cx="2573672" cy="3209005"/>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2" name="Google Shape;92;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p:nvPr/>
        </p:nvSpPr>
        <p:spPr>
          <a:xfrm>
            <a:off x="0" y="0"/>
            <a:ext cx="6111425" cy="4583569"/>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descr="DLCOE_logo_HWHT.png" id="100" name="Google Shape;100;p20"/>
          <p:cNvPicPr preferRelativeResize="0"/>
          <p:nvPr/>
        </p:nvPicPr>
        <p:blipFill rotWithShape="1">
          <a:blip r:embed="rId4">
            <a:alphaModFix/>
          </a:blip>
          <a:srcRect b="0" l="0" r="0" t="0"/>
          <a:stretch/>
        </p:blipFill>
        <p:spPr>
          <a:xfrm>
            <a:off x="5344000" y="828989"/>
            <a:ext cx="2335649" cy="394331"/>
          </a:xfrm>
          <a:prstGeom prst="rect">
            <a:avLst/>
          </a:prstGeom>
          <a:noFill/>
          <a:ln>
            <a:noFill/>
          </a:ln>
        </p:spPr>
      </p:pic>
      <p:sp>
        <p:nvSpPr>
          <p:cNvPr id="101" name="Google Shape;101;p20"/>
          <p:cNvSpPr txBox="1"/>
          <p:nvPr/>
        </p:nvSpPr>
        <p:spPr>
          <a:xfrm>
            <a:off x="5610375" y="2687025"/>
            <a:ext cx="3004200" cy="2255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1" lang="en" sz="2000">
                <a:solidFill>
                  <a:srgbClr val="FFFFFF"/>
                </a:solidFill>
              </a:rPr>
              <a:t>Team 22</a:t>
            </a:r>
            <a:r>
              <a:rPr lang="en" sz="2000">
                <a:solidFill>
                  <a:srgbClr val="FFFFFF"/>
                </a:solidFill>
              </a:rPr>
              <a:t> </a:t>
            </a:r>
            <a:br>
              <a:rPr lang="en" sz="2000">
                <a:solidFill>
                  <a:srgbClr val="FFFFFF"/>
                </a:solidFill>
              </a:rPr>
            </a:br>
            <a:r>
              <a:rPr lang="en" sz="2000">
                <a:solidFill>
                  <a:srgbClr val="FFFFFF"/>
                </a:solidFill>
              </a:rPr>
              <a:t>Jack Holdridge</a:t>
            </a:r>
            <a:endParaRPr sz="2000">
              <a:solidFill>
                <a:srgbClr val="FFFFFF"/>
              </a:solidFill>
            </a:endParaRPr>
          </a:p>
          <a:p>
            <a:pPr indent="0" lvl="0" marL="0" rtl="0" algn="r">
              <a:spcBef>
                <a:spcPts val="0"/>
              </a:spcBef>
              <a:spcAft>
                <a:spcPts val="0"/>
              </a:spcAft>
              <a:buNone/>
            </a:pPr>
            <a:r>
              <a:rPr lang="en" sz="2000">
                <a:solidFill>
                  <a:srgbClr val="FFFFFF"/>
                </a:solidFill>
              </a:rPr>
              <a:t>Kyle Walcher</a:t>
            </a:r>
            <a:endParaRPr sz="2000">
              <a:solidFill>
                <a:srgbClr val="FFFFFF"/>
              </a:solidFill>
            </a:endParaRPr>
          </a:p>
          <a:p>
            <a:pPr indent="0" lvl="0" marL="0" rtl="0" algn="r">
              <a:spcBef>
                <a:spcPts val="0"/>
              </a:spcBef>
              <a:spcAft>
                <a:spcPts val="0"/>
              </a:spcAft>
              <a:buNone/>
            </a:pPr>
            <a:r>
              <a:rPr lang="en" sz="2000">
                <a:solidFill>
                  <a:srgbClr val="FFFFFF"/>
                </a:solidFill>
              </a:rPr>
              <a:t>Matthew Greer</a:t>
            </a:r>
            <a:endParaRPr sz="2000">
              <a:solidFill>
                <a:srgbClr val="FFFFFF"/>
              </a:solidFill>
            </a:endParaRPr>
          </a:p>
          <a:p>
            <a:pPr indent="0" lvl="0" marL="0" rtl="0" algn="r">
              <a:spcBef>
                <a:spcPts val="0"/>
              </a:spcBef>
              <a:spcAft>
                <a:spcPts val="0"/>
              </a:spcAft>
              <a:buNone/>
            </a:pPr>
            <a:r>
              <a:rPr lang="en" sz="2000">
                <a:solidFill>
                  <a:srgbClr val="FFFFFF"/>
                </a:solidFill>
              </a:rPr>
              <a:t>Adam Garcia</a:t>
            </a:r>
            <a:endParaRPr sz="2000">
              <a:solidFill>
                <a:srgbClr val="FFFFFF"/>
              </a:solidFill>
            </a:endParaRPr>
          </a:p>
          <a:p>
            <a:pPr indent="0" lvl="0" marL="0" rtl="0" algn="r">
              <a:spcBef>
                <a:spcPts val="0"/>
              </a:spcBef>
              <a:spcAft>
                <a:spcPts val="0"/>
              </a:spcAft>
              <a:buNone/>
            </a:pPr>
            <a:r>
              <a:rPr lang="en" sz="2000">
                <a:solidFill>
                  <a:srgbClr val="FFFFFF"/>
                </a:solidFill>
              </a:rPr>
              <a:t>TA: Hailey Ward</a:t>
            </a:r>
            <a:endParaRPr sz="2000">
              <a:solidFill>
                <a:srgbClr val="FFFFFF"/>
              </a:solidFill>
            </a:endParaRPr>
          </a:p>
          <a:p>
            <a:pPr indent="0" lvl="0" marL="0" rtl="0" algn="r">
              <a:spcBef>
                <a:spcPts val="0"/>
              </a:spcBef>
              <a:spcAft>
                <a:spcPts val="0"/>
              </a:spcAft>
              <a:buNone/>
            </a:pPr>
            <a:r>
              <a:rPr lang="en" sz="2000">
                <a:solidFill>
                  <a:srgbClr val="FFFFFF"/>
                </a:solidFill>
              </a:rPr>
              <a:t>Sponsor: Won Jang</a:t>
            </a:r>
            <a:br>
              <a:rPr lang="en" sz="2000">
                <a:solidFill>
                  <a:srgbClr val="FFFFFF"/>
                </a:solidFill>
              </a:rPr>
            </a:br>
            <a:endParaRPr sz="2000">
              <a:solidFill>
                <a:srgbClr val="FFFFFF"/>
              </a:solidFill>
            </a:endParaRPr>
          </a:p>
          <a:p>
            <a:pPr indent="0" lvl="0" marL="0" rtl="0" algn="r">
              <a:spcBef>
                <a:spcPts val="0"/>
              </a:spcBef>
              <a:spcAft>
                <a:spcPts val="0"/>
              </a:spcAft>
              <a:buNone/>
            </a:pPr>
            <a:r>
              <a:t/>
            </a:r>
            <a:endParaRPr sz="2800">
              <a:solidFill>
                <a:srgbClr val="FFFFFF"/>
              </a:solidFill>
            </a:endParaRPr>
          </a:p>
        </p:txBody>
      </p:sp>
      <p:sp>
        <p:nvSpPr>
          <p:cNvPr id="102" name="Google Shape;102;p20"/>
          <p:cNvSpPr txBox="1"/>
          <p:nvPr>
            <p:ph type="ctrTitle"/>
          </p:nvPr>
        </p:nvSpPr>
        <p:spPr>
          <a:xfrm>
            <a:off x="596400" y="1856550"/>
            <a:ext cx="8547600" cy="715200"/>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lt1"/>
              </a:buClr>
              <a:buSzPct val="100000"/>
              <a:buFont typeface="Arial"/>
              <a:buNone/>
            </a:pPr>
            <a:r>
              <a:rPr lang="en"/>
              <a:t>Solar Home Lighting </a:t>
            </a:r>
            <a:endParaRPr/>
          </a:p>
          <a:p>
            <a:pPr indent="0" lvl="0" marL="0" rtl="0" algn="r">
              <a:spcBef>
                <a:spcPts val="0"/>
              </a:spcBef>
              <a:spcAft>
                <a:spcPts val="0"/>
              </a:spcAft>
              <a:buClr>
                <a:schemeClr val="lt1"/>
              </a:buClr>
              <a:buSzPct val="144643"/>
              <a:buFont typeface="Arial"/>
              <a:buNone/>
            </a:pPr>
            <a:r>
              <a:rPr lang="en" sz="2489"/>
              <a:t>Final Presentation</a:t>
            </a:r>
            <a:br>
              <a:rPr lang="en"/>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457200" y="786883"/>
            <a:ext cx="8229600" cy="60281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
              <a:t>Problem Overview</a:t>
            </a:r>
            <a:endParaRPr/>
          </a:p>
        </p:txBody>
      </p:sp>
      <p:sp>
        <p:nvSpPr>
          <p:cNvPr id="108" name="Google Shape;108;p21"/>
          <p:cNvSpPr txBox="1"/>
          <p:nvPr>
            <p:ph idx="1" type="body"/>
          </p:nvPr>
        </p:nvSpPr>
        <p:spPr>
          <a:xfrm>
            <a:off x="457200" y="1536950"/>
            <a:ext cx="5018100" cy="34779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Font typeface="Arial"/>
              <a:buNone/>
            </a:pPr>
            <a:r>
              <a:rPr lang="en" sz="1800">
                <a:latin typeface="Helvetica Neue"/>
                <a:ea typeface="Helvetica Neue"/>
                <a:cs typeface="Helvetica Neue"/>
                <a:sym typeface="Helvetica Neue"/>
              </a:rPr>
              <a:t>Problem statement:</a:t>
            </a:r>
            <a:endParaRPr/>
          </a:p>
          <a:p>
            <a:pPr indent="-276701" lvl="0" marL="342900" rtl="0" algn="l">
              <a:spcBef>
                <a:spcPts val="500"/>
              </a:spcBef>
              <a:spcAft>
                <a:spcPts val="0"/>
              </a:spcAft>
              <a:buSzPct val="146154"/>
              <a:buChar char="•"/>
            </a:pPr>
            <a:r>
              <a:rPr lang="en" sz="1300">
                <a:latin typeface="Helvetica Neue"/>
                <a:ea typeface="Helvetica Neue"/>
                <a:cs typeface="Helvetica Neue"/>
                <a:sym typeface="Helvetica Neue"/>
              </a:rPr>
              <a:t>Residential homeowners lack a reliable, unified system that monitors basic security, and remains operations during power instability. Current solutions require separate devices, each with limited functionality and poor coordination. This leads to gaps in security, unreliable operation during outages, and poor user experience. </a:t>
            </a:r>
            <a:endParaRPr sz="1300">
              <a:latin typeface="Helvetica Neue"/>
              <a:ea typeface="Helvetica Neue"/>
              <a:cs typeface="Helvetica Neue"/>
              <a:sym typeface="Helvetica Neue"/>
            </a:endParaRPr>
          </a:p>
          <a:p>
            <a:pPr indent="0" lvl="0" marL="342900" rtl="0" algn="l">
              <a:spcBef>
                <a:spcPts val="500"/>
              </a:spcBef>
              <a:spcAft>
                <a:spcPts val="0"/>
              </a:spcAft>
              <a:buNone/>
            </a:pPr>
            <a:r>
              <a:t/>
            </a:r>
            <a:endParaRPr sz="1300">
              <a:latin typeface="Helvetica Neue"/>
              <a:ea typeface="Helvetica Neue"/>
              <a:cs typeface="Helvetica Neue"/>
              <a:sym typeface="Helvetica Neue"/>
            </a:endParaRPr>
          </a:p>
          <a:p>
            <a:pPr indent="0" lvl="0" marL="0" rtl="0" algn="l">
              <a:spcBef>
                <a:spcPts val="500"/>
              </a:spcBef>
              <a:spcAft>
                <a:spcPts val="0"/>
              </a:spcAft>
              <a:buClr>
                <a:schemeClr val="dk1"/>
              </a:buClr>
              <a:buSzPct val="100000"/>
              <a:buFont typeface="Arial"/>
              <a:buNone/>
            </a:pPr>
            <a:r>
              <a:rPr lang="en" sz="1800">
                <a:latin typeface="Helvetica Neue"/>
                <a:ea typeface="Helvetica Neue"/>
                <a:cs typeface="Helvetica Neue"/>
                <a:sym typeface="Helvetica Neue"/>
              </a:rPr>
              <a:t>Our Solution:</a:t>
            </a:r>
            <a:endParaRPr/>
          </a:p>
          <a:p>
            <a:pPr indent="-241459" lvl="0" marL="342900" rtl="0" algn="l">
              <a:spcBef>
                <a:spcPts val="500"/>
              </a:spcBef>
              <a:spcAft>
                <a:spcPts val="0"/>
              </a:spcAft>
              <a:buSzPct val="100000"/>
              <a:buFont typeface="Helvetica Neue"/>
              <a:buChar char="•"/>
            </a:pPr>
            <a:r>
              <a:rPr lang="en" sz="1300">
                <a:latin typeface="Helvetica Neue"/>
                <a:ea typeface="Helvetica Neue"/>
                <a:cs typeface="Helvetica Neue"/>
                <a:sym typeface="Helvetica Neue"/>
              </a:rPr>
              <a:t>Combine security, lighting control, and user interaction into one coordinated platform</a:t>
            </a:r>
            <a:endParaRPr sz="1300">
              <a:latin typeface="Helvetica Neue"/>
              <a:ea typeface="Helvetica Neue"/>
              <a:cs typeface="Helvetica Neue"/>
              <a:sym typeface="Helvetica Neue"/>
            </a:endParaRPr>
          </a:p>
          <a:p>
            <a:pPr indent="-241459" lvl="0" marL="342900" rtl="0" algn="l">
              <a:spcBef>
                <a:spcPts val="500"/>
              </a:spcBef>
              <a:spcAft>
                <a:spcPts val="0"/>
              </a:spcAft>
              <a:buSzPct val="100000"/>
              <a:buFont typeface="Helvetica Neue"/>
              <a:buChar char="•"/>
            </a:pPr>
            <a:r>
              <a:rPr lang="en" sz="1300">
                <a:latin typeface="Helvetica Neue"/>
                <a:ea typeface="Helvetica Neue"/>
                <a:cs typeface="Helvetica Neue"/>
                <a:sym typeface="Helvetica Neue"/>
              </a:rPr>
              <a:t>Offer flexible controls, with both local and remote capabilities.</a:t>
            </a:r>
            <a:endParaRPr sz="1300">
              <a:latin typeface="Helvetica Neue"/>
              <a:ea typeface="Helvetica Neue"/>
              <a:cs typeface="Helvetica Neue"/>
              <a:sym typeface="Helvetica Neue"/>
            </a:endParaRPr>
          </a:p>
          <a:p>
            <a:pPr indent="-241459" lvl="0" marL="342900" rtl="0" algn="l">
              <a:spcBef>
                <a:spcPts val="500"/>
              </a:spcBef>
              <a:spcAft>
                <a:spcPts val="0"/>
              </a:spcAft>
              <a:buSzPct val="100000"/>
              <a:buFont typeface="Helvetica Neue"/>
              <a:buChar char="•"/>
            </a:pPr>
            <a:r>
              <a:rPr lang="en" sz="1300">
                <a:latin typeface="Helvetica Neue"/>
                <a:ea typeface="Helvetica Neue"/>
                <a:cs typeface="Helvetica Neue"/>
                <a:sym typeface="Helvetica Neue"/>
              </a:rPr>
              <a:t>Ensures the home remains safely lit and monitored regardless of grid fluctuations. </a:t>
            </a:r>
            <a:endParaRPr sz="1300">
              <a:latin typeface="Helvetica Neue"/>
              <a:ea typeface="Helvetica Neue"/>
              <a:cs typeface="Helvetica Neue"/>
              <a:sym typeface="Helvetica Neue"/>
            </a:endParaRPr>
          </a:p>
          <a:p>
            <a:pPr indent="0" lvl="0" marL="0" rtl="0" algn="l">
              <a:spcBef>
                <a:spcPts val="500"/>
              </a:spcBef>
              <a:spcAft>
                <a:spcPts val="0"/>
              </a:spcAft>
              <a:buClr>
                <a:schemeClr val="dk1"/>
              </a:buClr>
              <a:buSzPct val="100000"/>
              <a:buFont typeface="Arial"/>
              <a:buNone/>
            </a:pPr>
            <a:r>
              <a:t/>
            </a:r>
            <a:endParaRPr sz="1500">
              <a:latin typeface="Helvetica Neue"/>
              <a:ea typeface="Helvetica Neue"/>
              <a:cs typeface="Helvetica Neue"/>
              <a:sym typeface="Helvetica Neue"/>
            </a:endParaRPr>
          </a:p>
          <a:p>
            <a:pPr indent="0" lvl="0" marL="342900" rtl="0" algn="l">
              <a:spcBef>
                <a:spcPts val="640"/>
              </a:spcBef>
              <a:spcAft>
                <a:spcPts val="0"/>
              </a:spcAft>
              <a:buNone/>
            </a:pPr>
            <a:r>
              <a:t/>
            </a:r>
            <a:endParaRPr/>
          </a:p>
        </p:txBody>
      </p:sp>
      <p:pic>
        <p:nvPicPr>
          <p:cNvPr id="109" name="Google Shape;109;p21"/>
          <p:cNvPicPr preferRelativeResize="0"/>
          <p:nvPr/>
        </p:nvPicPr>
        <p:blipFill rotWithShape="1">
          <a:blip r:embed="rId3">
            <a:alphaModFix/>
          </a:blip>
          <a:srcRect b="0" l="0" r="0" t="10682"/>
          <a:stretch/>
        </p:blipFill>
        <p:spPr>
          <a:xfrm>
            <a:off x="5634825" y="1389700"/>
            <a:ext cx="3187624" cy="3375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p:nvPr/>
        </p:nvSpPr>
        <p:spPr>
          <a:xfrm>
            <a:off x="696300" y="2959913"/>
            <a:ext cx="3281100" cy="1988100"/>
          </a:xfrm>
          <a:prstGeom prst="rect">
            <a:avLst/>
          </a:prstGeom>
          <a:noFill/>
          <a:ln cap="flat" cmpd="sng" w="21425">
            <a:solidFill>
              <a:srgbClr val="00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5" name="Google Shape;115;p22"/>
          <p:cNvSpPr txBox="1"/>
          <p:nvPr/>
        </p:nvSpPr>
        <p:spPr>
          <a:xfrm>
            <a:off x="261038" y="510416"/>
            <a:ext cx="8229600" cy="6447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2700"/>
              <a:buFont typeface="Arial"/>
              <a:buNone/>
            </a:pPr>
            <a:r>
              <a:rPr b="1" i="0" lang="en" sz="2700" u="none" cap="none" strike="noStrike">
                <a:solidFill>
                  <a:schemeClr val="dk1"/>
                </a:solidFill>
                <a:latin typeface="Arial"/>
                <a:ea typeface="Arial"/>
                <a:cs typeface="Arial"/>
                <a:sym typeface="Arial"/>
              </a:rPr>
              <a:t>System Overview</a:t>
            </a:r>
            <a:endParaRPr sz="1100"/>
          </a:p>
        </p:txBody>
      </p:sp>
      <p:sp>
        <p:nvSpPr>
          <p:cNvPr id="116" name="Google Shape;116;p22"/>
          <p:cNvSpPr txBox="1"/>
          <p:nvPr>
            <p:ph idx="12" type="sldNum"/>
          </p:nvPr>
        </p:nvSpPr>
        <p:spPr>
          <a:xfrm>
            <a:off x="4914900" y="3575447"/>
            <a:ext cx="1600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cxnSp>
        <p:nvCxnSpPr>
          <p:cNvPr id="117" name="Google Shape;117;p22"/>
          <p:cNvCxnSpPr/>
          <p:nvPr/>
        </p:nvCxnSpPr>
        <p:spPr>
          <a:xfrm>
            <a:off x="6639656" y="1967803"/>
            <a:ext cx="8700" cy="1469700"/>
          </a:xfrm>
          <a:prstGeom prst="straightConnector1">
            <a:avLst/>
          </a:prstGeom>
          <a:noFill/>
          <a:ln cap="flat" cmpd="sng" w="14300">
            <a:solidFill>
              <a:srgbClr val="1F497D"/>
            </a:solidFill>
            <a:prstDash val="dash"/>
            <a:round/>
            <a:headEnd len="med" w="med" type="none"/>
            <a:tailEnd len="med" w="med" type="none"/>
          </a:ln>
        </p:spPr>
      </p:cxnSp>
      <p:sp>
        <p:nvSpPr>
          <p:cNvPr id="118" name="Google Shape;118;p22"/>
          <p:cNvSpPr/>
          <p:nvPr/>
        </p:nvSpPr>
        <p:spPr>
          <a:xfrm>
            <a:off x="1551356" y="2297906"/>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19" name="Google Shape;119;p22"/>
          <p:cNvSpPr/>
          <p:nvPr/>
        </p:nvSpPr>
        <p:spPr>
          <a:xfrm>
            <a:off x="2285700" y="3874049"/>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20" name="Google Shape;120;p22"/>
          <p:cNvSpPr/>
          <p:nvPr/>
        </p:nvSpPr>
        <p:spPr>
          <a:xfrm>
            <a:off x="2377619" y="3221656"/>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21" name="Google Shape;121;p22"/>
          <p:cNvSpPr/>
          <p:nvPr/>
        </p:nvSpPr>
        <p:spPr>
          <a:xfrm>
            <a:off x="5196638" y="1400410"/>
            <a:ext cx="3103800" cy="1443300"/>
          </a:xfrm>
          <a:prstGeom prst="rect">
            <a:avLst/>
          </a:prstGeom>
          <a:noFill/>
          <a:ln cap="flat" cmpd="sng" w="21425">
            <a:solidFill>
              <a:srgbClr val="6AA84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2" name="Google Shape;122;p22"/>
          <p:cNvSpPr/>
          <p:nvPr/>
        </p:nvSpPr>
        <p:spPr>
          <a:xfrm>
            <a:off x="696300" y="1428253"/>
            <a:ext cx="3103800" cy="1258500"/>
          </a:xfrm>
          <a:prstGeom prst="rect">
            <a:avLst/>
          </a:prstGeom>
          <a:noFill/>
          <a:ln cap="flat" cmpd="sng" w="21425">
            <a:solidFill>
              <a:srgbClr val="FF0000"/>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3" name="Google Shape;123;p22"/>
          <p:cNvSpPr/>
          <p:nvPr/>
        </p:nvSpPr>
        <p:spPr>
          <a:xfrm>
            <a:off x="5046863" y="3369131"/>
            <a:ext cx="3103800" cy="1354500"/>
          </a:xfrm>
          <a:prstGeom prst="rect">
            <a:avLst/>
          </a:prstGeom>
          <a:noFill/>
          <a:ln cap="flat" cmpd="sng" w="21425">
            <a:solidFill>
              <a:srgbClr val="FF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4" name="Google Shape;124;p22"/>
          <p:cNvSpPr txBox="1"/>
          <p:nvPr/>
        </p:nvSpPr>
        <p:spPr>
          <a:xfrm>
            <a:off x="1107565" y="1190795"/>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 sz="1100"/>
              <a:t>Adam Garcia</a:t>
            </a:r>
            <a:endParaRPr b="0" i="0" sz="1100" u="none" cap="none" strike="noStrike">
              <a:solidFill>
                <a:srgbClr val="000000"/>
              </a:solidFill>
              <a:latin typeface="Arial"/>
              <a:ea typeface="Arial"/>
              <a:cs typeface="Arial"/>
              <a:sym typeface="Arial"/>
            </a:endParaRPr>
          </a:p>
        </p:txBody>
      </p:sp>
      <p:sp>
        <p:nvSpPr>
          <p:cNvPr id="125" name="Google Shape;125;p22"/>
          <p:cNvSpPr txBox="1"/>
          <p:nvPr/>
        </p:nvSpPr>
        <p:spPr>
          <a:xfrm>
            <a:off x="943137" y="2686688"/>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 sz="1100"/>
              <a:t>Jack Holdridge</a:t>
            </a:r>
            <a:endParaRPr b="0" i="0" sz="1100" u="none" cap="none" strike="noStrike">
              <a:solidFill>
                <a:srgbClr val="000000"/>
              </a:solidFill>
              <a:latin typeface="Arial"/>
              <a:ea typeface="Arial"/>
              <a:cs typeface="Arial"/>
              <a:sym typeface="Arial"/>
            </a:endParaRPr>
          </a:p>
        </p:txBody>
      </p:sp>
      <p:sp>
        <p:nvSpPr>
          <p:cNvPr id="126" name="Google Shape;126;p22"/>
          <p:cNvSpPr txBox="1"/>
          <p:nvPr/>
        </p:nvSpPr>
        <p:spPr>
          <a:xfrm>
            <a:off x="6693979" y="937560"/>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 sz="1100"/>
              <a:t>Kyle Walcher</a:t>
            </a:r>
            <a:endParaRPr b="0" i="0" sz="1100" u="none" cap="none" strike="noStrike">
              <a:solidFill>
                <a:srgbClr val="000000"/>
              </a:solidFill>
              <a:latin typeface="Arial"/>
              <a:ea typeface="Arial"/>
              <a:cs typeface="Arial"/>
              <a:sym typeface="Arial"/>
            </a:endParaRPr>
          </a:p>
        </p:txBody>
      </p:sp>
      <p:sp>
        <p:nvSpPr>
          <p:cNvPr id="127" name="Google Shape;127;p22"/>
          <p:cNvSpPr txBox="1"/>
          <p:nvPr/>
        </p:nvSpPr>
        <p:spPr>
          <a:xfrm>
            <a:off x="7248647" y="2992297"/>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 sz="1100"/>
              <a:t>Matthew Greer</a:t>
            </a:r>
            <a:endParaRPr b="0" i="0" sz="1100" u="none" cap="none" strike="noStrike">
              <a:solidFill>
                <a:srgbClr val="000000"/>
              </a:solidFill>
              <a:latin typeface="Arial"/>
              <a:ea typeface="Arial"/>
              <a:cs typeface="Arial"/>
              <a:sym typeface="Arial"/>
            </a:endParaRPr>
          </a:p>
        </p:txBody>
      </p:sp>
      <p:sp>
        <p:nvSpPr>
          <p:cNvPr id="128" name="Google Shape;128;p22"/>
          <p:cNvSpPr/>
          <p:nvPr/>
        </p:nvSpPr>
        <p:spPr>
          <a:xfrm>
            <a:off x="696300" y="3315866"/>
            <a:ext cx="1553100" cy="2739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29" name="Google Shape;129;p22"/>
          <p:cNvSpPr/>
          <p:nvPr/>
        </p:nvSpPr>
        <p:spPr>
          <a:xfrm>
            <a:off x="743447" y="4355934"/>
            <a:ext cx="8727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30" name="Google Shape;130;p22"/>
          <p:cNvSpPr/>
          <p:nvPr/>
        </p:nvSpPr>
        <p:spPr>
          <a:xfrm>
            <a:off x="1125975" y="3863691"/>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31" name="Google Shape;131;p22"/>
          <p:cNvSpPr txBox="1"/>
          <p:nvPr/>
        </p:nvSpPr>
        <p:spPr>
          <a:xfrm>
            <a:off x="1107563" y="3863681"/>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Touch screen HMI</a:t>
            </a:r>
            <a:endParaRPr sz="800">
              <a:solidFill>
                <a:srgbClr val="000000"/>
              </a:solidFill>
            </a:endParaRPr>
          </a:p>
        </p:txBody>
      </p:sp>
      <p:sp>
        <p:nvSpPr>
          <p:cNvPr id="132" name="Google Shape;132;p22"/>
          <p:cNvSpPr txBox="1"/>
          <p:nvPr/>
        </p:nvSpPr>
        <p:spPr>
          <a:xfrm>
            <a:off x="2267363" y="3863681"/>
            <a:ext cx="652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ESP32</a:t>
            </a:r>
            <a:endParaRPr sz="800">
              <a:solidFill>
                <a:srgbClr val="000000"/>
              </a:solidFill>
            </a:endParaRPr>
          </a:p>
        </p:txBody>
      </p:sp>
      <p:sp>
        <p:nvSpPr>
          <p:cNvPr id="133" name="Google Shape;133;p22"/>
          <p:cNvSpPr txBox="1"/>
          <p:nvPr/>
        </p:nvSpPr>
        <p:spPr>
          <a:xfrm>
            <a:off x="860525" y="3295588"/>
            <a:ext cx="1507200" cy="3144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12v Buck Boost DC converter</a:t>
            </a:r>
            <a:endParaRPr sz="800">
              <a:solidFill>
                <a:srgbClr val="000000"/>
              </a:solidFill>
            </a:endParaRPr>
          </a:p>
        </p:txBody>
      </p:sp>
      <p:sp>
        <p:nvSpPr>
          <p:cNvPr id="134" name="Google Shape;134;p22"/>
          <p:cNvSpPr txBox="1"/>
          <p:nvPr/>
        </p:nvSpPr>
        <p:spPr>
          <a:xfrm>
            <a:off x="673359" y="4411978"/>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Relay board and LED Lights</a:t>
            </a:r>
            <a:endParaRPr sz="800">
              <a:solidFill>
                <a:srgbClr val="000000"/>
              </a:solidFill>
            </a:endParaRPr>
          </a:p>
        </p:txBody>
      </p:sp>
      <p:sp>
        <p:nvSpPr>
          <p:cNvPr id="135" name="Google Shape;135;p22"/>
          <p:cNvSpPr/>
          <p:nvPr/>
        </p:nvSpPr>
        <p:spPr>
          <a:xfrm>
            <a:off x="5311161" y="2280234"/>
            <a:ext cx="10131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36" name="Google Shape;136;p22"/>
          <p:cNvSpPr txBox="1"/>
          <p:nvPr/>
        </p:nvSpPr>
        <p:spPr>
          <a:xfrm>
            <a:off x="2320619" y="3200944"/>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3.3v Buck Converter</a:t>
            </a:r>
            <a:endParaRPr sz="800">
              <a:solidFill>
                <a:srgbClr val="000000"/>
              </a:solidFill>
            </a:endParaRPr>
          </a:p>
        </p:txBody>
      </p:sp>
      <p:sp>
        <p:nvSpPr>
          <p:cNvPr id="137" name="Google Shape;137;p22"/>
          <p:cNvSpPr txBox="1"/>
          <p:nvPr/>
        </p:nvSpPr>
        <p:spPr>
          <a:xfrm>
            <a:off x="5311162" y="2377088"/>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ESP32-</a:t>
            </a:r>
            <a:r>
              <a:rPr lang="en" sz="800"/>
              <a:t>WROVER</a:t>
            </a:r>
            <a:endParaRPr sz="800">
              <a:solidFill>
                <a:srgbClr val="000000"/>
              </a:solidFill>
            </a:endParaRPr>
          </a:p>
        </p:txBody>
      </p:sp>
      <p:sp>
        <p:nvSpPr>
          <p:cNvPr id="138" name="Google Shape;138;p22"/>
          <p:cNvSpPr txBox="1"/>
          <p:nvPr/>
        </p:nvSpPr>
        <p:spPr>
          <a:xfrm>
            <a:off x="6264866" y="1629147"/>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3.3v Buck Converteri</a:t>
            </a:r>
            <a:endParaRPr sz="800">
              <a:solidFill>
                <a:srgbClr val="000000"/>
              </a:solidFill>
            </a:endParaRPr>
          </a:p>
        </p:txBody>
      </p:sp>
      <p:sp>
        <p:nvSpPr>
          <p:cNvPr id="139" name="Google Shape;139;p22"/>
          <p:cNvSpPr/>
          <p:nvPr/>
        </p:nvSpPr>
        <p:spPr>
          <a:xfrm>
            <a:off x="6050743" y="1532288"/>
            <a:ext cx="11979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Android Application</a:t>
            </a:r>
            <a:endParaRPr sz="1100"/>
          </a:p>
          <a:p>
            <a:pPr indent="0" lvl="0" marL="0" rtl="0" algn="ctr">
              <a:spcBef>
                <a:spcPts val="0"/>
              </a:spcBef>
              <a:spcAft>
                <a:spcPts val="0"/>
              </a:spcAft>
              <a:buNone/>
            </a:pPr>
            <a:r>
              <a:rPr lang="en" sz="1100"/>
              <a:t>(Kotlin/Java)</a:t>
            </a:r>
            <a:endParaRPr sz="1100"/>
          </a:p>
        </p:txBody>
      </p:sp>
      <p:cxnSp>
        <p:nvCxnSpPr>
          <p:cNvPr id="140" name="Google Shape;140;p22"/>
          <p:cNvCxnSpPr>
            <a:stCxn id="131" idx="3"/>
            <a:endCxn id="132" idx="1"/>
          </p:cNvCxnSpPr>
          <p:nvPr/>
        </p:nvCxnSpPr>
        <p:spPr>
          <a:xfrm>
            <a:off x="2120663" y="4000631"/>
            <a:ext cx="146700" cy="0"/>
          </a:xfrm>
          <a:prstGeom prst="straightConnector1">
            <a:avLst/>
          </a:prstGeom>
          <a:noFill/>
          <a:ln cap="flat" cmpd="sng" w="21425">
            <a:solidFill>
              <a:srgbClr val="000000"/>
            </a:solidFill>
            <a:prstDash val="solid"/>
            <a:round/>
            <a:headEnd len="med" w="med" type="none"/>
            <a:tailEnd len="med" w="med" type="none"/>
          </a:ln>
        </p:spPr>
      </p:cxnSp>
      <p:cxnSp>
        <p:nvCxnSpPr>
          <p:cNvPr id="141" name="Google Shape;141;p22"/>
          <p:cNvCxnSpPr>
            <a:stCxn id="136" idx="2"/>
            <a:endCxn id="132" idx="0"/>
          </p:cNvCxnSpPr>
          <p:nvPr/>
        </p:nvCxnSpPr>
        <p:spPr>
          <a:xfrm flipH="1">
            <a:off x="2593319" y="3474844"/>
            <a:ext cx="272400" cy="388800"/>
          </a:xfrm>
          <a:prstGeom prst="straightConnector1">
            <a:avLst/>
          </a:prstGeom>
          <a:noFill/>
          <a:ln cap="flat" cmpd="sng" w="21425">
            <a:solidFill>
              <a:srgbClr val="000000"/>
            </a:solidFill>
            <a:prstDash val="solid"/>
            <a:round/>
            <a:headEnd len="med" w="med" type="none"/>
            <a:tailEnd len="med" w="med" type="none"/>
          </a:ln>
        </p:spPr>
      </p:cxnSp>
      <p:cxnSp>
        <p:nvCxnSpPr>
          <p:cNvPr id="142" name="Google Shape;142;p22"/>
          <p:cNvCxnSpPr/>
          <p:nvPr/>
        </p:nvCxnSpPr>
        <p:spPr>
          <a:xfrm>
            <a:off x="3401522" y="4116825"/>
            <a:ext cx="9300" cy="465900"/>
          </a:xfrm>
          <a:prstGeom prst="straightConnector1">
            <a:avLst/>
          </a:prstGeom>
          <a:noFill/>
          <a:ln cap="flat" cmpd="sng" w="21425">
            <a:solidFill>
              <a:srgbClr val="000000"/>
            </a:solidFill>
            <a:prstDash val="solid"/>
            <a:round/>
            <a:headEnd len="med" w="med" type="none"/>
            <a:tailEnd len="med" w="med" type="none"/>
          </a:ln>
        </p:spPr>
      </p:cxnSp>
      <p:cxnSp>
        <p:nvCxnSpPr>
          <p:cNvPr id="143" name="Google Shape;143;p22"/>
          <p:cNvCxnSpPr/>
          <p:nvPr/>
        </p:nvCxnSpPr>
        <p:spPr>
          <a:xfrm flipH="1">
            <a:off x="1614300" y="4584900"/>
            <a:ext cx="1804500" cy="7500"/>
          </a:xfrm>
          <a:prstGeom prst="straightConnector1">
            <a:avLst/>
          </a:prstGeom>
          <a:noFill/>
          <a:ln cap="flat" cmpd="sng" w="21425">
            <a:solidFill>
              <a:srgbClr val="000000"/>
            </a:solidFill>
            <a:prstDash val="solid"/>
            <a:round/>
            <a:headEnd len="med" w="med" type="none"/>
            <a:tailEnd len="med" w="med" type="none"/>
          </a:ln>
        </p:spPr>
      </p:cxnSp>
      <p:sp>
        <p:nvSpPr>
          <p:cNvPr id="144" name="Google Shape;144;p22"/>
          <p:cNvSpPr/>
          <p:nvPr/>
        </p:nvSpPr>
        <p:spPr>
          <a:xfrm>
            <a:off x="6964311" y="2280216"/>
            <a:ext cx="11979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OpenAI/Python Flask Server</a:t>
            </a:r>
            <a:endParaRPr sz="1100"/>
          </a:p>
        </p:txBody>
      </p:sp>
      <p:cxnSp>
        <p:nvCxnSpPr>
          <p:cNvPr id="145" name="Google Shape;145;p22"/>
          <p:cNvCxnSpPr/>
          <p:nvPr/>
        </p:nvCxnSpPr>
        <p:spPr>
          <a:xfrm rot="10800000">
            <a:off x="2039494" y="2540316"/>
            <a:ext cx="0" cy="501600"/>
          </a:xfrm>
          <a:prstGeom prst="straightConnector1">
            <a:avLst/>
          </a:prstGeom>
          <a:noFill/>
          <a:ln cap="flat" cmpd="sng" w="28575">
            <a:solidFill>
              <a:srgbClr val="000000"/>
            </a:solidFill>
            <a:prstDash val="solid"/>
            <a:round/>
            <a:headEnd len="med" w="med" type="none"/>
            <a:tailEnd len="med" w="med" type="none"/>
          </a:ln>
        </p:spPr>
      </p:cxnSp>
      <p:cxnSp>
        <p:nvCxnSpPr>
          <p:cNvPr id="146" name="Google Shape;146;p22"/>
          <p:cNvCxnSpPr/>
          <p:nvPr/>
        </p:nvCxnSpPr>
        <p:spPr>
          <a:xfrm>
            <a:off x="5728059" y="1722108"/>
            <a:ext cx="9000" cy="479100"/>
          </a:xfrm>
          <a:prstGeom prst="straightConnector1">
            <a:avLst/>
          </a:prstGeom>
          <a:noFill/>
          <a:ln cap="flat" cmpd="sng" w="14300">
            <a:solidFill>
              <a:srgbClr val="1F497D"/>
            </a:solidFill>
            <a:prstDash val="dash"/>
            <a:round/>
            <a:headEnd len="med" w="med" type="none"/>
            <a:tailEnd len="med" w="med" type="none"/>
          </a:ln>
        </p:spPr>
      </p:cxnSp>
      <p:sp>
        <p:nvSpPr>
          <p:cNvPr id="147" name="Google Shape;147;p22"/>
          <p:cNvSpPr txBox="1"/>
          <p:nvPr/>
        </p:nvSpPr>
        <p:spPr>
          <a:xfrm>
            <a:off x="1494431" y="2220994"/>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12v deep cycle battery</a:t>
            </a:r>
            <a:endParaRPr sz="800">
              <a:solidFill>
                <a:srgbClr val="000000"/>
              </a:solidFill>
            </a:endParaRPr>
          </a:p>
        </p:txBody>
      </p:sp>
      <p:sp>
        <p:nvSpPr>
          <p:cNvPr id="148" name="Google Shape;148;p22"/>
          <p:cNvSpPr/>
          <p:nvPr/>
        </p:nvSpPr>
        <p:spPr>
          <a:xfrm>
            <a:off x="5162513" y="3703303"/>
            <a:ext cx="1172100" cy="3156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49" name="Google Shape;149;p22"/>
          <p:cNvSpPr txBox="1"/>
          <p:nvPr/>
        </p:nvSpPr>
        <p:spPr>
          <a:xfrm>
            <a:off x="5196638" y="3724772"/>
            <a:ext cx="1172100" cy="238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Clr>
                <a:srgbClr val="000000"/>
              </a:buClr>
              <a:buSzPts val="800"/>
              <a:buFont typeface="Arial"/>
              <a:buNone/>
            </a:pPr>
            <a:r>
              <a:rPr lang="en" sz="1100"/>
              <a:t>MCU</a:t>
            </a:r>
            <a:endParaRPr sz="1100">
              <a:solidFill>
                <a:srgbClr val="000000"/>
              </a:solidFill>
            </a:endParaRPr>
          </a:p>
          <a:p>
            <a:pPr indent="0" lvl="0" marL="0" rtl="0" algn="ctr">
              <a:spcBef>
                <a:spcPts val="0"/>
              </a:spcBef>
              <a:spcAft>
                <a:spcPts val="0"/>
              </a:spcAft>
              <a:buNone/>
            </a:pPr>
            <a:r>
              <a:t/>
            </a:r>
            <a:endParaRPr sz="800">
              <a:solidFill>
                <a:srgbClr val="000000"/>
              </a:solidFill>
            </a:endParaRPr>
          </a:p>
        </p:txBody>
      </p:sp>
      <p:cxnSp>
        <p:nvCxnSpPr>
          <p:cNvPr id="150" name="Google Shape;150;p22"/>
          <p:cNvCxnSpPr/>
          <p:nvPr/>
        </p:nvCxnSpPr>
        <p:spPr>
          <a:xfrm>
            <a:off x="2054875" y="3019275"/>
            <a:ext cx="804900" cy="188100"/>
          </a:xfrm>
          <a:prstGeom prst="straightConnector1">
            <a:avLst/>
          </a:prstGeom>
          <a:noFill/>
          <a:ln cap="flat" cmpd="sng" w="21425">
            <a:solidFill>
              <a:srgbClr val="000000"/>
            </a:solidFill>
            <a:prstDash val="solid"/>
            <a:round/>
            <a:headEnd len="med" w="med" type="none"/>
            <a:tailEnd len="med" w="med" type="none"/>
          </a:ln>
        </p:spPr>
      </p:cxnSp>
      <p:cxnSp>
        <p:nvCxnSpPr>
          <p:cNvPr id="151" name="Google Shape;151;p22"/>
          <p:cNvCxnSpPr/>
          <p:nvPr/>
        </p:nvCxnSpPr>
        <p:spPr>
          <a:xfrm flipH="1" rot="10800000">
            <a:off x="5738169" y="1693424"/>
            <a:ext cx="312300" cy="4200"/>
          </a:xfrm>
          <a:prstGeom prst="straightConnector1">
            <a:avLst/>
          </a:prstGeom>
          <a:noFill/>
          <a:ln cap="flat" cmpd="sng" w="14300">
            <a:solidFill>
              <a:srgbClr val="1F497D"/>
            </a:solidFill>
            <a:prstDash val="dash"/>
            <a:round/>
            <a:headEnd len="med" w="med" type="none"/>
            <a:tailEnd len="med" w="med" type="none"/>
          </a:ln>
        </p:spPr>
      </p:cxnSp>
      <p:sp>
        <p:nvSpPr>
          <p:cNvPr id="152" name="Google Shape;152;p22"/>
          <p:cNvSpPr/>
          <p:nvPr/>
        </p:nvSpPr>
        <p:spPr>
          <a:xfrm>
            <a:off x="6693975" y="3704728"/>
            <a:ext cx="1367700" cy="3144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Database</a:t>
            </a:r>
            <a:endParaRPr sz="1100"/>
          </a:p>
        </p:txBody>
      </p:sp>
      <p:cxnSp>
        <p:nvCxnSpPr>
          <p:cNvPr id="153" name="Google Shape;153;p22"/>
          <p:cNvCxnSpPr/>
          <p:nvPr/>
        </p:nvCxnSpPr>
        <p:spPr>
          <a:xfrm>
            <a:off x="7700332" y="1722108"/>
            <a:ext cx="9000" cy="479100"/>
          </a:xfrm>
          <a:prstGeom prst="straightConnector1">
            <a:avLst/>
          </a:prstGeom>
          <a:noFill/>
          <a:ln cap="flat" cmpd="sng" w="14300">
            <a:solidFill>
              <a:srgbClr val="1F497D"/>
            </a:solidFill>
            <a:prstDash val="dash"/>
            <a:round/>
            <a:headEnd len="med" w="med" type="none"/>
            <a:tailEnd len="med" w="med" type="none"/>
          </a:ln>
        </p:spPr>
      </p:cxnSp>
      <p:cxnSp>
        <p:nvCxnSpPr>
          <p:cNvPr id="154" name="Google Shape;154;p22"/>
          <p:cNvCxnSpPr/>
          <p:nvPr/>
        </p:nvCxnSpPr>
        <p:spPr>
          <a:xfrm>
            <a:off x="7298563" y="1685436"/>
            <a:ext cx="373500" cy="5700"/>
          </a:xfrm>
          <a:prstGeom prst="straightConnector1">
            <a:avLst/>
          </a:prstGeom>
          <a:noFill/>
          <a:ln cap="flat" cmpd="sng" w="14300">
            <a:solidFill>
              <a:srgbClr val="1F497D"/>
            </a:solidFill>
            <a:prstDash val="dash"/>
            <a:round/>
            <a:headEnd len="med" w="med" type="none"/>
            <a:tailEnd len="med" w="med" type="none"/>
          </a:ln>
        </p:spPr>
      </p:cxnSp>
      <p:cxnSp>
        <p:nvCxnSpPr>
          <p:cNvPr id="155" name="Google Shape;155;p22"/>
          <p:cNvCxnSpPr/>
          <p:nvPr/>
        </p:nvCxnSpPr>
        <p:spPr>
          <a:xfrm>
            <a:off x="5694300" y="2847694"/>
            <a:ext cx="11400" cy="777300"/>
          </a:xfrm>
          <a:prstGeom prst="straightConnector1">
            <a:avLst/>
          </a:prstGeom>
          <a:noFill/>
          <a:ln cap="flat" cmpd="sng" w="14300">
            <a:solidFill>
              <a:srgbClr val="1F497D"/>
            </a:solidFill>
            <a:prstDash val="dash"/>
            <a:round/>
            <a:headEnd len="med" w="med" type="none"/>
            <a:tailEnd len="med" w="med" type="none"/>
          </a:ln>
        </p:spPr>
      </p:cxnSp>
      <p:sp>
        <p:nvSpPr>
          <p:cNvPr id="156" name="Google Shape;156;p22"/>
          <p:cNvSpPr/>
          <p:nvPr/>
        </p:nvSpPr>
        <p:spPr>
          <a:xfrm>
            <a:off x="815288" y="1594809"/>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800"/>
              <a:t>Solar panel</a:t>
            </a:r>
            <a:endParaRPr sz="800"/>
          </a:p>
        </p:txBody>
      </p:sp>
      <p:sp>
        <p:nvSpPr>
          <p:cNvPr id="157" name="Google Shape;157;p22"/>
          <p:cNvSpPr/>
          <p:nvPr/>
        </p:nvSpPr>
        <p:spPr>
          <a:xfrm>
            <a:off x="2472075" y="1594809"/>
            <a:ext cx="10131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800"/>
              <a:t>MPPT charge controller</a:t>
            </a:r>
            <a:endParaRPr sz="800"/>
          </a:p>
        </p:txBody>
      </p:sp>
      <p:cxnSp>
        <p:nvCxnSpPr>
          <p:cNvPr id="158" name="Google Shape;158;p22"/>
          <p:cNvCxnSpPr>
            <a:stCxn id="157" idx="1"/>
            <a:endCxn id="156" idx="3"/>
          </p:cNvCxnSpPr>
          <p:nvPr/>
        </p:nvCxnSpPr>
        <p:spPr>
          <a:xfrm rot="10800000">
            <a:off x="1791375" y="1721409"/>
            <a:ext cx="680700" cy="0"/>
          </a:xfrm>
          <a:prstGeom prst="straightConnector1">
            <a:avLst/>
          </a:prstGeom>
          <a:noFill/>
          <a:ln cap="flat" cmpd="sng" w="28575">
            <a:solidFill>
              <a:srgbClr val="000000"/>
            </a:solidFill>
            <a:prstDash val="solid"/>
            <a:round/>
            <a:headEnd len="med" w="med" type="none"/>
            <a:tailEnd len="med" w="med" type="none"/>
          </a:ln>
        </p:spPr>
      </p:cxnSp>
      <p:cxnSp>
        <p:nvCxnSpPr>
          <p:cNvPr id="159" name="Google Shape;159;p22"/>
          <p:cNvCxnSpPr>
            <a:endCxn id="157" idx="2"/>
          </p:cNvCxnSpPr>
          <p:nvPr/>
        </p:nvCxnSpPr>
        <p:spPr>
          <a:xfrm rot="10800000">
            <a:off x="2978625" y="1848009"/>
            <a:ext cx="4200" cy="213300"/>
          </a:xfrm>
          <a:prstGeom prst="straightConnector1">
            <a:avLst/>
          </a:prstGeom>
          <a:noFill/>
          <a:ln cap="flat" cmpd="sng" w="28575">
            <a:solidFill>
              <a:srgbClr val="000000"/>
            </a:solidFill>
            <a:prstDash val="solid"/>
            <a:round/>
            <a:headEnd len="med" w="med" type="none"/>
            <a:tailEnd len="med" w="med" type="none"/>
          </a:ln>
        </p:spPr>
      </p:cxnSp>
      <p:cxnSp>
        <p:nvCxnSpPr>
          <p:cNvPr id="160" name="Google Shape;160;p22"/>
          <p:cNvCxnSpPr/>
          <p:nvPr/>
        </p:nvCxnSpPr>
        <p:spPr>
          <a:xfrm rot="10800000">
            <a:off x="2017950" y="2050697"/>
            <a:ext cx="972900" cy="5700"/>
          </a:xfrm>
          <a:prstGeom prst="straightConnector1">
            <a:avLst/>
          </a:prstGeom>
          <a:noFill/>
          <a:ln cap="flat" cmpd="sng" w="28575">
            <a:solidFill>
              <a:srgbClr val="000000"/>
            </a:solidFill>
            <a:prstDash val="solid"/>
            <a:round/>
            <a:headEnd len="med" w="med" type="none"/>
            <a:tailEnd len="med" w="med" type="none"/>
          </a:ln>
        </p:spPr>
      </p:cxnSp>
      <p:cxnSp>
        <p:nvCxnSpPr>
          <p:cNvPr id="161" name="Google Shape;161;p22"/>
          <p:cNvCxnSpPr/>
          <p:nvPr/>
        </p:nvCxnSpPr>
        <p:spPr>
          <a:xfrm rot="10800000">
            <a:off x="2027044" y="2051147"/>
            <a:ext cx="1800" cy="238200"/>
          </a:xfrm>
          <a:prstGeom prst="straightConnector1">
            <a:avLst/>
          </a:prstGeom>
          <a:noFill/>
          <a:ln cap="flat" cmpd="sng" w="28575">
            <a:solidFill>
              <a:srgbClr val="000000"/>
            </a:solidFill>
            <a:prstDash val="solid"/>
            <a:round/>
            <a:headEnd len="med" w="med" type="none"/>
            <a:tailEnd len="med" w="med" type="none"/>
          </a:ln>
        </p:spPr>
      </p:cxnSp>
      <p:cxnSp>
        <p:nvCxnSpPr>
          <p:cNvPr id="162" name="Google Shape;162;p22"/>
          <p:cNvCxnSpPr/>
          <p:nvPr/>
        </p:nvCxnSpPr>
        <p:spPr>
          <a:xfrm flipH="1">
            <a:off x="1517600" y="3605500"/>
            <a:ext cx="1500" cy="166800"/>
          </a:xfrm>
          <a:prstGeom prst="straightConnector1">
            <a:avLst/>
          </a:prstGeom>
          <a:noFill/>
          <a:ln cap="flat" cmpd="sng" w="21425">
            <a:solidFill>
              <a:srgbClr val="000000"/>
            </a:solidFill>
            <a:prstDash val="solid"/>
            <a:round/>
            <a:headEnd len="med" w="med" type="none"/>
            <a:tailEnd len="med" w="med" type="none"/>
          </a:ln>
        </p:spPr>
      </p:cxnSp>
      <p:cxnSp>
        <p:nvCxnSpPr>
          <p:cNvPr id="163" name="Google Shape;163;p22"/>
          <p:cNvCxnSpPr/>
          <p:nvPr/>
        </p:nvCxnSpPr>
        <p:spPr>
          <a:xfrm>
            <a:off x="957769" y="3772284"/>
            <a:ext cx="3000" cy="583800"/>
          </a:xfrm>
          <a:prstGeom prst="straightConnector1">
            <a:avLst/>
          </a:prstGeom>
          <a:noFill/>
          <a:ln cap="flat" cmpd="sng" w="21425">
            <a:solidFill>
              <a:srgbClr val="000000"/>
            </a:solidFill>
            <a:prstDash val="solid"/>
            <a:round/>
            <a:headEnd len="med" w="med" type="none"/>
            <a:tailEnd len="med" w="med" type="none"/>
          </a:ln>
        </p:spPr>
      </p:cxnSp>
      <p:cxnSp>
        <p:nvCxnSpPr>
          <p:cNvPr id="164" name="Google Shape;164;p22"/>
          <p:cNvCxnSpPr/>
          <p:nvPr/>
        </p:nvCxnSpPr>
        <p:spPr>
          <a:xfrm flipH="1" rot="10800000">
            <a:off x="957769" y="3778866"/>
            <a:ext cx="564600" cy="3300"/>
          </a:xfrm>
          <a:prstGeom prst="straightConnector1">
            <a:avLst/>
          </a:prstGeom>
          <a:noFill/>
          <a:ln cap="flat" cmpd="sng" w="21425">
            <a:solidFill>
              <a:srgbClr val="000000"/>
            </a:solidFill>
            <a:prstDash val="solid"/>
            <a:round/>
            <a:headEnd len="med" w="med" type="none"/>
            <a:tailEnd len="med" w="med" type="none"/>
          </a:ln>
        </p:spPr>
      </p:cxnSp>
      <p:cxnSp>
        <p:nvCxnSpPr>
          <p:cNvPr id="165" name="Google Shape;165;p22"/>
          <p:cNvCxnSpPr/>
          <p:nvPr/>
        </p:nvCxnSpPr>
        <p:spPr>
          <a:xfrm>
            <a:off x="6649275" y="3469266"/>
            <a:ext cx="652200" cy="3900"/>
          </a:xfrm>
          <a:prstGeom prst="straightConnector1">
            <a:avLst/>
          </a:prstGeom>
          <a:noFill/>
          <a:ln cap="flat" cmpd="sng" w="14300">
            <a:solidFill>
              <a:srgbClr val="1F497D"/>
            </a:solidFill>
            <a:prstDash val="dash"/>
            <a:round/>
            <a:headEnd len="med" w="med" type="none"/>
            <a:tailEnd len="med" w="med" type="none"/>
          </a:ln>
        </p:spPr>
      </p:cxnSp>
      <p:cxnSp>
        <p:nvCxnSpPr>
          <p:cNvPr id="166" name="Google Shape;166;p22"/>
          <p:cNvCxnSpPr/>
          <p:nvPr/>
        </p:nvCxnSpPr>
        <p:spPr>
          <a:xfrm rot="10800000">
            <a:off x="7378481" y="3461822"/>
            <a:ext cx="2100" cy="199200"/>
          </a:xfrm>
          <a:prstGeom prst="straightConnector1">
            <a:avLst/>
          </a:prstGeom>
          <a:noFill/>
          <a:ln cap="flat" cmpd="sng" w="14300">
            <a:solidFill>
              <a:srgbClr val="1F497D"/>
            </a:solidFill>
            <a:prstDash val="dash"/>
            <a:round/>
            <a:headEnd len="med" w="med" type="none"/>
            <a:tailEnd len="med" w="med" type="none"/>
          </a:ln>
        </p:spPr>
      </p:cxnSp>
      <p:sp>
        <p:nvSpPr>
          <p:cNvPr id="167" name="Google Shape;167;p22"/>
          <p:cNvSpPr/>
          <p:nvPr/>
        </p:nvSpPr>
        <p:spPr>
          <a:xfrm>
            <a:off x="5851575" y="4279247"/>
            <a:ext cx="1308300" cy="338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Sensors</a:t>
            </a:r>
            <a:endParaRPr sz="1100"/>
          </a:p>
        </p:txBody>
      </p:sp>
      <p:cxnSp>
        <p:nvCxnSpPr>
          <p:cNvPr id="168" name="Google Shape;168;p22"/>
          <p:cNvCxnSpPr/>
          <p:nvPr/>
        </p:nvCxnSpPr>
        <p:spPr>
          <a:xfrm flipH="1">
            <a:off x="6054525" y="4062478"/>
            <a:ext cx="900" cy="176100"/>
          </a:xfrm>
          <a:prstGeom prst="straightConnector1">
            <a:avLst/>
          </a:prstGeom>
          <a:noFill/>
          <a:ln cap="flat" cmpd="sng" w="14300">
            <a:solidFill>
              <a:srgbClr val="1F497D"/>
            </a:solidFill>
            <a:prstDash val="dash"/>
            <a:round/>
            <a:headEnd len="med" w="med" type="none"/>
            <a:tailEnd len="med" w="med" type="none"/>
          </a:ln>
        </p:spPr>
      </p:cxnSp>
      <p:cxnSp>
        <p:nvCxnSpPr>
          <p:cNvPr id="169" name="Google Shape;169;p22"/>
          <p:cNvCxnSpPr/>
          <p:nvPr/>
        </p:nvCxnSpPr>
        <p:spPr>
          <a:xfrm>
            <a:off x="6977888" y="4062516"/>
            <a:ext cx="900" cy="172500"/>
          </a:xfrm>
          <a:prstGeom prst="straightConnector1">
            <a:avLst/>
          </a:prstGeom>
          <a:noFill/>
          <a:ln cap="flat" cmpd="sng" w="14300">
            <a:solidFill>
              <a:srgbClr val="1F497D"/>
            </a:solidFill>
            <a:prstDash val="dash"/>
            <a:round/>
            <a:headEnd len="med" w="med" type="none"/>
            <a:tailEnd len="med" w="med" type="none"/>
          </a:ln>
        </p:spPr>
      </p:cxnSp>
      <p:sp>
        <p:nvSpPr>
          <p:cNvPr id="170" name="Google Shape;170;p22"/>
          <p:cNvSpPr/>
          <p:nvPr/>
        </p:nvSpPr>
        <p:spPr>
          <a:xfrm>
            <a:off x="3034969" y="3871143"/>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71" name="Google Shape;171;p22"/>
          <p:cNvSpPr txBox="1"/>
          <p:nvPr/>
        </p:nvSpPr>
        <p:spPr>
          <a:xfrm>
            <a:off x="3084750" y="3871106"/>
            <a:ext cx="620700" cy="238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ESP32</a:t>
            </a:r>
            <a:endParaRPr sz="800">
              <a:solidFill>
                <a:srgbClr val="000000"/>
              </a:solidFill>
            </a:endParaRPr>
          </a:p>
        </p:txBody>
      </p:sp>
      <p:cxnSp>
        <p:nvCxnSpPr>
          <p:cNvPr id="172" name="Google Shape;172;p22"/>
          <p:cNvCxnSpPr>
            <a:stCxn id="136" idx="2"/>
          </p:cNvCxnSpPr>
          <p:nvPr/>
        </p:nvCxnSpPr>
        <p:spPr>
          <a:xfrm>
            <a:off x="2865719" y="3474844"/>
            <a:ext cx="374400" cy="399000"/>
          </a:xfrm>
          <a:prstGeom prst="straightConnector1">
            <a:avLst/>
          </a:prstGeom>
          <a:noFill/>
          <a:ln cap="flat" cmpd="sng" w="21425">
            <a:solidFill>
              <a:srgbClr val="000000"/>
            </a:solidFill>
            <a:prstDash val="solid"/>
            <a:round/>
            <a:headEnd len="med" w="med" type="none"/>
            <a:tailEnd len="med" w="med" type="none"/>
          </a:ln>
        </p:spPr>
      </p:cxnSp>
      <p:cxnSp>
        <p:nvCxnSpPr>
          <p:cNvPr id="173" name="Google Shape;173;p22"/>
          <p:cNvCxnSpPr>
            <a:endCxn id="170" idx="1"/>
          </p:cNvCxnSpPr>
          <p:nvPr/>
        </p:nvCxnSpPr>
        <p:spPr>
          <a:xfrm>
            <a:off x="2966269" y="3989043"/>
            <a:ext cx="68700" cy="1200"/>
          </a:xfrm>
          <a:prstGeom prst="straightConnector1">
            <a:avLst/>
          </a:prstGeom>
          <a:noFill/>
          <a:ln cap="flat" cmpd="sng" w="21425">
            <a:solidFill>
              <a:srgbClr val="000000"/>
            </a:solidFill>
            <a:prstDash val="solid"/>
            <a:round/>
            <a:headEnd len="med" w="med" type="none"/>
            <a:tailEnd len="med" w="med" type="none"/>
          </a:ln>
        </p:spPr>
      </p:cxnSp>
      <p:cxnSp>
        <p:nvCxnSpPr>
          <p:cNvPr id="174" name="Google Shape;174;p22"/>
          <p:cNvCxnSpPr>
            <a:endCxn id="133" idx="0"/>
          </p:cNvCxnSpPr>
          <p:nvPr/>
        </p:nvCxnSpPr>
        <p:spPr>
          <a:xfrm flipH="1">
            <a:off x="1614125" y="3019288"/>
            <a:ext cx="421800" cy="276300"/>
          </a:xfrm>
          <a:prstGeom prst="straightConnector1">
            <a:avLst/>
          </a:prstGeom>
          <a:noFill/>
          <a:ln cap="flat" cmpd="sng" w="21425">
            <a:solidFill>
              <a:srgbClr val="000000"/>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457200" y="786883"/>
            <a:ext cx="8229600" cy="60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t/>
            </a:r>
            <a:endParaRPr sz="3600"/>
          </a:p>
          <a:p>
            <a:pPr indent="0" lvl="0" marL="0" rtl="0" algn="ctr">
              <a:spcBef>
                <a:spcPts val="0"/>
              </a:spcBef>
              <a:spcAft>
                <a:spcPts val="0"/>
              </a:spcAft>
              <a:buClr>
                <a:schemeClr val="dk1"/>
              </a:buClr>
              <a:buSzPct val="30556"/>
              <a:buFont typeface="Arial"/>
              <a:buNone/>
            </a:pPr>
            <a:r>
              <a:rPr lang="en" sz="3600"/>
              <a:t>Charge Controller Subsystem Overview</a:t>
            </a:r>
            <a:br>
              <a:rPr lang="en" sz="3600"/>
            </a:br>
            <a:r>
              <a:rPr lang="en" sz="1800"/>
              <a:t>Adam Garcia</a:t>
            </a:r>
            <a:endParaRPr/>
          </a:p>
          <a:p>
            <a:pPr indent="0" lvl="0" marL="0" rtl="0" algn="ctr">
              <a:spcBef>
                <a:spcPts val="0"/>
              </a:spcBef>
              <a:spcAft>
                <a:spcPts val="0"/>
              </a:spcAft>
              <a:buNone/>
            </a:pPr>
            <a:r>
              <a:t/>
            </a:r>
            <a:endParaRPr/>
          </a:p>
        </p:txBody>
      </p:sp>
      <p:sp>
        <p:nvSpPr>
          <p:cNvPr id="180" name="Google Shape;180;p23"/>
          <p:cNvSpPr txBox="1"/>
          <p:nvPr>
            <p:ph idx="1" type="body"/>
          </p:nvPr>
        </p:nvSpPr>
        <p:spPr>
          <a:xfrm>
            <a:off x="457200" y="1536950"/>
            <a:ext cx="4447200" cy="3057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b="1" lang="en" sz="1400" u="sng"/>
              <a:t>ECEN 403 Deliverables:</a:t>
            </a:r>
            <a:endParaRPr b="1" sz="1400" u="sng"/>
          </a:p>
          <a:p>
            <a:pPr indent="0" lvl="0" marL="0" rtl="0" algn="l">
              <a:spcBef>
                <a:spcPts val="360"/>
              </a:spcBef>
              <a:spcAft>
                <a:spcPts val="0"/>
              </a:spcAft>
              <a:buClr>
                <a:schemeClr val="dk1"/>
              </a:buClr>
              <a:buSzPts val="1100"/>
              <a:buFont typeface="Arial"/>
              <a:buNone/>
            </a:pPr>
            <a:r>
              <a:t/>
            </a:r>
            <a:endParaRPr b="1" sz="1400" u="sng"/>
          </a:p>
          <a:p>
            <a:pPr indent="0" lvl="0" marL="0" rtl="0" algn="l">
              <a:spcBef>
                <a:spcPts val="360"/>
              </a:spcBef>
              <a:spcAft>
                <a:spcPts val="0"/>
              </a:spcAft>
              <a:buClr>
                <a:schemeClr val="dk1"/>
              </a:buClr>
              <a:buSzPts val="1100"/>
              <a:buFont typeface="Arial"/>
              <a:buNone/>
            </a:pPr>
            <a:r>
              <a:rPr b="1" lang="en" sz="1400"/>
              <a:t>PCB Design</a:t>
            </a:r>
            <a:endParaRPr b="1" sz="1400"/>
          </a:p>
          <a:p>
            <a:pPr indent="-317500" lvl="0" marL="457200" rtl="0" algn="l">
              <a:spcBef>
                <a:spcPts val="360"/>
              </a:spcBef>
              <a:spcAft>
                <a:spcPts val="0"/>
              </a:spcAft>
              <a:buSzPts val="1400"/>
              <a:buChar char="•"/>
            </a:pPr>
            <a:r>
              <a:rPr lang="en" sz="1400"/>
              <a:t> 18.8V to 14.4V - 13.6V Buck Converter</a:t>
            </a:r>
            <a:endParaRPr sz="1400"/>
          </a:p>
          <a:p>
            <a:pPr indent="-304800" lvl="1" marL="914400" rtl="0" algn="l">
              <a:spcBef>
                <a:spcPts val="0"/>
              </a:spcBef>
              <a:spcAft>
                <a:spcPts val="0"/>
              </a:spcAft>
              <a:buSzPts val="1200"/>
              <a:buChar char="–"/>
            </a:pPr>
            <a:r>
              <a:rPr lang="en" sz="1200"/>
              <a:t>Charge battery for different charging stages</a:t>
            </a:r>
            <a:endParaRPr sz="1200"/>
          </a:p>
          <a:p>
            <a:pPr indent="-317500" lvl="0" marL="457200" rtl="0" algn="l">
              <a:spcBef>
                <a:spcPts val="0"/>
              </a:spcBef>
              <a:spcAft>
                <a:spcPts val="0"/>
              </a:spcAft>
              <a:buSzPts val="1400"/>
              <a:buChar char="•"/>
            </a:pPr>
            <a:r>
              <a:rPr lang="en" sz="1400"/>
              <a:t>14.4V - 12V to 3.3V Buck Converter</a:t>
            </a:r>
            <a:endParaRPr sz="1400"/>
          </a:p>
          <a:p>
            <a:pPr indent="-304800" lvl="1" marL="914400" rtl="0" algn="l">
              <a:spcBef>
                <a:spcPts val="0"/>
              </a:spcBef>
              <a:spcAft>
                <a:spcPts val="0"/>
              </a:spcAft>
              <a:buSzPts val="1200"/>
              <a:buChar char="–"/>
            </a:pPr>
            <a:r>
              <a:rPr lang="en" sz="1200"/>
              <a:t>Input voltage for ESP32, ACS781LL Hall Current Sensors, &amp; Buck enablers</a:t>
            </a:r>
            <a:endParaRPr sz="1200"/>
          </a:p>
          <a:p>
            <a:pPr indent="-317500" lvl="0" marL="457200" rtl="0" algn="l">
              <a:spcBef>
                <a:spcPts val="0"/>
              </a:spcBef>
              <a:spcAft>
                <a:spcPts val="0"/>
              </a:spcAft>
              <a:buSzPts val="1400"/>
              <a:buChar char="•"/>
            </a:pPr>
            <a:r>
              <a:rPr lang="en" sz="1400"/>
              <a:t>ESP32 - MPPT</a:t>
            </a:r>
            <a:endParaRPr sz="1400"/>
          </a:p>
          <a:p>
            <a:pPr indent="-304800" lvl="1" marL="914400" rtl="0" algn="l">
              <a:spcBef>
                <a:spcPts val="0"/>
              </a:spcBef>
              <a:spcAft>
                <a:spcPts val="0"/>
              </a:spcAft>
              <a:buSzPts val="1200"/>
              <a:buChar char="–"/>
            </a:pPr>
            <a:r>
              <a:rPr lang="en" sz="1200"/>
              <a:t>Perturb &amp; Observe (P&amp;O) via FB pin of 18.8V Buck Converter</a:t>
            </a:r>
            <a:endParaRPr sz="1200"/>
          </a:p>
        </p:txBody>
      </p:sp>
      <p:pic>
        <p:nvPicPr>
          <p:cNvPr id="181" name="Google Shape;181;p23"/>
          <p:cNvPicPr preferRelativeResize="0"/>
          <p:nvPr/>
        </p:nvPicPr>
        <p:blipFill>
          <a:blip r:embed="rId3">
            <a:alphaModFix/>
          </a:blip>
          <a:stretch>
            <a:fillRect/>
          </a:stretch>
        </p:blipFill>
        <p:spPr>
          <a:xfrm>
            <a:off x="5259805" y="2009825"/>
            <a:ext cx="3049151" cy="2111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457200" y="786883"/>
            <a:ext cx="8229600" cy="60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t/>
            </a:r>
            <a:endParaRPr sz="3600"/>
          </a:p>
          <a:p>
            <a:pPr indent="0" lvl="0" marL="0" rtl="0" algn="ctr">
              <a:spcBef>
                <a:spcPts val="0"/>
              </a:spcBef>
              <a:spcAft>
                <a:spcPts val="0"/>
              </a:spcAft>
              <a:buClr>
                <a:schemeClr val="dk1"/>
              </a:buClr>
              <a:buSzPct val="103185"/>
              <a:buFont typeface="Arial"/>
              <a:buNone/>
            </a:pPr>
            <a:r>
              <a:rPr lang="en" sz="3489"/>
              <a:t>Charge Controller </a:t>
            </a:r>
            <a:r>
              <a:rPr lang="en" sz="3489"/>
              <a:t>Subsystem Simulations</a:t>
            </a:r>
            <a:br>
              <a:rPr lang="en" sz="3600"/>
            </a:br>
            <a:r>
              <a:rPr lang="en" sz="1800"/>
              <a:t>Adam Garcia</a:t>
            </a:r>
            <a:endParaRPr/>
          </a:p>
          <a:p>
            <a:pPr indent="0" lvl="0" marL="0" rtl="0" algn="ctr">
              <a:spcBef>
                <a:spcPts val="0"/>
              </a:spcBef>
              <a:spcAft>
                <a:spcPts val="0"/>
              </a:spcAft>
              <a:buNone/>
            </a:pPr>
            <a:r>
              <a:t/>
            </a:r>
            <a:endParaRPr/>
          </a:p>
        </p:txBody>
      </p:sp>
      <p:pic>
        <p:nvPicPr>
          <p:cNvPr id="187" name="Google Shape;187;p24"/>
          <p:cNvPicPr preferRelativeResize="0"/>
          <p:nvPr/>
        </p:nvPicPr>
        <p:blipFill rotWithShape="1">
          <a:blip r:embed="rId3">
            <a:alphaModFix/>
          </a:blip>
          <a:srcRect b="0" l="0" r="50524" t="0"/>
          <a:stretch/>
        </p:blipFill>
        <p:spPr>
          <a:xfrm>
            <a:off x="5507725" y="1421300"/>
            <a:ext cx="3179076" cy="2673475"/>
          </a:xfrm>
          <a:prstGeom prst="rect">
            <a:avLst/>
          </a:prstGeom>
          <a:noFill/>
          <a:ln>
            <a:noFill/>
          </a:ln>
        </p:spPr>
      </p:pic>
      <p:pic>
        <p:nvPicPr>
          <p:cNvPr id="188" name="Google Shape;188;p24"/>
          <p:cNvPicPr preferRelativeResize="0"/>
          <p:nvPr/>
        </p:nvPicPr>
        <p:blipFill rotWithShape="1">
          <a:blip r:embed="rId4">
            <a:alphaModFix/>
          </a:blip>
          <a:srcRect b="0" l="0" r="50293" t="3633"/>
          <a:stretch/>
        </p:blipFill>
        <p:spPr>
          <a:xfrm>
            <a:off x="248875" y="1536950"/>
            <a:ext cx="4223725" cy="3201625"/>
          </a:xfrm>
          <a:prstGeom prst="rect">
            <a:avLst/>
          </a:prstGeom>
          <a:noFill/>
          <a:ln>
            <a:noFill/>
          </a:ln>
        </p:spPr>
      </p:pic>
      <p:pic>
        <p:nvPicPr>
          <p:cNvPr id="189" name="Google Shape;189;p24"/>
          <p:cNvPicPr preferRelativeResize="0"/>
          <p:nvPr/>
        </p:nvPicPr>
        <p:blipFill rotWithShape="1">
          <a:blip r:embed="rId4">
            <a:alphaModFix/>
          </a:blip>
          <a:srcRect b="-8" l="55135" r="0" t="22925"/>
          <a:stretch/>
        </p:blipFill>
        <p:spPr>
          <a:xfrm>
            <a:off x="2691275" y="3215647"/>
            <a:ext cx="2651875" cy="1781350"/>
          </a:xfrm>
          <a:prstGeom prst="rect">
            <a:avLst/>
          </a:prstGeom>
          <a:noFill/>
          <a:ln>
            <a:noFill/>
          </a:ln>
        </p:spPr>
      </p:pic>
      <p:pic>
        <p:nvPicPr>
          <p:cNvPr id="190" name="Google Shape;190;p24"/>
          <p:cNvPicPr preferRelativeResize="0"/>
          <p:nvPr/>
        </p:nvPicPr>
        <p:blipFill rotWithShape="1">
          <a:blip r:embed="rId3">
            <a:alphaModFix/>
          </a:blip>
          <a:srcRect b="0" l="53983" r="0" t="21210"/>
          <a:stretch/>
        </p:blipFill>
        <p:spPr>
          <a:xfrm>
            <a:off x="5846945" y="3215650"/>
            <a:ext cx="2500628" cy="1781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457200" y="786883"/>
            <a:ext cx="8229600" cy="60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 sz="3600"/>
              <a:t>Physical Controls </a:t>
            </a:r>
            <a:r>
              <a:rPr lang="en" sz="3600"/>
              <a:t>Subsystem</a:t>
            </a:r>
            <a:r>
              <a:rPr lang="en" sz="3600"/>
              <a:t> Overview</a:t>
            </a:r>
            <a:br>
              <a:rPr lang="en" sz="3600"/>
            </a:br>
            <a:r>
              <a:rPr lang="en" sz="1800"/>
              <a:t>Jack Holdridge</a:t>
            </a:r>
            <a:endParaRPr/>
          </a:p>
        </p:txBody>
      </p:sp>
      <p:sp>
        <p:nvSpPr>
          <p:cNvPr id="196" name="Google Shape;196;p25"/>
          <p:cNvSpPr txBox="1"/>
          <p:nvPr>
            <p:ph idx="1" type="body"/>
          </p:nvPr>
        </p:nvSpPr>
        <p:spPr>
          <a:xfrm>
            <a:off x="227375" y="1461325"/>
            <a:ext cx="4386600" cy="3057600"/>
          </a:xfrm>
          <a:prstGeom prst="rect">
            <a:avLst/>
          </a:prstGeom>
        </p:spPr>
        <p:txBody>
          <a:bodyPr anchorCtr="0" anchor="t" bIns="45700" lIns="91425" spcFirstLastPara="1" rIns="91425" wrap="square" tIns="45700">
            <a:normAutofit fontScale="62500" lnSpcReduction="20000"/>
          </a:bodyPr>
          <a:lstStyle/>
          <a:p>
            <a:pPr indent="0" lvl="0" marL="0" rtl="0" algn="l">
              <a:spcBef>
                <a:spcPts val="360"/>
              </a:spcBef>
              <a:spcAft>
                <a:spcPts val="0"/>
              </a:spcAft>
              <a:buNone/>
            </a:pPr>
            <a:r>
              <a:rPr b="1" lang="en" sz="1800" u="sng"/>
              <a:t>ECEN 403 Deliverables:</a:t>
            </a:r>
            <a:endParaRPr b="1" sz="1800" u="sng"/>
          </a:p>
          <a:p>
            <a:pPr indent="0" lvl="0" marL="0" rtl="0" algn="l">
              <a:spcBef>
                <a:spcPts val="360"/>
              </a:spcBef>
              <a:spcAft>
                <a:spcPts val="0"/>
              </a:spcAft>
              <a:buNone/>
            </a:pPr>
            <a:r>
              <a:t/>
            </a:r>
            <a:endParaRPr b="1" sz="1800" u="sng"/>
          </a:p>
          <a:p>
            <a:pPr indent="0" lvl="0" marL="0" rtl="0" algn="l">
              <a:spcBef>
                <a:spcPts val="360"/>
              </a:spcBef>
              <a:spcAft>
                <a:spcPts val="0"/>
              </a:spcAft>
              <a:buNone/>
            </a:pPr>
            <a:r>
              <a:rPr b="1" lang="en" sz="1800"/>
              <a:t>Power </a:t>
            </a:r>
            <a:r>
              <a:rPr b="1" lang="en" sz="1800"/>
              <a:t>Management</a:t>
            </a:r>
            <a:r>
              <a:rPr b="1" lang="en" sz="1800"/>
              <a:t> </a:t>
            </a:r>
            <a:r>
              <a:rPr b="1" lang="en" sz="1800"/>
              <a:t>Architecture</a:t>
            </a:r>
            <a:endParaRPr b="1" sz="1800"/>
          </a:p>
          <a:p>
            <a:pPr indent="-300038" lvl="0" marL="457200" rtl="0" algn="l">
              <a:spcBef>
                <a:spcPts val="360"/>
              </a:spcBef>
              <a:spcAft>
                <a:spcPts val="0"/>
              </a:spcAft>
              <a:buSzPct val="100000"/>
              <a:buChar char="•"/>
            </a:pPr>
            <a:r>
              <a:rPr lang="en" sz="1800"/>
              <a:t>3.3V Buck Converter schematic and components.</a:t>
            </a:r>
            <a:endParaRPr sz="1800"/>
          </a:p>
          <a:p>
            <a:pPr indent="-300038" lvl="0" marL="457200" rtl="0" algn="l">
              <a:spcBef>
                <a:spcPts val="0"/>
              </a:spcBef>
              <a:spcAft>
                <a:spcPts val="0"/>
              </a:spcAft>
              <a:buSzPct val="100000"/>
              <a:buChar char="•"/>
            </a:pPr>
            <a:r>
              <a:rPr lang="en" sz="1800"/>
              <a:t>12V Buck-Boost Converter schematic and components.</a:t>
            </a:r>
            <a:endParaRPr sz="1800"/>
          </a:p>
          <a:p>
            <a:pPr indent="-300038" lvl="0" marL="457200" rtl="0" algn="l">
              <a:spcBef>
                <a:spcPts val="0"/>
              </a:spcBef>
              <a:spcAft>
                <a:spcPts val="0"/>
              </a:spcAft>
              <a:buSzPct val="100000"/>
              <a:buChar char="•"/>
            </a:pPr>
            <a:r>
              <a:rPr lang="en" sz="1800"/>
              <a:t>Power distribution network with fuse protection.</a:t>
            </a:r>
            <a:endParaRPr sz="1800"/>
          </a:p>
          <a:p>
            <a:pPr indent="0" lvl="0" marL="1371600" rtl="0" algn="l">
              <a:spcBef>
                <a:spcPts val="360"/>
              </a:spcBef>
              <a:spcAft>
                <a:spcPts val="0"/>
              </a:spcAft>
              <a:buNone/>
            </a:pPr>
            <a:r>
              <a:t/>
            </a:r>
            <a:endParaRPr sz="1800"/>
          </a:p>
          <a:p>
            <a:pPr indent="0" lvl="0" marL="0" rtl="0" algn="l">
              <a:spcBef>
                <a:spcPts val="360"/>
              </a:spcBef>
              <a:spcAft>
                <a:spcPts val="0"/>
              </a:spcAft>
              <a:buNone/>
            </a:pPr>
            <a:r>
              <a:rPr b="1" lang="en" sz="1800"/>
              <a:t>ESP32-S3 HMI and MCU</a:t>
            </a:r>
            <a:endParaRPr b="1" sz="1800"/>
          </a:p>
          <a:p>
            <a:pPr indent="-300038" lvl="0" marL="457200" rtl="0" algn="l">
              <a:spcBef>
                <a:spcPts val="360"/>
              </a:spcBef>
              <a:spcAft>
                <a:spcPts val="0"/>
              </a:spcAft>
              <a:buSzPct val="100000"/>
              <a:buChar char="•"/>
            </a:pPr>
            <a:r>
              <a:rPr lang="en" sz="1800"/>
              <a:t>Sensor component selection and pin mapping.</a:t>
            </a:r>
            <a:endParaRPr sz="1800"/>
          </a:p>
          <a:p>
            <a:pPr indent="-300038" lvl="0" marL="457200" rtl="0" algn="l">
              <a:spcBef>
                <a:spcPts val="0"/>
              </a:spcBef>
              <a:spcAft>
                <a:spcPts val="0"/>
              </a:spcAft>
              <a:buSzPct val="100000"/>
              <a:buChar char="•"/>
            </a:pPr>
            <a:r>
              <a:rPr lang="en" sz="1800"/>
              <a:t>HMI touchscreen user interface (menus, navigation, </a:t>
            </a:r>
            <a:r>
              <a:rPr lang="en" sz="1800"/>
              <a:t>status</a:t>
            </a:r>
            <a:r>
              <a:rPr lang="en" sz="1800"/>
              <a:t>).</a:t>
            </a:r>
            <a:endParaRPr sz="1800"/>
          </a:p>
          <a:p>
            <a:pPr indent="-300038" lvl="0" marL="457200" rtl="0" algn="l">
              <a:spcBef>
                <a:spcPts val="0"/>
              </a:spcBef>
              <a:spcAft>
                <a:spcPts val="0"/>
              </a:spcAft>
              <a:buSzPct val="100000"/>
              <a:buChar char="•"/>
            </a:pPr>
            <a:r>
              <a:rPr lang="en" sz="1800"/>
              <a:t>Microcontroller power sequencing and boot mode layout.</a:t>
            </a:r>
            <a:endParaRPr sz="1800"/>
          </a:p>
          <a:p>
            <a:pPr indent="0" lvl="0" marL="1371600" rtl="0" algn="l">
              <a:spcBef>
                <a:spcPts val="360"/>
              </a:spcBef>
              <a:spcAft>
                <a:spcPts val="0"/>
              </a:spcAft>
              <a:buNone/>
            </a:pPr>
            <a:r>
              <a:t/>
            </a:r>
            <a:endParaRPr sz="1800"/>
          </a:p>
          <a:p>
            <a:pPr indent="0" lvl="0" marL="0" rtl="0" algn="l">
              <a:spcBef>
                <a:spcPts val="360"/>
              </a:spcBef>
              <a:spcAft>
                <a:spcPts val="0"/>
              </a:spcAft>
              <a:buNone/>
            </a:pPr>
            <a:r>
              <a:rPr b="1" lang="en" sz="1800"/>
              <a:t>System Integration</a:t>
            </a:r>
            <a:endParaRPr b="1" sz="1800"/>
          </a:p>
          <a:p>
            <a:pPr indent="-300038" lvl="0" marL="457200" rtl="0" algn="l">
              <a:spcBef>
                <a:spcPts val="360"/>
              </a:spcBef>
              <a:spcAft>
                <a:spcPts val="0"/>
              </a:spcAft>
              <a:buSzPct val="100000"/>
              <a:buChar char="•"/>
            </a:pPr>
            <a:r>
              <a:rPr lang="en" sz="1800"/>
              <a:t>Full PCB layout, routing, and DRC verification.</a:t>
            </a:r>
            <a:endParaRPr sz="1800"/>
          </a:p>
          <a:p>
            <a:pPr indent="-300038" lvl="0" marL="457200" rtl="0" algn="l">
              <a:spcBef>
                <a:spcPts val="0"/>
              </a:spcBef>
              <a:spcAft>
                <a:spcPts val="0"/>
              </a:spcAft>
              <a:buSzPct val="100000"/>
              <a:buChar char="•"/>
            </a:pPr>
            <a:r>
              <a:rPr lang="en" sz="1800"/>
              <a:t>Improved wifi antenna for Database communication.</a:t>
            </a:r>
            <a:endParaRPr sz="1800"/>
          </a:p>
          <a:p>
            <a:pPr indent="-300038" lvl="0" marL="457200" rtl="0" algn="l">
              <a:spcBef>
                <a:spcPts val="0"/>
              </a:spcBef>
              <a:spcAft>
                <a:spcPts val="0"/>
              </a:spcAft>
              <a:buSzPct val="100000"/>
              <a:buChar char="•"/>
            </a:pPr>
            <a:r>
              <a:rPr lang="en" sz="1800"/>
              <a:t>Complete BOM finalized.</a:t>
            </a:r>
            <a:endParaRPr sz="1800"/>
          </a:p>
          <a:p>
            <a:pPr indent="0" lvl="0" marL="0" rtl="0" algn="l">
              <a:spcBef>
                <a:spcPts val="360"/>
              </a:spcBef>
              <a:spcAft>
                <a:spcPts val="0"/>
              </a:spcAft>
              <a:buNone/>
            </a:pPr>
            <a:r>
              <a:t/>
            </a:r>
            <a:endParaRPr sz="1800"/>
          </a:p>
        </p:txBody>
      </p:sp>
      <p:pic>
        <p:nvPicPr>
          <p:cNvPr id="197" name="Google Shape;197;p25"/>
          <p:cNvPicPr preferRelativeResize="0"/>
          <p:nvPr/>
        </p:nvPicPr>
        <p:blipFill>
          <a:blip r:embed="rId3">
            <a:alphaModFix/>
          </a:blip>
          <a:stretch>
            <a:fillRect/>
          </a:stretch>
        </p:blipFill>
        <p:spPr>
          <a:xfrm>
            <a:off x="5039647" y="1610200"/>
            <a:ext cx="3966350" cy="305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457200" y="673433"/>
            <a:ext cx="8229600" cy="60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sz="3600"/>
              <a:t>Physical Controls Testing</a:t>
            </a:r>
            <a:endParaRPr sz="3600"/>
          </a:p>
          <a:p>
            <a:pPr indent="0" lvl="0" marL="0" rtl="0" algn="ctr">
              <a:spcBef>
                <a:spcPts val="0"/>
              </a:spcBef>
              <a:spcAft>
                <a:spcPts val="0"/>
              </a:spcAft>
              <a:buClr>
                <a:schemeClr val="dk1"/>
              </a:buClr>
              <a:buSzPct val="200000"/>
              <a:buFont typeface="Arial"/>
              <a:buNone/>
            </a:pPr>
            <a:r>
              <a:rPr lang="en" sz="1800"/>
              <a:t>Jack Holdridge</a:t>
            </a:r>
            <a:endParaRPr/>
          </a:p>
        </p:txBody>
      </p:sp>
      <p:sp>
        <p:nvSpPr>
          <p:cNvPr id="203" name="Google Shape;203;p26"/>
          <p:cNvSpPr txBox="1"/>
          <p:nvPr>
            <p:ph idx="1" type="body"/>
          </p:nvPr>
        </p:nvSpPr>
        <p:spPr>
          <a:xfrm>
            <a:off x="4084550" y="1530625"/>
            <a:ext cx="4835400" cy="30576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None/>
            </a:pPr>
            <a:r>
              <a:rPr b="1" lang="en" sz="1250"/>
              <a:t>3.3V Buck Converter Assembly and Test</a:t>
            </a:r>
            <a:endParaRPr b="1" sz="1250"/>
          </a:p>
          <a:p>
            <a:pPr indent="-307975" lvl="0" marL="457200" rtl="0" algn="l">
              <a:spcBef>
                <a:spcPts val="360"/>
              </a:spcBef>
              <a:spcAft>
                <a:spcPts val="0"/>
              </a:spcAft>
              <a:buSzPts val="1250"/>
              <a:buChar char="•"/>
            </a:pPr>
            <a:r>
              <a:rPr lang="en" sz="1250"/>
              <a:t>Assembled buck converter on PCB</a:t>
            </a:r>
            <a:endParaRPr sz="1250"/>
          </a:p>
          <a:p>
            <a:pPr indent="-307975" lvl="0" marL="457200" rtl="0" algn="l">
              <a:spcBef>
                <a:spcPts val="0"/>
              </a:spcBef>
              <a:spcAft>
                <a:spcPts val="0"/>
              </a:spcAft>
              <a:buSzPts val="1250"/>
              <a:buChar char="•"/>
            </a:pPr>
            <a:r>
              <a:rPr lang="en" sz="1250"/>
              <a:t>Measured output voltage at 12v operating point.</a:t>
            </a:r>
            <a:endParaRPr sz="1250"/>
          </a:p>
          <a:p>
            <a:pPr indent="-307975" lvl="0" marL="457200" rtl="0" algn="l">
              <a:spcBef>
                <a:spcPts val="0"/>
              </a:spcBef>
              <a:spcAft>
                <a:spcPts val="0"/>
              </a:spcAft>
              <a:buSzPts val="1250"/>
              <a:buChar char="•"/>
            </a:pPr>
            <a:r>
              <a:rPr lang="en" sz="1250"/>
              <a:t>Converter held regulation within expected tolerance.</a:t>
            </a:r>
            <a:endParaRPr sz="1250"/>
          </a:p>
          <a:p>
            <a:pPr indent="0" lvl="0" marL="0" rtl="0" algn="l">
              <a:spcBef>
                <a:spcPts val="360"/>
              </a:spcBef>
              <a:spcAft>
                <a:spcPts val="0"/>
              </a:spcAft>
              <a:buNone/>
            </a:pPr>
            <a:r>
              <a:t/>
            </a:r>
            <a:endParaRPr sz="1250"/>
          </a:p>
          <a:p>
            <a:pPr indent="0" lvl="0" marL="0" rtl="0" algn="l">
              <a:spcBef>
                <a:spcPts val="360"/>
              </a:spcBef>
              <a:spcAft>
                <a:spcPts val="0"/>
              </a:spcAft>
              <a:buNone/>
            </a:pPr>
            <a:r>
              <a:rPr b="1" lang="en" sz="1250"/>
              <a:t>HMI screen User Interface</a:t>
            </a:r>
            <a:endParaRPr b="1" sz="1250"/>
          </a:p>
          <a:p>
            <a:pPr indent="-307975" lvl="0" marL="457200" rtl="0" algn="l">
              <a:spcBef>
                <a:spcPts val="360"/>
              </a:spcBef>
              <a:spcAft>
                <a:spcPts val="0"/>
              </a:spcAft>
              <a:buSzPts val="1250"/>
              <a:buChar char="•"/>
            </a:pPr>
            <a:r>
              <a:rPr lang="en" sz="1250"/>
              <a:t>Touchscreen inputs register correctly.</a:t>
            </a:r>
            <a:endParaRPr sz="1250"/>
          </a:p>
          <a:p>
            <a:pPr indent="-307975" lvl="0" marL="457200" rtl="0" algn="l">
              <a:spcBef>
                <a:spcPts val="0"/>
              </a:spcBef>
              <a:spcAft>
                <a:spcPts val="0"/>
              </a:spcAft>
              <a:buSzPts val="1250"/>
              <a:buChar char="•"/>
            </a:pPr>
            <a:r>
              <a:rPr lang="en" sz="1250"/>
              <a:t>UI responds </a:t>
            </a:r>
            <a:r>
              <a:rPr lang="en" sz="1250"/>
              <a:t>consistently</a:t>
            </a:r>
            <a:r>
              <a:rPr lang="en" sz="1250"/>
              <a:t> to user interactions.</a:t>
            </a:r>
            <a:endParaRPr sz="1250"/>
          </a:p>
          <a:p>
            <a:pPr indent="-307975" lvl="0" marL="457200" rtl="0" algn="l">
              <a:spcBef>
                <a:spcPts val="0"/>
              </a:spcBef>
              <a:spcAft>
                <a:spcPts val="0"/>
              </a:spcAft>
              <a:buSzPts val="1250"/>
              <a:buChar char="•"/>
            </a:pPr>
            <a:r>
              <a:rPr lang="en" sz="1250"/>
              <a:t>Passed power-cycle functionality test.</a:t>
            </a:r>
            <a:endParaRPr sz="1250"/>
          </a:p>
          <a:p>
            <a:pPr indent="0" lvl="0" marL="0" rtl="0" algn="l">
              <a:spcBef>
                <a:spcPts val="360"/>
              </a:spcBef>
              <a:spcAft>
                <a:spcPts val="0"/>
              </a:spcAft>
              <a:buNone/>
            </a:pPr>
            <a:r>
              <a:t/>
            </a:r>
            <a:endParaRPr sz="1250"/>
          </a:p>
          <a:p>
            <a:pPr indent="0" lvl="0" marL="0" rtl="0" algn="l">
              <a:spcBef>
                <a:spcPts val="360"/>
              </a:spcBef>
              <a:spcAft>
                <a:spcPts val="0"/>
              </a:spcAft>
              <a:buNone/>
            </a:pPr>
            <a:r>
              <a:rPr b="1" lang="en" sz="1250"/>
              <a:t>Path Forward</a:t>
            </a:r>
            <a:endParaRPr b="1" sz="1250"/>
          </a:p>
          <a:p>
            <a:pPr indent="-307975" lvl="0" marL="457200" rtl="0" algn="l">
              <a:spcBef>
                <a:spcPts val="360"/>
              </a:spcBef>
              <a:spcAft>
                <a:spcPts val="0"/>
              </a:spcAft>
              <a:buSzPts val="1250"/>
              <a:buChar char="•"/>
            </a:pPr>
            <a:r>
              <a:rPr lang="en" sz="1250"/>
              <a:t>Assemble </a:t>
            </a:r>
            <a:r>
              <a:rPr lang="en" sz="1250"/>
              <a:t>remaining</a:t>
            </a:r>
            <a:r>
              <a:rPr lang="en" sz="1250"/>
              <a:t> PCB sections.</a:t>
            </a:r>
            <a:endParaRPr sz="1250"/>
          </a:p>
          <a:p>
            <a:pPr indent="-307975" lvl="0" marL="457200" rtl="0" algn="l">
              <a:spcBef>
                <a:spcPts val="0"/>
              </a:spcBef>
              <a:spcAft>
                <a:spcPts val="0"/>
              </a:spcAft>
              <a:buSzPts val="1250"/>
              <a:buChar char="•"/>
            </a:pPr>
            <a:r>
              <a:rPr lang="en" sz="1250"/>
              <a:t>Preform DC </a:t>
            </a:r>
            <a:r>
              <a:rPr lang="en" sz="1250"/>
              <a:t>converters</a:t>
            </a:r>
            <a:r>
              <a:rPr lang="en" sz="1250"/>
              <a:t> Validation test.</a:t>
            </a:r>
            <a:endParaRPr sz="1250"/>
          </a:p>
          <a:p>
            <a:pPr indent="-307975" lvl="0" marL="457200" rtl="0" algn="l">
              <a:spcBef>
                <a:spcPts val="0"/>
              </a:spcBef>
              <a:spcAft>
                <a:spcPts val="0"/>
              </a:spcAft>
              <a:buSzPts val="1250"/>
              <a:buChar char="•"/>
            </a:pPr>
            <a:r>
              <a:rPr lang="en" sz="1250"/>
              <a:t>Design and 3D print </a:t>
            </a:r>
            <a:r>
              <a:rPr lang="en" sz="1250"/>
              <a:t>subsystem</a:t>
            </a:r>
            <a:r>
              <a:rPr lang="en" sz="1250"/>
              <a:t> housing. </a:t>
            </a:r>
            <a:endParaRPr sz="1250"/>
          </a:p>
          <a:p>
            <a:pPr indent="0" lvl="0" marL="457200" rtl="0" algn="l">
              <a:spcBef>
                <a:spcPts val="360"/>
              </a:spcBef>
              <a:spcAft>
                <a:spcPts val="0"/>
              </a:spcAft>
              <a:buNone/>
            </a:pPr>
            <a:r>
              <a:t/>
            </a:r>
            <a:endParaRPr sz="1250"/>
          </a:p>
        </p:txBody>
      </p:sp>
      <p:pic>
        <p:nvPicPr>
          <p:cNvPr id="204" name="Google Shape;204;p26"/>
          <p:cNvPicPr preferRelativeResize="0"/>
          <p:nvPr/>
        </p:nvPicPr>
        <p:blipFill rotWithShape="1">
          <a:blip r:embed="rId3">
            <a:alphaModFix/>
          </a:blip>
          <a:srcRect b="13000" l="2969" r="0" t="7242"/>
          <a:stretch/>
        </p:blipFill>
        <p:spPr>
          <a:xfrm>
            <a:off x="962363" y="3422200"/>
            <a:ext cx="2079675" cy="1601500"/>
          </a:xfrm>
          <a:prstGeom prst="rect">
            <a:avLst/>
          </a:prstGeom>
          <a:noFill/>
          <a:ln>
            <a:noFill/>
          </a:ln>
        </p:spPr>
      </p:pic>
      <p:graphicFrame>
        <p:nvGraphicFramePr>
          <p:cNvPr id="205" name="Google Shape;205;p26"/>
          <p:cNvGraphicFramePr/>
          <p:nvPr/>
        </p:nvGraphicFramePr>
        <p:xfrm>
          <a:off x="119750" y="1627400"/>
          <a:ext cx="3000000" cy="3000000"/>
        </p:xfrm>
        <a:graphic>
          <a:graphicData uri="http://schemas.openxmlformats.org/drawingml/2006/table">
            <a:tbl>
              <a:tblPr>
                <a:noFill/>
                <a:tableStyleId>{658A962C-05DE-476A-A687-FE61E0C67F64}</a:tableStyleId>
              </a:tblPr>
              <a:tblGrid>
                <a:gridCol w="665200"/>
                <a:gridCol w="1090875"/>
                <a:gridCol w="944550"/>
                <a:gridCol w="1064275"/>
              </a:tblGrid>
              <a:tr h="295875">
                <a:tc>
                  <a:txBody>
                    <a:bodyPr/>
                    <a:lstStyle/>
                    <a:p>
                      <a:pPr indent="0" lvl="0" marL="0" rtl="0" algn="ctr">
                        <a:lnSpc>
                          <a:spcPct val="115000"/>
                        </a:lnSpc>
                        <a:spcBef>
                          <a:spcPts val="0"/>
                        </a:spcBef>
                        <a:spcAft>
                          <a:spcPts val="0"/>
                        </a:spcAft>
                        <a:buNone/>
                      </a:pPr>
                      <a:r>
                        <a:rPr lang="en" sz="1000">
                          <a:solidFill>
                            <a:srgbClr val="FFFFFF"/>
                          </a:solidFill>
                          <a:latin typeface="Roboto"/>
                          <a:ea typeface="Roboto"/>
                          <a:cs typeface="Roboto"/>
                          <a:sym typeface="Roboto"/>
                        </a:rPr>
                        <a:t>Vin (V)</a:t>
                      </a:r>
                      <a:endParaRPr sz="1000">
                        <a:solidFill>
                          <a:srgbClr val="FFFFFF"/>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356854"/>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284E3F"/>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lang="en" sz="1000">
                          <a:solidFill>
                            <a:srgbClr val="FFFFFF"/>
                          </a:solidFill>
                          <a:latin typeface="Roboto"/>
                          <a:ea typeface="Roboto"/>
                          <a:cs typeface="Roboto"/>
                          <a:sym typeface="Roboto"/>
                        </a:rPr>
                        <a:t>(3.3V) Vout Simulated</a:t>
                      </a:r>
                      <a:endParaRPr sz="1000">
                        <a:solidFill>
                          <a:srgbClr val="FFFFFF"/>
                        </a:solidFill>
                        <a:latin typeface="Roboto"/>
                        <a:ea typeface="Roboto"/>
                        <a:cs typeface="Roboto"/>
                        <a:sym typeface="Roboto"/>
                      </a:endParaRPr>
                    </a:p>
                  </a:txBody>
                  <a:tcPr marT="19050" marB="19050" marR="76200" marL="76200" anchor="ctr">
                    <a:lnL cap="flat" cmpd="sng" w="9525">
                      <a:solidFill>
                        <a:srgbClr val="356854"/>
                      </a:solidFill>
                      <a:prstDash val="solid"/>
                      <a:round/>
                      <a:headEnd len="sm" w="sm" type="none"/>
                      <a:tailEnd len="sm" w="sm" type="none"/>
                    </a:lnL>
                    <a:lnR cap="flat" cmpd="sng" w="9525">
                      <a:solidFill>
                        <a:srgbClr val="356854"/>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284E3F"/>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lang="en" sz="1000">
                          <a:solidFill>
                            <a:srgbClr val="FFFFFF"/>
                          </a:solidFill>
                          <a:latin typeface="Roboto"/>
                          <a:ea typeface="Roboto"/>
                          <a:cs typeface="Roboto"/>
                          <a:sym typeface="Roboto"/>
                        </a:rPr>
                        <a:t>(3.3V) Vout Actual</a:t>
                      </a:r>
                      <a:endParaRPr sz="1000">
                        <a:solidFill>
                          <a:srgbClr val="FFFFFF"/>
                        </a:solidFill>
                        <a:latin typeface="Roboto"/>
                        <a:ea typeface="Roboto"/>
                        <a:cs typeface="Roboto"/>
                        <a:sym typeface="Roboto"/>
                      </a:endParaRPr>
                    </a:p>
                  </a:txBody>
                  <a:tcPr marT="19050" marB="19050" marR="76200" marL="76200" anchor="ctr">
                    <a:lnL cap="flat" cmpd="sng" w="9525">
                      <a:solidFill>
                        <a:srgbClr val="356854"/>
                      </a:solidFill>
                      <a:prstDash val="solid"/>
                      <a:round/>
                      <a:headEnd len="sm" w="sm" type="none"/>
                      <a:tailEnd len="sm" w="sm" type="none"/>
                    </a:lnL>
                    <a:lnR cap="flat" cmpd="sng" w="9525">
                      <a:solidFill>
                        <a:srgbClr val="356854"/>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lang="en" sz="1000">
                          <a:solidFill>
                            <a:srgbClr val="FFFFFF"/>
                          </a:solidFill>
                          <a:latin typeface="Roboto"/>
                          <a:ea typeface="Roboto"/>
                          <a:cs typeface="Roboto"/>
                          <a:sym typeface="Roboto"/>
                        </a:rPr>
                        <a:t>(12V) Vout Simulated</a:t>
                      </a:r>
                      <a:endParaRPr sz="1000">
                        <a:solidFill>
                          <a:srgbClr val="FFFFFF"/>
                        </a:solidFill>
                        <a:latin typeface="Roboto"/>
                        <a:ea typeface="Roboto"/>
                        <a:cs typeface="Roboto"/>
                        <a:sym typeface="Roboto"/>
                      </a:endParaRPr>
                    </a:p>
                  </a:txBody>
                  <a:tcPr marT="19050" marB="19050" marR="76200" marL="76200" anchor="ctr">
                    <a:lnL cap="flat" cmpd="sng" w="9525">
                      <a:solidFill>
                        <a:srgbClr val="356854"/>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284E3F"/>
                      </a:solidFill>
                      <a:prstDash val="solid"/>
                      <a:round/>
                      <a:headEnd len="sm" w="sm" type="none"/>
                      <a:tailEnd len="sm" w="sm" type="none"/>
                    </a:lnB>
                    <a:solidFill>
                      <a:srgbClr val="356854"/>
                    </a:solidFill>
                  </a:tcPr>
                </a:tc>
              </a:tr>
              <a:tr h="195275">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10.8</a:t>
                      </a:r>
                      <a:endParaRPr sz="1000">
                        <a:solidFill>
                          <a:srgbClr val="434343"/>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999999"/>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3.3308</a:t>
                      </a:r>
                      <a:endParaRPr sz="1000">
                        <a:solidFill>
                          <a:srgbClr val="434343"/>
                        </a:solidFill>
                        <a:latin typeface="Roboto"/>
                        <a:ea typeface="Roboto"/>
                        <a:cs typeface="Roboto"/>
                        <a:sym typeface="Roboto"/>
                      </a:endParaRPr>
                    </a:p>
                  </a:txBody>
                  <a:tcPr marT="19050" marB="19050" marR="76200" marL="76200" anchor="ctr">
                    <a:lnL cap="flat" cmpd="sng" w="9525">
                      <a:solidFill>
                        <a:srgbClr val="999999"/>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sz="1000">
                          <a:latin typeface="Roboto"/>
                          <a:ea typeface="Roboto"/>
                          <a:cs typeface="Roboto"/>
                          <a:sym typeface="Roboto"/>
                        </a:rPr>
                        <a:t>11.947</a:t>
                      </a:r>
                      <a:endParaRPr sz="1000">
                        <a:latin typeface="Roboto"/>
                        <a:ea typeface="Roboto"/>
                        <a:cs typeface="Roboto"/>
                        <a:sym typeface="Roboto"/>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284E3F"/>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95275">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11</a:t>
                      </a:r>
                      <a:endParaRPr sz="1000">
                        <a:solidFill>
                          <a:srgbClr val="434343"/>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3.3306</a:t>
                      </a:r>
                      <a:endParaRPr sz="1000">
                        <a:solidFill>
                          <a:srgbClr val="434343"/>
                        </a:solidFill>
                        <a:latin typeface="Roboto"/>
                        <a:ea typeface="Roboto"/>
                        <a:cs typeface="Roboto"/>
                        <a:sym typeface="Roboto"/>
                      </a:endParaRPr>
                    </a:p>
                  </a:txBody>
                  <a:tcPr marT="19050" marB="19050" marR="76200" marL="76200" anchor="ctr">
                    <a:lnL cap="flat" cmpd="sng" w="9525">
                      <a:solidFill>
                        <a:srgbClr val="999999"/>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sz="1000">
                          <a:latin typeface="Roboto"/>
                          <a:ea typeface="Roboto"/>
                          <a:cs typeface="Roboto"/>
                          <a:sym typeface="Roboto"/>
                        </a:rPr>
                        <a:t>11.950</a:t>
                      </a:r>
                      <a:endParaRPr sz="1000">
                        <a:latin typeface="Roboto"/>
                        <a:ea typeface="Roboto"/>
                        <a:cs typeface="Roboto"/>
                        <a:sym typeface="Roboto"/>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95275">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12</a:t>
                      </a:r>
                      <a:endParaRPr sz="1000">
                        <a:solidFill>
                          <a:srgbClr val="434343"/>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3.3304</a:t>
                      </a:r>
                      <a:endParaRPr sz="1000">
                        <a:solidFill>
                          <a:srgbClr val="434343"/>
                        </a:solidFill>
                        <a:latin typeface="Roboto"/>
                        <a:ea typeface="Roboto"/>
                        <a:cs typeface="Roboto"/>
                        <a:sym typeface="Roboto"/>
                      </a:endParaRPr>
                    </a:p>
                  </a:txBody>
                  <a:tcPr marT="19050" marB="19050" marR="76200" marL="76200" anchor="ctr">
                    <a:lnL cap="flat" cmpd="sng" w="9525">
                      <a:solidFill>
                        <a:srgbClr val="99999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3.43</a:t>
                      </a:r>
                      <a:endParaRPr sz="1000">
                        <a:solidFill>
                          <a:srgbClr val="434343"/>
                        </a:solidFill>
                        <a:latin typeface="Roboto"/>
                        <a:ea typeface="Roboto"/>
                        <a:cs typeface="Roboto"/>
                        <a:sym typeface="Roboto"/>
                      </a:endParaRPr>
                    </a:p>
                  </a:txBody>
                  <a:tcPr marT="19050" marB="19050" marR="76200" marL="7620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 sz="1000">
                          <a:latin typeface="Roboto"/>
                          <a:ea typeface="Roboto"/>
                          <a:cs typeface="Roboto"/>
                          <a:sym typeface="Roboto"/>
                        </a:rPr>
                        <a:t>12.013</a:t>
                      </a:r>
                      <a:endParaRPr sz="1000">
                        <a:latin typeface="Roboto"/>
                        <a:ea typeface="Roboto"/>
                        <a:cs typeface="Roboto"/>
                        <a:sym typeface="Roboto"/>
                      </a:endParaRPr>
                    </a:p>
                  </a:txBody>
                  <a:tcPr marT="19050" marB="19050" marR="76200" marL="76200" anchor="ctr">
                    <a:lnL cap="flat" cmpd="sng" w="9525">
                      <a:solidFill>
                        <a:srgbClr val="D9D9D9"/>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95275">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13</a:t>
                      </a:r>
                      <a:endParaRPr sz="1000">
                        <a:solidFill>
                          <a:srgbClr val="434343"/>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3.331</a:t>
                      </a:r>
                      <a:endParaRPr sz="1000">
                        <a:solidFill>
                          <a:srgbClr val="434343"/>
                        </a:solidFill>
                        <a:latin typeface="Roboto"/>
                        <a:ea typeface="Roboto"/>
                        <a:cs typeface="Roboto"/>
                        <a:sym typeface="Roboto"/>
                      </a:endParaRPr>
                    </a:p>
                  </a:txBody>
                  <a:tcPr marT="19050" marB="19050" marR="76200" marL="76200" anchor="ctr">
                    <a:lnL cap="flat" cmpd="sng" w="9525">
                      <a:solidFill>
                        <a:srgbClr val="999999"/>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sz="1000">
                          <a:latin typeface="Roboto"/>
                          <a:ea typeface="Roboto"/>
                          <a:cs typeface="Roboto"/>
                          <a:sym typeface="Roboto"/>
                        </a:rPr>
                        <a:t>11.972</a:t>
                      </a:r>
                      <a:endParaRPr sz="1000">
                        <a:latin typeface="Roboto"/>
                        <a:ea typeface="Roboto"/>
                        <a:cs typeface="Roboto"/>
                        <a:sym typeface="Roboto"/>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195275">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14</a:t>
                      </a:r>
                      <a:endParaRPr sz="1000">
                        <a:solidFill>
                          <a:srgbClr val="434343"/>
                        </a:solidFill>
                        <a:latin typeface="Roboto"/>
                        <a:ea typeface="Roboto"/>
                        <a:cs typeface="Roboto"/>
                        <a:sym typeface="Roboto"/>
                      </a:endParaRPr>
                    </a:p>
                  </a:txBody>
                  <a:tcPr marT="19050" marB="19050" marR="76200" marL="76200" anchor="ctr">
                    <a:lnL cap="flat" cmpd="sng" w="9525">
                      <a:solidFill>
                        <a:srgbClr val="284E3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284E3F"/>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 sz="1000">
                          <a:solidFill>
                            <a:srgbClr val="434343"/>
                          </a:solidFill>
                          <a:latin typeface="Roboto"/>
                          <a:ea typeface="Roboto"/>
                          <a:cs typeface="Roboto"/>
                          <a:sym typeface="Roboto"/>
                        </a:rPr>
                        <a:t>3.329</a:t>
                      </a:r>
                      <a:endParaRPr sz="1000">
                        <a:solidFill>
                          <a:srgbClr val="434343"/>
                        </a:solidFill>
                        <a:latin typeface="Roboto"/>
                        <a:ea typeface="Roboto"/>
                        <a:cs typeface="Roboto"/>
                        <a:sym typeface="Roboto"/>
                      </a:endParaRPr>
                    </a:p>
                  </a:txBody>
                  <a:tcPr marT="19050" marB="19050" marR="76200" marL="76200" anchor="ctr">
                    <a:lnL cap="flat" cmpd="sng" w="9525">
                      <a:solidFill>
                        <a:srgbClr val="999999"/>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284E3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284E3F"/>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sz="1000">
                          <a:latin typeface="Roboto"/>
                          <a:ea typeface="Roboto"/>
                          <a:cs typeface="Roboto"/>
                          <a:sym typeface="Roboto"/>
                        </a:rPr>
                        <a:t>12.003</a:t>
                      </a:r>
                      <a:endParaRPr sz="1000">
                        <a:latin typeface="Roboto"/>
                        <a:ea typeface="Roboto"/>
                        <a:cs typeface="Roboto"/>
                        <a:sym typeface="Roboto"/>
                      </a:endParaRPr>
                    </a:p>
                  </a:txBody>
                  <a:tcPr marT="19050" marB="19050" marR="76200" marL="76200" anchor="ctr">
                    <a:lnL cap="flat" cmpd="sng" w="9525">
                      <a:solidFill>
                        <a:srgbClr val="000000"/>
                      </a:solidFill>
                      <a:prstDash val="solid"/>
                      <a:round/>
                      <a:headEnd len="sm" w="sm" type="none"/>
                      <a:tailEnd len="sm" w="sm" type="none"/>
                    </a:lnL>
                    <a:lnR cap="flat" cmpd="sng" w="9525">
                      <a:solidFill>
                        <a:srgbClr val="284E3F"/>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284E3F"/>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457200" y="786874"/>
            <a:ext cx="8229600" cy="6744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 sz="3600"/>
              <a:t>AI Security Camera </a:t>
            </a:r>
            <a:r>
              <a:rPr lang="en" sz="3600"/>
              <a:t>Subsystem Overview</a:t>
            </a:r>
            <a:br>
              <a:rPr lang="en" sz="3600"/>
            </a:br>
            <a:r>
              <a:rPr lang="en" sz="1800"/>
              <a:t>Kyle walcher</a:t>
            </a:r>
            <a:endParaRPr/>
          </a:p>
        </p:txBody>
      </p:sp>
      <p:sp>
        <p:nvSpPr>
          <p:cNvPr id="211" name="Google Shape;211;p27"/>
          <p:cNvSpPr txBox="1"/>
          <p:nvPr>
            <p:ph idx="1" type="body"/>
          </p:nvPr>
        </p:nvSpPr>
        <p:spPr>
          <a:xfrm>
            <a:off x="176475" y="1461275"/>
            <a:ext cx="5607600" cy="3635100"/>
          </a:xfrm>
          <a:prstGeom prst="rect">
            <a:avLst/>
          </a:prstGeom>
        </p:spPr>
        <p:txBody>
          <a:bodyPr anchorCtr="0" anchor="t" bIns="45700" lIns="91425" spcFirstLastPara="1" rIns="91425" wrap="square" tIns="45700">
            <a:noAutofit/>
          </a:bodyPr>
          <a:lstStyle/>
          <a:p>
            <a:pPr indent="0" lvl="0" marL="0" rtl="0" algn="l">
              <a:lnSpc>
                <a:spcPct val="80000"/>
              </a:lnSpc>
              <a:spcBef>
                <a:spcPts val="360"/>
              </a:spcBef>
              <a:spcAft>
                <a:spcPts val="0"/>
              </a:spcAft>
              <a:buSzPts val="358"/>
              <a:buNone/>
            </a:pPr>
            <a:r>
              <a:rPr b="1" lang="en" sz="685" u="sng"/>
              <a:t>ECEN 403 Deliverables:</a:t>
            </a:r>
            <a:endParaRPr b="1" sz="685" u="sng"/>
          </a:p>
          <a:p>
            <a:pPr indent="0" lvl="0" marL="0" rtl="0" algn="l">
              <a:lnSpc>
                <a:spcPct val="80000"/>
              </a:lnSpc>
              <a:spcBef>
                <a:spcPts val="360"/>
              </a:spcBef>
              <a:spcAft>
                <a:spcPts val="0"/>
              </a:spcAft>
              <a:buSzPts val="358"/>
              <a:buNone/>
            </a:pPr>
            <a:r>
              <a:t/>
            </a:r>
            <a:endParaRPr b="1" sz="685" u="sng"/>
          </a:p>
          <a:p>
            <a:pPr indent="0" lvl="0" marL="0" rtl="0" algn="l">
              <a:lnSpc>
                <a:spcPct val="80000"/>
              </a:lnSpc>
              <a:spcBef>
                <a:spcPts val="360"/>
              </a:spcBef>
              <a:spcAft>
                <a:spcPts val="0"/>
              </a:spcAft>
              <a:buSzPts val="358"/>
              <a:buNone/>
            </a:pPr>
            <a:r>
              <a:rPr b="1" lang="en" sz="1016"/>
              <a:t>ESP32 Wrover Module Camera</a:t>
            </a:r>
            <a:endParaRPr b="1" sz="1016"/>
          </a:p>
          <a:p>
            <a:pPr indent="0" lvl="0" marL="0" rtl="0" algn="l">
              <a:lnSpc>
                <a:spcPct val="80000"/>
              </a:lnSpc>
              <a:spcBef>
                <a:spcPts val="360"/>
              </a:spcBef>
              <a:spcAft>
                <a:spcPts val="0"/>
              </a:spcAft>
              <a:buSzPts val="358"/>
              <a:buNone/>
            </a:pPr>
            <a:r>
              <a:t/>
            </a:r>
            <a:endParaRPr sz="1016"/>
          </a:p>
          <a:p>
            <a:pPr indent="0" lvl="0" marL="0" rtl="0" algn="l">
              <a:lnSpc>
                <a:spcPct val="80000"/>
              </a:lnSpc>
              <a:spcBef>
                <a:spcPts val="360"/>
              </a:spcBef>
              <a:spcAft>
                <a:spcPts val="0"/>
              </a:spcAft>
              <a:buSzPts val="358"/>
              <a:buNone/>
            </a:pPr>
            <a:r>
              <a:rPr lang="en" sz="1016"/>
              <a:t>• Compiled and configured ESP32-CAM firmware using Arduino IDE</a:t>
            </a:r>
            <a:endParaRPr sz="1016"/>
          </a:p>
          <a:p>
            <a:pPr indent="0" lvl="0" marL="0" rtl="0" algn="l">
              <a:lnSpc>
                <a:spcPct val="80000"/>
              </a:lnSpc>
              <a:spcBef>
                <a:spcPts val="360"/>
              </a:spcBef>
              <a:spcAft>
                <a:spcPts val="0"/>
              </a:spcAft>
              <a:buSzPts val="358"/>
              <a:buNone/>
            </a:pPr>
            <a:r>
              <a:rPr lang="en" sz="1016"/>
              <a:t>• Live MJPEG video successfully streamed over local WiFi</a:t>
            </a:r>
            <a:endParaRPr sz="1016"/>
          </a:p>
          <a:p>
            <a:pPr indent="0" lvl="0" marL="0" rtl="0" algn="l">
              <a:lnSpc>
                <a:spcPct val="80000"/>
              </a:lnSpc>
              <a:spcBef>
                <a:spcPts val="360"/>
              </a:spcBef>
              <a:spcAft>
                <a:spcPts val="0"/>
              </a:spcAft>
              <a:buSzPts val="358"/>
              <a:buNone/>
            </a:pPr>
            <a:r>
              <a:rPr lang="en" sz="1016"/>
              <a:t>• Measured frame rate (avg 9 FPS) and optimized streaming parameters</a:t>
            </a:r>
            <a:endParaRPr sz="1016"/>
          </a:p>
          <a:p>
            <a:pPr indent="0" lvl="0" marL="0" rtl="0" algn="l">
              <a:lnSpc>
                <a:spcPct val="80000"/>
              </a:lnSpc>
              <a:spcBef>
                <a:spcPts val="360"/>
              </a:spcBef>
              <a:spcAft>
                <a:spcPts val="0"/>
              </a:spcAft>
              <a:buSzPts val="358"/>
              <a:buNone/>
            </a:pPr>
            <a:r>
              <a:rPr lang="en" sz="1016"/>
              <a:t>• Verified stable connectivity with Android client</a:t>
            </a:r>
            <a:endParaRPr sz="1016"/>
          </a:p>
          <a:p>
            <a:pPr indent="0" lvl="0" marL="0" rtl="0" algn="l">
              <a:lnSpc>
                <a:spcPct val="80000"/>
              </a:lnSpc>
              <a:spcBef>
                <a:spcPts val="360"/>
              </a:spcBef>
              <a:spcAft>
                <a:spcPts val="0"/>
              </a:spcAft>
              <a:buSzPts val="358"/>
              <a:buNone/>
            </a:pPr>
            <a:r>
              <a:t/>
            </a:r>
            <a:endParaRPr sz="1016"/>
          </a:p>
          <a:p>
            <a:pPr indent="0" lvl="0" marL="0" rtl="0" algn="l">
              <a:lnSpc>
                <a:spcPct val="80000"/>
              </a:lnSpc>
              <a:spcBef>
                <a:spcPts val="360"/>
              </a:spcBef>
              <a:spcAft>
                <a:spcPts val="0"/>
              </a:spcAft>
              <a:buSzPts val="358"/>
              <a:buNone/>
            </a:pPr>
            <a:r>
              <a:rPr b="1" lang="en" sz="1016"/>
              <a:t>Android Application (Kotlin/Java)</a:t>
            </a:r>
            <a:endParaRPr b="1" sz="1016"/>
          </a:p>
          <a:p>
            <a:pPr indent="0" lvl="0" marL="0" rtl="0" algn="l">
              <a:lnSpc>
                <a:spcPct val="80000"/>
              </a:lnSpc>
              <a:spcBef>
                <a:spcPts val="360"/>
              </a:spcBef>
              <a:spcAft>
                <a:spcPts val="0"/>
              </a:spcAft>
              <a:buSzPts val="358"/>
              <a:buNone/>
            </a:pPr>
            <a:r>
              <a:t/>
            </a:r>
            <a:endParaRPr sz="1016"/>
          </a:p>
          <a:p>
            <a:pPr indent="0" lvl="0" marL="0" rtl="0" algn="l">
              <a:lnSpc>
                <a:spcPct val="80000"/>
              </a:lnSpc>
              <a:spcBef>
                <a:spcPts val="360"/>
              </a:spcBef>
              <a:spcAft>
                <a:spcPts val="0"/>
              </a:spcAft>
              <a:buSzPts val="358"/>
              <a:buNone/>
            </a:pPr>
            <a:r>
              <a:rPr lang="en" sz="1016"/>
              <a:t>• In-app snapshot capture stores images directly to device gallery</a:t>
            </a:r>
            <a:endParaRPr sz="1016"/>
          </a:p>
          <a:p>
            <a:pPr indent="0" lvl="0" marL="0" rtl="0" algn="l">
              <a:lnSpc>
                <a:spcPct val="80000"/>
              </a:lnSpc>
              <a:spcBef>
                <a:spcPts val="360"/>
              </a:spcBef>
              <a:spcAft>
                <a:spcPts val="0"/>
              </a:spcAft>
              <a:buSzPts val="358"/>
              <a:buNone/>
            </a:pPr>
            <a:r>
              <a:rPr lang="en" sz="1016"/>
              <a:t>• AI Analysis Mode captures 5-frame burst and sends to backend for interpretation</a:t>
            </a:r>
            <a:endParaRPr sz="1016"/>
          </a:p>
          <a:p>
            <a:pPr indent="0" lvl="0" marL="0" rtl="0" algn="l">
              <a:lnSpc>
                <a:spcPct val="80000"/>
              </a:lnSpc>
              <a:spcBef>
                <a:spcPts val="360"/>
              </a:spcBef>
              <a:spcAft>
                <a:spcPts val="0"/>
              </a:spcAft>
              <a:buSzPts val="358"/>
              <a:buNone/>
            </a:pPr>
            <a:r>
              <a:rPr lang="en" sz="1016"/>
              <a:t>• Push notification system alerts user with real-time AI summary</a:t>
            </a:r>
            <a:endParaRPr sz="1016"/>
          </a:p>
          <a:p>
            <a:pPr indent="0" lvl="0" marL="0" rtl="0" algn="l">
              <a:lnSpc>
                <a:spcPct val="80000"/>
              </a:lnSpc>
              <a:spcBef>
                <a:spcPts val="360"/>
              </a:spcBef>
              <a:spcAft>
                <a:spcPts val="0"/>
              </a:spcAft>
              <a:buSzPts val="358"/>
              <a:buNone/>
            </a:pPr>
            <a:r>
              <a:t/>
            </a:r>
            <a:endParaRPr sz="1016"/>
          </a:p>
          <a:p>
            <a:pPr indent="0" lvl="0" marL="0" rtl="0" algn="l">
              <a:lnSpc>
                <a:spcPct val="80000"/>
              </a:lnSpc>
              <a:spcBef>
                <a:spcPts val="360"/>
              </a:spcBef>
              <a:spcAft>
                <a:spcPts val="0"/>
              </a:spcAft>
              <a:buSzPts val="358"/>
              <a:buNone/>
            </a:pPr>
            <a:r>
              <a:rPr b="1" lang="en" sz="1016"/>
              <a:t>OpenAI API Backend (Python Flask)</a:t>
            </a:r>
            <a:endParaRPr b="1" sz="1016"/>
          </a:p>
          <a:p>
            <a:pPr indent="0" lvl="0" marL="0" rtl="0" algn="l">
              <a:lnSpc>
                <a:spcPct val="80000"/>
              </a:lnSpc>
              <a:spcBef>
                <a:spcPts val="360"/>
              </a:spcBef>
              <a:spcAft>
                <a:spcPts val="0"/>
              </a:spcAft>
              <a:buSzPts val="358"/>
              <a:buNone/>
            </a:pPr>
            <a:r>
              <a:t/>
            </a:r>
            <a:endParaRPr sz="1016"/>
          </a:p>
          <a:p>
            <a:pPr indent="0" lvl="0" marL="0" rtl="0" algn="l">
              <a:lnSpc>
                <a:spcPct val="80000"/>
              </a:lnSpc>
              <a:spcBef>
                <a:spcPts val="360"/>
              </a:spcBef>
              <a:spcAft>
                <a:spcPts val="0"/>
              </a:spcAft>
              <a:buSzPts val="358"/>
              <a:buNone/>
            </a:pPr>
            <a:r>
              <a:rPr lang="en" sz="1016"/>
              <a:t>• Local Python Flask server processes uploaded camera frames</a:t>
            </a:r>
            <a:endParaRPr sz="1016"/>
          </a:p>
          <a:p>
            <a:pPr indent="0" lvl="0" marL="0" rtl="0" algn="l">
              <a:lnSpc>
                <a:spcPct val="80000"/>
              </a:lnSpc>
              <a:spcBef>
                <a:spcPts val="360"/>
              </a:spcBef>
              <a:spcAft>
                <a:spcPts val="0"/>
              </a:spcAft>
              <a:buSzPts val="358"/>
              <a:buNone/>
            </a:pPr>
            <a:r>
              <a:rPr lang="en" sz="1016"/>
              <a:t>• Successfully converts images →  sends request to OpenAI</a:t>
            </a:r>
            <a:endParaRPr sz="1016"/>
          </a:p>
          <a:p>
            <a:pPr indent="0" lvl="0" marL="0" rtl="0" algn="l">
              <a:lnSpc>
                <a:spcPct val="80000"/>
              </a:lnSpc>
              <a:spcBef>
                <a:spcPts val="360"/>
              </a:spcBef>
              <a:spcAft>
                <a:spcPts val="0"/>
              </a:spcAft>
              <a:buSzPts val="358"/>
              <a:buNone/>
            </a:pPr>
            <a:r>
              <a:rPr lang="en" sz="1016"/>
              <a:t>• Implements exponential backoff retry logic for rate limiting</a:t>
            </a:r>
            <a:endParaRPr sz="1016"/>
          </a:p>
          <a:p>
            <a:pPr indent="0" lvl="0" marL="0" rtl="0" algn="l">
              <a:lnSpc>
                <a:spcPct val="80000"/>
              </a:lnSpc>
              <a:spcBef>
                <a:spcPts val="360"/>
              </a:spcBef>
              <a:spcAft>
                <a:spcPts val="0"/>
              </a:spcAft>
              <a:buSzPts val="358"/>
              <a:buNone/>
            </a:pPr>
            <a:r>
              <a:t/>
            </a:r>
            <a:endParaRPr sz="1016"/>
          </a:p>
        </p:txBody>
      </p:sp>
      <p:pic>
        <p:nvPicPr>
          <p:cNvPr id="212" name="Google Shape;212;p27"/>
          <p:cNvPicPr preferRelativeResize="0"/>
          <p:nvPr/>
        </p:nvPicPr>
        <p:blipFill rotWithShape="1">
          <a:blip r:embed="rId3">
            <a:alphaModFix/>
          </a:blip>
          <a:srcRect b="6385" l="0" r="38673" t="0"/>
          <a:stretch/>
        </p:blipFill>
        <p:spPr>
          <a:xfrm>
            <a:off x="4991900" y="1716387"/>
            <a:ext cx="4058174" cy="3124875"/>
          </a:xfrm>
          <a:prstGeom prst="rect">
            <a:avLst/>
          </a:prstGeom>
          <a:noFill/>
          <a:ln>
            <a:noFill/>
          </a:ln>
        </p:spPr>
      </p:pic>
      <p:pic>
        <p:nvPicPr>
          <p:cNvPr id="213" name="Google Shape;213;p27"/>
          <p:cNvPicPr preferRelativeResize="0"/>
          <p:nvPr/>
        </p:nvPicPr>
        <p:blipFill>
          <a:blip r:embed="rId4">
            <a:alphaModFix/>
          </a:blip>
          <a:stretch>
            <a:fillRect/>
          </a:stretch>
        </p:blipFill>
        <p:spPr>
          <a:xfrm>
            <a:off x="6627249" y="1793275"/>
            <a:ext cx="2359500" cy="1761125"/>
          </a:xfrm>
          <a:prstGeom prst="rect">
            <a:avLst/>
          </a:prstGeom>
          <a:noFill/>
          <a:ln>
            <a:noFill/>
          </a:ln>
        </p:spPr>
      </p:pic>
      <p:pic>
        <p:nvPicPr>
          <p:cNvPr id="214" name="Google Shape;214;p27"/>
          <p:cNvPicPr preferRelativeResize="0"/>
          <p:nvPr/>
        </p:nvPicPr>
        <p:blipFill rotWithShape="1">
          <a:blip r:embed="rId5">
            <a:alphaModFix/>
          </a:blip>
          <a:srcRect b="0" l="0" r="59328" t="0"/>
          <a:stretch/>
        </p:blipFill>
        <p:spPr>
          <a:xfrm>
            <a:off x="6546775" y="3299525"/>
            <a:ext cx="2503300" cy="148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457200" y="786883"/>
            <a:ext cx="8229600" cy="602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AI Security Camera Data</a:t>
            </a:r>
            <a:endParaRPr/>
          </a:p>
        </p:txBody>
      </p:sp>
      <p:pic>
        <p:nvPicPr>
          <p:cNvPr id="220" name="Google Shape;220;p28"/>
          <p:cNvPicPr preferRelativeResize="0"/>
          <p:nvPr/>
        </p:nvPicPr>
        <p:blipFill>
          <a:blip r:embed="rId3">
            <a:alphaModFix/>
          </a:blip>
          <a:stretch>
            <a:fillRect/>
          </a:stretch>
        </p:blipFill>
        <p:spPr>
          <a:xfrm>
            <a:off x="173900" y="1479675"/>
            <a:ext cx="4533774" cy="2484224"/>
          </a:xfrm>
          <a:prstGeom prst="rect">
            <a:avLst/>
          </a:prstGeom>
          <a:noFill/>
          <a:ln cap="flat" cmpd="sng" w="19050">
            <a:solidFill>
              <a:srgbClr val="000000"/>
            </a:solidFill>
            <a:prstDash val="solid"/>
            <a:round/>
            <a:headEnd len="sm" w="sm" type="none"/>
            <a:tailEnd len="sm" w="sm" type="none"/>
          </a:ln>
        </p:spPr>
      </p:pic>
      <p:graphicFrame>
        <p:nvGraphicFramePr>
          <p:cNvPr id="221" name="Google Shape;221;p28"/>
          <p:cNvGraphicFramePr/>
          <p:nvPr/>
        </p:nvGraphicFramePr>
        <p:xfrm>
          <a:off x="4991475" y="1479675"/>
          <a:ext cx="3000000" cy="3000000"/>
        </p:xfrm>
        <a:graphic>
          <a:graphicData uri="http://schemas.openxmlformats.org/drawingml/2006/table">
            <a:tbl>
              <a:tblPr>
                <a:noFill/>
                <a:tableStyleId>{EC72C388-77CE-438E-AAAB-D3A49228690F}</a:tableStyleId>
              </a:tblPr>
              <a:tblGrid>
                <a:gridCol w="1311925"/>
                <a:gridCol w="1311925"/>
                <a:gridCol w="1311925"/>
              </a:tblGrid>
              <a:tr h="299800">
                <a:tc>
                  <a:txBody>
                    <a:bodyPr/>
                    <a:lstStyle/>
                    <a:p>
                      <a:pPr indent="0" lvl="0" marL="0" rtl="0" algn="l">
                        <a:spcBef>
                          <a:spcPts val="0"/>
                        </a:spcBef>
                        <a:spcAft>
                          <a:spcPts val="0"/>
                        </a:spcAft>
                        <a:buNone/>
                      </a:pPr>
                      <a:r>
                        <a:rPr lang="en" sz="800"/>
                        <a:t>Stage</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lang="en" sz="800"/>
                        <a:t>Time (ms)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lang="en" sz="800"/>
                        <a:t>Notes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FEFEF"/>
                    </a:solidFill>
                  </a:tcPr>
                </a:tc>
              </a:tr>
              <a:tr h="534475">
                <a:tc>
                  <a:txBody>
                    <a:bodyPr/>
                    <a:lstStyle/>
                    <a:p>
                      <a:pPr indent="0" lvl="0" marL="0" rtl="0" algn="l">
                        <a:spcBef>
                          <a:spcPts val="0"/>
                        </a:spcBef>
                        <a:spcAft>
                          <a:spcPts val="0"/>
                        </a:spcAft>
                        <a:buNone/>
                      </a:pPr>
                      <a:r>
                        <a:rPr lang="en" sz="800"/>
                        <a:t>Upload 5 images to Server</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80-120 ms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Local hotspot</a:t>
                      </a:r>
                      <a:endParaRPr sz="800"/>
                    </a:p>
                    <a:p>
                      <a:pPr indent="0" lvl="0" marL="0" rtl="0" algn="l">
                        <a:spcBef>
                          <a:spcPts val="0"/>
                        </a:spcBef>
                        <a:spcAft>
                          <a:spcPts val="0"/>
                        </a:spcAft>
                        <a:buNone/>
                      </a:pPr>
                      <a:r>
                        <a:rPr lang="en" sz="800"/>
                        <a:t>(fast LAN)</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95875">
                <a:tc>
                  <a:txBody>
                    <a:bodyPr/>
                    <a:lstStyle/>
                    <a:p>
                      <a:pPr indent="0" lvl="0" marL="0" rtl="0" algn="l">
                        <a:spcBef>
                          <a:spcPts val="0"/>
                        </a:spcBef>
                        <a:spcAft>
                          <a:spcPts val="0"/>
                        </a:spcAft>
                        <a:buNone/>
                      </a:pPr>
                      <a:r>
                        <a:rPr lang="en" sz="800"/>
                        <a:t>Server processing</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40-ms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Python Flask overhead</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35475">
                <a:tc>
                  <a:txBody>
                    <a:bodyPr/>
                    <a:lstStyle/>
                    <a:p>
                      <a:pPr indent="0" lvl="0" marL="0" rtl="0" algn="l">
                        <a:spcBef>
                          <a:spcPts val="0"/>
                        </a:spcBef>
                        <a:spcAft>
                          <a:spcPts val="0"/>
                        </a:spcAft>
                        <a:buNone/>
                      </a:pPr>
                      <a:r>
                        <a:rPr lang="en" sz="800"/>
                        <a:t>OpenAI API Analysis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420-650 ms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Model</a:t>
                      </a:r>
                      <a:r>
                        <a:rPr lang="en" sz="800"/>
                        <a:t> Reasoning Time</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19750">
                <a:tc>
                  <a:txBody>
                    <a:bodyPr/>
                    <a:lstStyle/>
                    <a:p>
                      <a:pPr indent="0" lvl="0" marL="0" rtl="0" algn="l">
                        <a:spcBef>
                          <a:spcPts val="0"/>
                        </a:spcBef>
                        <a:spcAft>
                          <a:spcPts val="0"/>
                        </a:spcAft>
                        <a:buNone/>
                      </a:pPr>
                      <a:r>
                        <a:rPr lang="en" sz="800"/>
                        <a:t>Return to Push Notification</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30-70 ms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Android </a:t>
                      </a:r>
                      <a:r>
                        <a:rPr lang="en" sz="800"/>
                        <a:t>receives</a:t>
                      </a:r>
                      <a:r>
                        <a:rPr lang="en" sz="800"/>
                        <a:t> data and displays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98850">
                <a:tc>
                  <a:txBody>
                    <a:bodyPr/>
                    <a:lstStyle/>
                    <a:p>
                      <a:pPr indent="0" lvl="0" marL="0" rtl="0" algn="l">
                        <a:spcBef>
                          <a:spcPts val="0"/>
                        </a:spcBef>
                        <a:spcAft>
                          <a:spcPts val="0"/>
                        </a:spcAft>
                        <a:buNone/>
                      </a:pPr>
                      <a:r>
                        <a:rPr lang="en" sz="800"/>
                        <a:t>Total Time</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0.6-1 s</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t>From start to finish</a:t>
                      </a:r>
                      <a:endParaRPr sz="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222" name="Google Shape;222;p28"/>
          <p:cNvSpPr txBox="1"/>
          <p:nvPr/>
        </p:nvSpPr>
        <p:spPr>
          <a:xfrm>
            <a:off x="5044950" y="4246400"/>
            <a:ext cx="38823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rPr>
              <a:t>Measured using Android and Flask </a:t>
            </a:r>
            <a:r>
              <a:rPr lang="en" sz="1300">
                <a:solidFill>
                  <a:schemeClr val="dk1"/>
                </a:solidFill>
              </a:rPr>
              <a:t>server</a:t>
            </a:r>
            <a:r>
              <a:rPr lang="en" sz="1300">
                <a:solidFill>
                  <a:schemeClr val="dk1"/>
                </a:solidFill>
              </a:rPr>
              <a:t> logs, then subtracting timestamps for each stage delay</a:t>
            </a:r>
            <a:endParaRPr sz="1300">
              <a:solidFill>
                <a:schemeClr val="dk1"/>
              </a:solidFill>
            </a:endParaRPr>
          </a:p>
        </p:txBody>
      </p:sp>
      <p:cxnSp>
        <p:nvCxnSpPr>
          <p:cNvPr id="223" name="Google Shape;223;p28"/>
          <p:cNvCxnSpPr/>
          <p:nvPr/>
        </p:nvCxnSpPr>
        <p:spPr>
          <a:xfrm flipH="1">
            <a:off x="6985500" y="4065875"/>
            <a:ext cx="1200" cy="193500"/>
          </a:xfrm>
          <a:prstGeom prst="straightConnector1">
            <a:avLst/>
          </a:prstGeom>
          <a:noFill/>
          <a:ln cap="flat" cmpd="sng" w="9525">
            <a:solidFill>
              <a:schemeClr val="dk1"/>
            </a:solidFill>
            <a:prstDash val="solid"/>
            <a:round/>
            <a:headEnd len="med" w="med" type="none"/>
            <a:tailEnd len="med" w="med" type="triangle"/>
          </a:ln>
        </p:spPr>
      </p:cxnSp>
      <p:sp>
        <p:nvSpPr>
          <p:cNvPr id="224" name="Google Shape;224;p28"/>
          <p:cNvSpPr txBox="1"/>
          <p:nvPr/>
        </p:nvSpPr>
        <p:spPr>
          <a:xfrm>
            <a:off x="499638" y="4246400"/>
            <a:ext cx="38823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rPr>
              <a:t>Stabilized</a:t>
            </a:r>
            <a:r>
              <a:rPr lang="en" sz="1300">
                <a:solidFill>
                  <a:schemeClr val="dk1"/>
                </a:solidFill>
              </a:rPr>
              <a:t> by using QVGA quality, disabling auto-exposure, and overclocking ESP32</a:t>
            </a:r>
            <a:endParaRPr sz="1300">
              <a:solidFill>
                <a:schemeClr val="dk1"/>
              </a:solidFill>
            </a:endParaRPr>
          </a:p>
        </p:txBody>
      </p:sp>
      <p:cxnSp>
        <p:nvCxnSpPr>
          <p:cNvPr id="225" name="Google Shape;225;p28"/>
          <p:cNvCxnSpPr/>
          <p:nvPr/>
        </p:nvCxnSpPr>
        <p:spPr>
          <a:xfrm flipH="1">
            <a:off x="2182200" y="4065863"/>
            <a:ext cx="1200" cy="1935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174775" y="999375"/>
            <a:ext cx="4626300" cy="1352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MCU Monitoring &amp; Telemetry Overview</a:t>
            </a:r>
            <a:endParaRPr/>
          </a:p>
        </p:txBody>
      </p:sp>
      <p:sp>
        <p:nvSpPr>
          <p:cNvPr id="231" name="Google Shape;231;p29"/>
          <p:cNvSpPr txBox="1"/>
          <p:nvPr>
            <p:ph idx="1" type="body"/>
          </p:nvPr>
        </p:nvSpPr>
        <p:spPr>
          <a:xfrm>
            <a:off x="174775" y="2762700"/>
            <a:ext cx="2953800" cy="2314200"/>
          </a:xfrm>
          <a:prstGeom prst="rect">
            <a:avLst/>
          </a:prstGeom>
        </p:spPr>
        <p:txBody>
          <a:bodyPr anchorCtr="0" anchor="t" bIns="45700" lIns="91425" spcFirstLastPara="1" rIns="91425" wrap="square" tIns="45700">
            <a:normAutofit fontScale="25000" lnSpcReduction="20000"/>
          </a:bodyPr>
          <a:lstStyle/>
          <a:p>
            <a:pPr indent="0" lvl="0" marL="0" rtl="0" algn="ctr">
              <a:lnSpc>
                <a:spcPct val="115000"/>
              </a:lnSpc>
              <a:spcBef>
                <a:spcPts val="1800"/>
              </a:spcBef>
              <a:spcAft>
                <a:spcPts val="0"/>
              </a:spcAft>
              <a:buNone/>
            </a:pPr>
            <a:r>
              <a:rPr b="1" lang="en" sz="4800"/>
              <a:t>Firmware Development &amp; System Control</a:t>
            </a:r>
            <a:endParaRPr b="1" sz="4800"/>
          </a:p>
          <a:p>
            <a:pPr indent="-304800" lvl="0" marL="457200" rtl="0" algn="l">
              <a:lnSpc>
                <a:spcPct val="115000"/>
              </a:lnSpc>
              <a:spcBef>
                <a:spcPts val="1200"/>
              </a:spcBef>
              <a:spcAft>
                <a:spcPts val="0"/>
              </a:spcAft>
              <a:buSzPct val="100000"/>
              <a:buChar char="●"/>
            </a:pPr>
            <a:r>
              <a:rPr lang="en" sz="4800"/>
              <a:t>Telemetry request/response protocol with charge controller implemented to generate summaries</a:t>
            </a:r>
            <a:r>
              <a:rPr lang="en" sz="4800"/>
              <a:t>(avg/peak values, battery %, system activity).</a:t>
            </a:r>
            <a:endParaRPr sz="4800"/>
          </a:p>
          <a:p>
            <a:pPr indent="-304800" lvl="0" marL="457200" rtl="0" algn="l">
              <a:lnSpc>
                <a:spcPct val="115000"/>
              </a:lnSpc>
              <a:spcBef>
                <a:spcPts val="0"/>
              </a:spcBef>
              <a:spcAft>
                <a:spcPts val="0"/>
              </a:spcAft>
              <a:buSzPct val="100000"/>
              <a:buChar char="●"/>
            </a:pPr>
            <a:r>
              <a:rPr lang="en" sz="4800"/>
              <a:t>Relay output logic completed for lighting control based on motion &amp; daylight state..</a:t>
            </a:r>
            <a:br>
              <a:rPr lang="en" sz="4800"/>
            </a:br>
            <a:endParaRPr sz="4800"/>
          </a:p>
          <a:p>
            <a:pPr indent="0" lvl="0" marL="457200" rtl="0" algn="l">
              <a:lnSpc>
                <a:spcPct val="115000"/>
              </a:lnSpc>
              <a:spcBef>
                <a:spcPts val="1200"/>
              </a:spcBef>
              <a:spcAft>
                <a:spcPts val="0"/>
              </a:spcAft>
              <a:buNone/>
            </a:pPr>
            <a:r>
              <a:t/>
            </a:r>
            <a:endParaRPr b="1" sz="4800"/>
          </a:p>
          <a:p>
            <a:pPr indent="0" lvl="0" marL="0" rtl="0" algn="l">
              <a:spcBef>
                <a:spcPts val="1200"/>
              </a:spcBef>
              <a:spcAft>
                <a:spcPts val="0"/>
              </a:spcAft>
              <a:buNone/>
            </a:pPr>
            <a:r>
              <a:t/>
            </a:r>
            <a:endParaRPr sz="1200"/>
          </a:p>
        </p:txBody>
      </p:sp>
      <p:sp>
        <p:nvSpPr>
          <p:cNvPr id="232" name="Google Shape;232;p29"/>
          <p:cNvSpPr txBox="1"/>
          <p:nvPr/>
        </p:nvSpPr>
        <p:spPr>
          <a:xfrm>
            <a:off x="6205900" y="2762700"/>
            <a:ext cx="2763300" cy="2225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0"/>
              </a:spcAft>
              <a:buNone/>
            </a:pPr>
            <a:r>
              <a:rPr b="1" lang="en" sz="1200">
                <a:solidFill>
                  <a:schemeClr val="dk1"/>
                </a:solidFill>
              </a:rPr>
              <a:t>Sensor Integration</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Integrated PIR motion sensor with debounce filtering &amp; false-trigger suppression.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Added LDR daylight sensing for automatic lighting and telemetry tagging.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Validated motion detection accuracy and coverage through controlled tests.</a:t>
            </a:r>
            <a:endParaRPr sz="1200">
              <a:solidFill>
                <a:schemeClr val="dk1"/>
              </a:solidFill>
            </a:endParaRPr>
          </a:p>
          <a:p>
            <a:pPr indent="0" lvl="0" marL="457200" rtl="0" algn="l">
              <a:lnSpc>
                <a:spcPct val="115000"/>
              </a:lnSpc>
              <a:spcBef>
                <a:spcPts val="1200"/>
              </a:spcBef>
              <a:spcAft>
                <a:spcPts val="0"/>
              </a:spcAft>
              <a:buNone/>
            </a:pPr>
            <a:r>
              <a:t/>
            </a:r>
            <a:endParaRPr b="1" sz="1200">
              <a:solidFill>
                <a:schemeClr val="dk1"/>
              </a:solidFill>
            </a:endParaRPr>
          </a:p>
          <a:p>
            <a:pPr indent="0" lvl="0" marL="0" rtl="0" algn="l">
              <a:spcBef>
                <a:spcPts val="1200"/>
              </a:spcBef>
              <a:spcAft>
                <a:spcPts val="0"/>
              </a:spcAft>
              <a:buNone/>
            </a:pPr>
            <a:r>
              <a:t/>
            </a:r>
            <a:endParaRPr sz="1200">
              <a:solidFill>
                <a:schemeClr val="dk1"/>
              </a:solidFill>
            </a:endParaRPr>
          </a:p>
        </p:txBody>
      </p:sp>
      <p:sp>
        <p:nvSpPr>
          <p:cNvPr id="233" name="Google Shape;233;p29"/>
          <p:cNvSpPr txBox="1"/>
          <p:nvPr/>
        </p:nvSpPr>
        <p:spPr>
          <a:xfrm>
            <a:off x="3477013" y="2762938"/>
            <a:ext cx="2676600" cy="2225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n" sz="1200">
                <a:solidFill>
                  <a:schemeClr val="dk1"/>
                </a:solidFill>
              </a:rPr>
              <a:t>Database &amp; Communication</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Established Wi-Fi data path to database (SQLite).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Designed JSON telemetry packet for historical logging and trend analysis.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Validated data uploads through 12-hour continuous test cycle.</a:t>
            </a:r>
            <a:endParaRPr sz="1200">
              <a:solidFill>
                <a:schemeClr val="dk1"/>
              </a:solidFill>
            </a:endParaRPr>
          </a:p>
          <a:p>
            <a:pPr indent="0" lvl="0" marL="0" rtl="0" algn="l">
              <a:spcBef>
                <a:spcPts val="1200"/>
              </a:spcBef>
              <a:spcAft>
                <a:spcPts val="0"/>
              </a:spcAft>
              <a:buNone/>
            </a:pPr>
            <a:r>
              <a:t/>
            </a:r>
            <a:endParaRPr sz="1200">
              <a:solidFill>
                <a:schemeClr val="dk1"/>
              </a:solidFill>
            </a:endParaRPr>
          </a:p>
        </p:txBody>
      </p:sp>
      <p:pic>
        <p:nvPicPr>
          <p:cNvPr descr="File:ESP32 Espressif ESP-WROOM-32 Dev Board.jpg - Wikimedia Commons" id="234" name="Google Shape;234;p29"/>
          <p:cNvPicPr preferRelativeResize="0"/>
          <p:nvPr/>
        </p:nvPicPr>
        <p:blipFill>
          <a:blip r:embed="rId3">
            <a:alphaModFix/>
          </a:blip>
          <a:stretch>
            <a:fillRect/>
          </a:stretch>
        </p:blipFill>
        <p:spPr>
          <a:xfrm>
            <a:off x="5220319" y="346650"/>
            <a:ext cx="2898857" cy="22250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457200" y="702025"/>
            <a:ext cx="8229600" cy="615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Subsystem Validation &amp; Test Results</a:t>
            </a:r>
            <a:endParaRPr/>
          </a:p>
        </p:txBody>
      </p:sp>
      <p:graphicFrame>
        <p:nvGraphicFramePr>
          <p:cNvPr id="240" name="Google Shape;240;p30"/>
          <p:cNvGraphicFramePr/>
          <p:nvPr/>
        </p:nvGraphicFramePr>
        <p:xfrm>
          <a:off x="286425" y="1363550"/>
          <a:ext cx="3000000" cy="3000000"/>
        </p:xfrm>
        <a:graphic>
          <a:graphicData uri="http://schemas.openxmlformats.org/drawingml/2006/table">
            <a:tbl>
              <a:tblPr>
                <a:noFill/>
                <a:tableStyleId>{658A962C-05DE-476A-A687-FE61E0C67F64}</a:tableStyleId>
              </a:tblPr>
              <a:tblGrid>
                <a:gridCol w="862775"/>
                <a:gridCol w="758525"/>
                <a:gridCol w="1292750"/>
                <a:gridCol w="1208875"/>
              </a:tblGrid>
              <a:tr h="322075">
                <a:tc>
                  <a:txBody>
                    <a:bodyPr/>
                    <a:lstStyle/>
                    <a:p>
                      <a:pPr indent="0" lvl="0" marL="0" rtl="0" algn="ctr">
                        <a:lnSpc>
                          <a:spcPct val="115000"/>
                        </a:lnSpc>
                        <a:spcBef>
                          <a:spcPts val="0"/>
                        </a:spcBef>
                        <a:spcAft>
                          <a:spcPts val="0"/>
                        </a:spcAft>
                        <a:buNone/>
                      </a:pPr>
                      <a:r>
                        <a:rPr b="1" lang="en" sz="700"/>
                        <a:t>Test Case</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Conditions</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Expected Relay Outputs</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Result</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Daytime, No Motion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LDR = Day, PIR = 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Porch: OFF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Daytime, Motion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LDR = Day, PIR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Porch: OFF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Nighttime, No Motion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LDR = Night, PIR = 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Porch: ON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Nighttime, Motion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LDR = Night, PIR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Porch: ON • Foyer: OFF • Security: 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Relay: Foyer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Relay_Foyer = 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Foyer: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Relay: Porch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Relay Porch =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Porch: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Relay: Security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Relay Security =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Security: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100">
                <a:tc>
                  <a:txBody>
                    <a:bodyPr/>
                    <a:lstStyle/>
                    <a:p>
                      <a:pPr indent="0" lvl="0" marL="0" rtl="0" algn="ctr">
                        <a:spcBef>
                          <a:spcPts val="0"/>
                        </a:spcBef>
                        <a:spcAft>
                          <a:spcPts val="0"/>
                        </a:spcAft>
                        <a:buNone/>
                      </a:pPr>
                      <a:r>
                        <a:rPr lang="en" sz="700"/>
                        <a:t>Fail-Safe / Fault Condition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System Fault Flag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ALL Lights = OFF (Safety Mode)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41" name="Google Shape;241;p30"/>
          <p:cNvPicPr preferRelativeResize="0"/>
          <p:nvPr/>
        </p:nvPicPr>
        <p:blipFill>
          <a:blip r:embed="rId3">
            <a:alphaModFix/>
          </a:blip>
          <a:stretch>
            <a:fillRect/>
          </a:stretch>
        </p:blipFill>
        <p:spPr>
          <a:xfrm>
            <a:off x="5612338" y="1317025"/>
            <a:ext cx="2526963" cy="1897975"/>
          </a:xfrm>
          <a:prstGeom prst="rect">
            <a:avLst/>
          </a:prstGeom>
          <a:noFill/>
          <a:ln>
            <a:noFill/>
          </a:ln>
        </p:spPr>
      </p:pic>
      <p:pic>
        <p:nvPicPr>
          <p:cNvPr id="242" name="Google Shape;242;p30"/>
          <p:cNvPicPr preferRelativeResize="0"/>
          <p:nvPr/>
        </p:nvPicPr>
        <p:blipFill>
          <a:blip r:embed="rId4">
            <a:alphaModFix/>
          </a:blip>
          <a:stretch>
            <a:fillRect/>
          </a:stretch>
        </p:blipFill>
        <p:spPr>
          <a:xfrm>
            <a:off x="5047000" y="3291926"/>
            <a:ext cx="3394849" cy="1690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457200" y="786883"/>
            <a:ext cx="8229600" cy="60281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
              <a:t>Execution Status</a:t>
            </a:r>
            <a:endParaRPr/>
          </a:p>
        </p:txBody>
      </p:sp>
      <p:pic>
        <p:nvPicPr>
          <p:cNvPr id="248" name="Google Shape;248;p31"/>
          <p:cNvPicPr preferRelativeResize="0"/>
          <p:nvPr/>
        </p:nvPicPr>
        <p:blipFill>
          <a:blip r:embed="rId3">
            <a:alphaModFix/>
          </a:blip>
          <a:stretch>
            <a:fillRect/>
          </a:stretch>
        </p:blipFill>
        <p:spPr>
          <a:xfrm>
            <a:off x="187625" y="1542100"/>
            <a:ext cx="8768738" cy="344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457200" y="786883"/>
            <a:ext cx="8229600" cy="60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
              <a:t>Validation Status</a:t>
            </a:r>
            <a:endParaRPr/>
          </a:p>
        </p:txBody>
      </p:sp>
      <p:pic>
        <p:nvPicPr>
          <p:cNvPr id="254" name="Google Shape;254;p32"/>
          <p:cNvPicPr preferRelativeResize="0"/>
          <p:nvPr/>
        </p:nvPicPr>
        <p:blipFill>
          <a:blip r:embed="rId3">
            <a:alphaModFix/>
          </a:blip>
          <a:stretch>
            <a:fillRect/>
          </a:stretch>
        </p:blipFill>
        <p:spPr>
          <a:xfrm>
            <a:off x="152400" y="1559233"/>
            <a:ext cx="8839197" cy="30088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457200" y="786883"/>
            <a:ext cx="8229600" cy="60281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
              <a:t>Remaining Tasks</a:t>
            </a:r>
            <a:endParaRPr/>
          </a:p>
        </p:txBody>
      </p:sp>
      <p:sp>
        <p:nvSpPr>
          <p:cNvPr id="260" name="Google Shape;260;p33"/>
          <p:cNvSpPr txBox="1"/>
          <p:nvPr>
            <p:ph idx="1" type="body"/>
          </p:nvPr>
        </p:nvSpPr>
        <p:spPr>
          <a:xfrm>
            <a:off x="457200" y="1389700"/>
            <a:ext cx="8229600" cy="34248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0"/>
              </a:spcBef>
              <a:spcAft>
                <a:spcPts val="0"/>
              </a:spcAft>
              <a:buNone/>
            </a:pPr>
            <a:r>
              <a:rPr b="1" lang="en" sz="4800"/>
              <a:t>MPPT Charge Controller</a:t>
            </a:r>
            <a:endParaRPr b="1" sz="4800"/>
          </a:p>
          <a:p>
            <a:pPr indent="0" lvl="0" marL="0" rtl="0" algn="l">
              <a:spcBef>
                <a:spcPts val="0"/>
              </a:spcBef>
              <a:spcAft>
                <a:spcPts val="0"/>
              </a:spcAft>
              <a:buNone/>
            </a:pPr>
            <a:r>
              <a:t/>
            </a:r>
            <a:endParaRPr b="1" sz="4800"/>
          </a:p>
          <a:p>
            <a:pPr indent="-304800" lvl="0" marL="457200" rtl="0" algn="l">
              <a:spcBef>
                <a:spcPts val="0"/>
              </a:spcBef>
              <a:spcAft>
                <a:spcPts val="0"/>
              </a:spcAft>
              <a:buSzPct val="100000"/>
              <a:buChar char="•"/>
            </a:pPr>
            <a:r>
              <a:rPr lang="en" sz="4800"/>
              <a:t>Order PCB and Components</a:t>
            </a:r>
            <a:endParaRPr sz="4800"/>
          </a:p>
          <a:p>
            <a:pPr indent="-304800" lvl="0" marL="457200" rtl="0" algn="l">
              <a:spcBef>
                <a:spcPts val="0"/>
              </a:spcBef>
              <a:spcAft>
                <a:spcPts val="0"/>
              </a:spcAft>
              <a:buSzPct val="100000"/>
              <a:buChar char="•"/>
            </a:pPr>
            <a:r>
              <a:rPr lang="en" sz="4800"/>
              <a:t>Program ESP32</a:t>
            </a:r>
            <a:endParaRPr sz="4800"/>
          </a:p>
          <a:p>
            <a:pPr indent="0" lvl="0" marL="457200" rtl="0" algn="l">
              <a:spcBef>
                <a:spcPts val="0"/>
              </a:spcBef>
              <a:spcAft>
                <a:spcPts val="0"/>
              </a:spcAft>
              <a:buNone/>
            </a:pPr>
            <a:r>
              <a:t/>
            </a:r>
            <a:endParaRPr b="1" sz="4800"/>
          </a:p>
          <a:p>
            <a:pPr indent="0" lvl="0" marL="0" rtl="0" algn="l">
              <a:spcBef>
                <a:spcPts val="0"/>
              </a:spcBef>
              <a:spcAft>
                <a:spcPts val="0"/>
              </a:spcAft>
              <a:buNone/>
            </a:pPr>
            <a:r>
              <a:rPr b="1" lang="en" sz="4800"/>
              <a:t>Physical</a:t>
            </a:r>
            <a:r>
              <a:rPr b="1" lang="en" sz="4800"/>
              <a:t> Controls</a:t>
            </a:r>
            <a:endParaRPr b="1" sz="4800"/>
          </a:p>
          <a:p>
            <a:pPr indent="0" lvl="0" marL="0" rtl="0" algn="l">
              <a:spcBef>
                <a:spcPts val="0"/>
              </a:spcBef>
              <a:spcAft>
                <a:spcPts val="0"/>
              </a:spcAft>
              <a:buNone/>
            </a:pPr>
            <a:r>
              <a:t/>
            </a:r>
            <a:endParaRPr b="1" sz="4800"/>
          </a:p>
          <a:p>
            <a:pPr indent="-304800" lvl="0" marL="457200" rtl="0" algn="l">
              <a:spcBef>
                <a:spcPts val="0"/>
              </a:spcBef>
              <a:spcAft>
                <a:spcPts val="0"/>
              </a:spcAft>
              <a:buSzPct val="100000"/>
              <a:buChar char="•"/>
            </a:pPr>
            <a:r>
              <a:rPr lang="en" sz="4800"/>
              <a:t>Continue PCB Assembly.</a:t>
            </a:r>
            <a:endParaRPr sz="4800"/>
          </a:p>
          <a:p>
            <a:pPr indent="-304800" lvl="0" marL="457200" rtl="0" algn="l">
              <a:spcBef>
                <a:spcPts val="0"/>
              </a:spcBef>
              <a:spcAft>
                <a:spcPts val="0"/>
              </a:spcAft>
              <a:buSzPct val="100000"/>
              <a:buChar char="•"/>
            </a:pPr>
            <a:r>
              <a:rPr lang="en" sz="4800"/>
              <a:t>Program HMI esp32 on PCB.</a:t>
            </a:r>
            <a:endParaRPr sz="4800"/>
          </a:p>
          <a:p>
            <a:pPr indent="-304800" lvl="0" marL="457200" rtl="0" algn="l">
              <a:spcBef>
                <a:spcPts val="0"/>
              </a:spcBef>
              <a:spcAft>
                <a:spcPts val="0"/>
              </a:spcAft>
              <a:buSzPct val="100000"/>
              <a:buChar char="•"/>
            </a:pPr>
            <a:r>
              <a:rPr lang="en" sz="4800"/>
              <a:t>Validate PCB once completed. </a:t>
            </a:r>
            <a:endParaRPr sz="4800"/>
          </a:p>
          <a:p>
            <a:pPr indent="0" lvl="0" marL="457200" rtl="0" algn="l">
              <a:spcBef>
                <a:spcPts val="0"/>
              </a:spcBef>
              <a:spcAft>
                <a:spcPts val="0"/>
              </a:spcAft>
              <a:buNone/>
            </a:pPr>
            <a:r>
              <a:t/>
            </a:r>
            <a:endParaRPr b="1" sz="4800"/>
          </a:p>
          <a:p>
            <a:pPr indent="0" lvl="0" marL="0" rtl="0" algn="l">
              <a:spcBef>
                <a:spcPts val="0"/>
              </a:spcBef>
              <a:spcAft>
                <a:spcPts val="0"/>
              </a:spcAft>
              <a:buNone/>
            </a:pPr>
            <a:r>
              <a:rPr b="1" lang="en" sz="4800"/>
              <a:t>Android Application and Camera</a:t>
            </a:r>
            <a:endParaRPr b="1" sz="4800"/>
          </a:p>
          <a:p>
            <a:pPr indent="0" lvl="0" marL="0" rtl="0" algn="l">
              <a:spcBef>
                <a:spcPts val="0"/>
              </a:spcBef>
              <a:spcAft>
                <a:spcPts val="0"/>
              </a:spcAft>
              <a:buNone/>
            </a:pPr>
            <a:r>
              <a:t/>
            </a:r>
            <a:endParaRPr b="1" sz="4800"/>
          </a:p>
          <a:p>
            <a:pPr indent="-304800" lvl="0" marL="457200" rtl="0" algn="l">
              <a:spcBef>
                <a:spcPts val="0"/>
              </a:spcBef>
              <a:spcAft>
                <a:spcPts val="0"/>
              </a:spcAft>
              <a:buSzPct val="100000"/>
              <a:buChar char="•"/>
            </a:pPr>
            <a:r>
              <a:rPr lang="en" sz="4800"/>
              <a:t>Adding user controls within application (OFF/ON, Different Users)</a:t>
            </a:r>
            <a:endParaRPr sz="4800"/>
          </a:p>
          <a:p>
            <a:pPr indent="-304800" lvl="0" marL="457200" rtl="0" algn="l">
              <a:spcBef>
                <a:spcPts val="0"/>
              </a:spcBef>
              <a:spcAft>
                <a:spcPts val="0"/>
              </a:spcAft>
              <a:buSzPct val="100000"/>
              <a:buChar char="•"/>
            </a:pPr>
            <a:r>
              <a:rPr lang="en" sz="4800"/>
              <a:t>User Interface/QOL Improvements and </a:t>
            </a:r>
            <a:r>
              <a:rPr lang="en" sz="4800"/>
              <a:t>accessibility</a:t>
            </a:r>
            <a:endParaRPr sz="4800"/>
          </a:p>
          <a:p>
            <a:pPr indent="0" lvl="0" marL="457200" rtl="0" algn="l">
              <a:spcBef>
                <a:spcPts val="0"/>
              </a:spcBef>
              <a:spcAft>
                <a:spcPts val="0"/>
              </a:spcAft>
              <a:buNone/>
            </a:pPr>
            <a:r>
              <a:t/>
            </a:r>
            <a:endParaRPr b="1" sz="4800"/>
          </a:p>
          <a:p>
            <a:pPr indent="0" lvl="0" marL="0" rtl="0" algn="l">
              <a:spcBef>
                <a:spcPts val="0"/>
              </a:spcBef>
              <a:spcAft>
                <a:spcPts val="0"/>
              </a:spcAft>
              <a:buNone/>
            </a:pPr>
            <a:r>
              <a:rPr b="1" lang="en" sz="4800"/>
              <a:t>MCU, Sensors &amp; Database</a:t>
            </a:r>
            <a:endParaRPr b="1" sz="4800"/>
          </a:p>
          <a:p>
            <a:pPr indent="0" lvl="0" marL="0" rtl="0" algn="l">
              <a:spcBef>
                <a:spcPts val="0"/>
              </a:spcBef>
              <a:spcAft>
                <a:spcPts val="0"/>
              </a:spcAft>
              <a:buNone/>
            </a:pPr>
            <a:r>
              <a:t/>
            </a:r>
            <a:endParaRPr b="1" sz="4800"/>
          </a:p>
          <a:p>
            <a:pPr indent="-304800" lvl="0" marL="457200" rtl="0" algn="l">
              <a:spcBef>
                <a:spcPts val="0"/>
              </a:spcBef>
              <a:spcAft>
                <a:spcPts val="0"/>
              </a:spcAft>
              <a:buSzPct val="100000"/>
              <a:buChar char="•"/>
            </a:pPr>
            <a:r>
              <a:rPr lang="en" sz="4800"/>
              <a:t>Transition MCU, and sensors from breadboard to </a:t>
            </a:r>
            <a:r>
              <a:rPr lang="en" sz="4800"/>
              <a:t>perfboard</a:t>
            </a:r>
            <a:r>
              <a:rPr lang="en" sz="4800"/>
              <a:t> for final hardware build</a:t>
            </a:r>
            <a:endParaRPr sz="4800"/>
          </a:p>
          <a:p>
            <a:pPr indent="-304800" lvl="0" marL="457200" rtl="0" algn="l">
              <a:spcBef>
                <a:spcPts val="0"/>
              </a:spcBef>
              <a:spcAft>
                <a:spcPts val="0"/>
              </a:spcAft>
              <a:buSzPct val="100000"/>
              <a:buChar char="•"/>
            </a:pPr>
            <a:r>
              <a:rPr lang="en" sz="4800"/>
              <a:t>Validate all sensor &amp; relay connections on </a:t>
            </a:r>
            <a:r>
              <a:rPr lang="en" sz="4800"/>
              <a:t>perfboard</a:t>
            </a:r>
            <a:r>
              <a:rPr lang="en" sz="4800"/>
              <a:t> to ensure stable operation</a:t>
            </a:r>
            <a:endParaRPr sz="4800"/>
          </a:p>
          <a:p>
            <a:pPr indent="-304800" lvl="0" marL="457200" rtl="0" algn="l">
              <a:spcBef>
                <a:spcPts val="0"/>
              </a:spcBef>
              <a:spcAft>
                <a:spcPts val="0"/>
              </a:spcAft>
              <a:buSzPct val="100000"/>
              <a:buChar char="•"/>
            </a:pPr>
            <a:r>
              <a:rPr lang="en" sz="4800"/>
              <a:t>Finalize daily summary generation (SOC%, solar yield, load energy) and store in database</a:t>
            </a:r>
            <a:endParaRPr sz="4800"/>
          </a:p>
          <a:p>
            <a:pPr indent="-304800" lvl="0" marL="457200" rtl="0" algn="l">
              <a:spcBef>
                <a:spcPts val="0"/>
              </a:spcBef>
              <a:spcAft>
                <a:spcPts val="0"/>
              </a:spcAft>
              <a:buSzPct val="100000"/>
              <a:buChar char="•"/>
            </a:pPr>
            <a:r>
              <a:rPr lang="en" sz="4800"/>
              <a:t>Complete full sub-system integration test (MCU + sensors + relays + charge controller + database)</a:t>
            </a:r>
            <a:endParaRPr sz="4800"/>
          </a:p>
          <a:p>
            <a:pPr indent="0" lvl="0" marL="45720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457200" rtl="0" algn="l">
              <a:spcBef>
                <a:spcPts val="0"/>
              </a:spcBef>
              <a:spcAft>
                <a:spcPts val="0"/>
              </a:spcAft>
              <a:buNone/>
            </a:pPr>
            <a:r>
              <a:t/>
            </a:r>
            <a:endParaRPr sz="1400"/>
          </a:p>
          <a:p>
            <a:pPr indent="0" lvl="0" marL="0" rtl="0" algn="l">
              <a:spcBef>
                <a:spcPts val="0"/>
              </a:spcBef>
              <a:spcAft>
                <a:spcPts val="0"/>
              </a:spcAft>
              <a:buNone/>
            </a:pPr>
            <a:r>
              <a:t/>
            </a:r>
            <a:endParaRPr b="1" sz="1400"/>
          </a:p>
          <a:p>
            <a:pPr indent="0" lvl="0" marL="0" rtl="0" algn="l">
              <a:spcBef>
                <a:spcPts val="0"/>
              </a:spcBef>
              <a:spcAft>
                <a:spcPts val="0"/>
              </a:spcAft>
              <a:buClr>
                <a:schemeClr val="dk1"/>
              </a:buClr>
              <a:buSzPct val="34375"/>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457200" y="786883"/>
            <a:ext cx="8229600" cy="602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 Steps/Integration (ECEN 404)</a:t>
            </a:r>
            <a:endParaRPr/>
          </a:p>
        </p:txBody>
      </p:sp>
      <p:sp>
        <p:nvSpPr>
          <p:cNvPr id="266" name="Google Shape;266;p34"/>
          <p:cNvSpPr txBox="1"/>
          <p:nvPr>
            <p:ph idx="1" type="body"/>
          </p:nvPr>
        </p:nvSpPr>
        <p:spPr>
          <a:xfrm>
            <a:off x="457200" y="1639027"/>
            <a:ext cx="8229600" cy="3057600"/>
          </a:xfrm>
          <a:prstGeom prst="rect">
            <a:avLst/>
          </a:prstGeom>
        </p:spPr>
        <p:txBody>
          <a:bodyPr anchorCtr="0" anchor="t" bIns="45700" lIns="91425" spcFirstLastPara="1" rIns="91425" wrap="square" tIns="45700">
            <a:normAutofit/>
          </a:bodyPr>
          <a:lstStyle/>
          <a:p>
            <a:pPr indent="-355600" lvl="0" marL="457200" rtl="0" algn="l">
              <a:spcBef>
                <a:spcPts val="640"/>
              </a:spcBef>
              <a:spcAft>
                <a:spcPts val="0"/>
              </a:spcAft>
              <a:buSzPts val="2000"/>
              <a:buChar char="•"/>
            </a:pPr>
            <a:r>
              <a:rPr lang="en" sz="2000"/>
              <a:t>Validate and test communication between </a:t>
            </a:r>
            <a:r>
              <a:rPr lang="en" sz="2000"/>
              <a:t>subsystems</a:t>
            </a:r>
            <a:r>
              <a:rPr lang="en" sz="2000"/>
              <a:t>. </a:t>
            </a:r>
            <a:endParaRPr sz="2000"/>
          </a:p>
          <a:p>
            <a:pPr indent="-355600" lvl="0" marL="457200" rtl="0" algn="l">
              <a:spcBef>
                <a:spcPts val="0"/>
              </a:spcBef>
              <a:spcAft>
                <a:spcPts val="0"/>
              </a:spcAft>
              <a:buSzPts val="2000"/>
              <a:buChar char="•"/>
            </a:pPr>
            <a:r>
              <a:rPr lang="en" sz="2000"/>
              <a:t>Construct assembled product demo, with all subsystems.</a:t>
            </a:r>
            <a:endParaRPr sz="2000"/>
          </a:p>
          <a:p>
            <a:pPr indent="-355600" lvl="0" marL="457200" rtl="0" algn="l">
              <a:spcBef>
                <a:spcPts val="0"/>
              </a:spcBef>
              <a:spcAft>
                <a:spcPts val="0"/>
              </a:spcAft>
              <a:buSzPts val="2000"/>
              <a:buChar char="•"/>
            </a:pPr>
            <a:r>
              <a:rPr lang="en" sz="2000"/>
              <a:t>Validate power is sufficient and stable for load.</a:t>
            </a:r>
            <a:endParaRPr sz="2000"/>
          </a:p>
          <a:p>
            <a:pPr indent="-355600" lvl="0" marL="457200" rtl="0" algn="l">
              <a:spcBef>
                <a:spcPts val="0"/>
              </a:spcBef>
              <a:spcAft>
                <a:spcPts val="0"/>
              </a:spcAft>
              <a:buSzPts val="2000"/>
              <a:buChar char="•"/>
            </a:pPr>
            <a:r>
              <a:rPr lang="en" sz="2000"/>
              <a:t>Integrate</a:t>
            </a:r>
            <a:r>
              <a:rPr lang="en" sz="2000"/>
              <a:t> communication between MCU and charge controller</a:t>
            </a:r>
            <a:r>
              <a:rPr lang="en" sz="2000"/>
              <a:t>.</a:t>
            </a:r>
            <a:endParaRPr sz="2000"/>
          </a:p>
          <a:p>
            <a:pPr indent="-355600" lvl="0" marL="457200" rtl="0" algn="l">
              <a:spcBef>
                <a:spcPts val="0"/>
              </a:spcBef>
              <a:spcAft>
                <a:spcPts val="0"/>
              </a:spcAft>
              <a:buSzPts val="2000"/>
              <a:buChar char="•"/>
            </a:pPr>
            <a:r>
              <a:rPr lang="en" sz="2000"/>
              <a:t>Switch Local Python Flask Server with final SQLite</a:t>
            </a:r>
            <a:endParaRPr sz="2000"/>
          </a:p>
          <a:p>
            <a:pPr indent="-355600" lvl="0" marL="457200" rtl="0" algn="l">
              <a:spcBef>
                <a:spcPts val="0"/>
              </a:spcBef>
              <a:spcAft>
                <a:spcPts val="0"/>
              </a:spcAft>
              <a:buSzPts val="2000"/>
              <a:buChar char="•"/>
            </a:pPr>
            <a:r>
              <a:rPr lang="en" sz="2000"/>
              <a:t>Change Analyze Function from manual to MCU driven sensor activation </a:t>
            </a:r>
            <a:endParaRPr sz="2000"/>
          </a:p>
          <a:p>
            <a:pPr indent="0" lvl="0" marL="342900" rtl="0" algn="l">
              <a:spcBef>
                <a:spcPts val="64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nvSpPr>
        <p:spPr>
          <a:xfrm>
            <a:off x="8126730" y="4871012"/>
            <a:ext cx="5601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888888"/>
              </a:buClr>
              <a:buSzPts val="200"/>
              <a:buFont typeface="Arial"/>
              <a:buNone/>
            </a:pPr>
            <a:fld id="{00000000-1234-1234-1234-123412341234}" type="slidenum">
              <a:rPr b="0" i="0" lang="en" sz="900" u="none" cap="none" strike="noStrike">
                <a:solidFill>
                  <a:srgbClr val="888888"/>
                </a:solidFill>
                <a:latin typeface="Arial"/>
                <a:ea typeface="Arial"/>
                <a:cs typeface="Arial"/>
                <a:sym typeface="Arial"/>
              </a:rPr>
              <a:t>‹#›</a:t>
            </a:fld>
            <a:endParaRPr b="0" i="0" sz="900" u="none" cap="none" strike="noStrike">
              <a:solidFill>
                <a:srgbClr val="888888"/>
              </a:solidFill>
              <a:latin typeface="Arial"/>
              <a:ea typeface="Arial"/>
              <a:cs typeface="Arial"/>
              <a:sym typeface="Arial"/>
            </a:endParaRPr>
          </a:p>
        </p:txBody>
      </p:sp>
      <p:sp>
        <p:nvSpPr>
          <p:cNvPr id="272" name="Google Shape;272;p35"/>
          <p:cNvSpPr txBox="1"/>
          <p:nvPr>
            <p:ph idx="1" type="body"/>
          </p:nvPr>
        </p:nvSpPr>
        <p:spPr>
          <a:xfrm>
            <a:off x="1017999" y="830250"/>
            <a:ext cx="6766500" cy="2727300"/>
          </a:xfrm>
          <a:prstGeom prst="rect">
            <a:avLst/>
          </a:prstGeom>
          <a:noFill/>
          <a:ln>
            <a:noFill/>
          </a:ln>
        </p:spPr>
        <p:txBody>
          <a:bodyPr anchorCtr="0" anchor="t" bIns="34275" lIns="68575" spcFirstLastPara="1" rIns="68575" wrap="square" tIns="34275">
            <a:noAutofit/>
          </a:bodyPr>
          <a:lstStyle/>
          <a:p>
            <a:pPr indent="0" lvl="0" marL="0" rtl="0" algn="ctr">
              <a:spcBef>
                <a:spcPts val="0"/>
              </a:spcBef>
              <a:spcAft>
                <a:spcPts val="0"/>
              </a:spcAft>
              <a:buSzPts val="500"/>
              <a:buNone/>
            </a:pPr>
            <a:r>
              <a:rPr b="1" lang="en"/>
              <a:t>Solar Home Lighting 3:</a:t>
            </a:r>
            <a:r>
              <a:rPr lang="en"/>
              <a:t> </a:t>
            </a:r>
            <a:endParaRPr/>
          </a:p>
          <a:p>
            <a:pPr indent="0" lvl="0" marL="0" rtl="0" algn="ctr">
              <a:spcBef>
                <a:spcPts val="0"/>
              </a:spcBef>
              <a:spcAft>
                <a:spcPts val="0"/>
              </a:spcAft>
              <a:buSzPts val="500"/>
              <a:buNone/>
            </a:pPr>
            <a:r>
              <a:t/>
            </a:r>
            <a:endParaRPr/>
          </a:p>
          <a:p>
            <a:pPr indent="0" lvl="0" marL="0" rtl="0" algn="l">
              <a:spcBef>
                <a:spcPts val="0"/>
              </a:spcBef>
              <a:spcAft>
                <a:spcPts val="0"/>
              </a:spcAft>
              <a:buSzPts val="500"/>
              <a:buNone/>
            </a:pPr>
            <a:r>
              <a:t/>
            </a:r>
            <a:endParaRPr/>
          </a:p>
          <a:p>
            <a:pPr indent="457200" lvl="0" marL="914400" rtl="0" algn="l">
              <a:spcBef>
                <a:spcPts val="0"/>
              </a:spcBef>
              <a:spcAft>
                <a:spcPts val="0"/>
              </a:spcAft>
              <a:buSzPts val="500"/>
              <a:buNone/>
            </a:pPr>
            <a:r>
              <a:rPr lang="en"/>
              <a:t>Thank you for listening!</a:t>
            </a:r>
            <a:endParaRPr/>
          </a:p>
          <a:p>
            <a:pPr indent="0" lvl="0" marL="0" rtl="0" algn="ctr">
              <a:spcBef>
                <a:spcPts val="0"/>
              </a:spcBef>
              <a:spcAft>
                <a:spcPts val="0"/>
              </a:spcAft>
              <a:buSzPts val="500"/>
              <a:buNone/>
            </a:pPr>
            <a:r>
              <a:rPr lang="en"/>
              <a:t>Questions?</a:t>
            </a:r>
            <a:br>
              <a:rPr lang="en"/>
            </a:br>
            <a:br>
              <a:rPr lang="en"/>
            </a:br>
            <a:endParaRPr/>
          </a:p>
          <a:p>
            <a:pPr indent="0" lvl="0" marL="0" rtl="0" algn="ctr">
              <a:lnSpc>
                <a:spcPct val="100000"/>
              </a:lnSpc>
              <a:spcBef>
                <a:spcPts val="0"/>
              </a:spcBef>
              <a:spcAft>
                <a:spcPts val="0"/>
              </a:spcAft>
              <a:buSzPts val="500"/>
              <a:buNone/>
            </a:pPr>
            <a:r>
              <a:t/>
            </a:r>
            <a:endParaRPr/>
          </a:p>
        </p:txBody>
      </p:sp>
      <p:sp>
        <p:nvSpPr>
          <p:cNvPr id="273" name="Google Shape;273;p35"/>
          <p:cNvSpPr txBox="1"/>
          <p:nvPr/>
        </p:nvSpPr>
        <p:spPr>
          <a:xfrm>
            <a:off x="89575" y="3731550"/>
            <a:ext cx="8772900" cy="1215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br>
              <a:rPr lang="en" sz="2100">
                <a:solidFill>
                  <a:schemeClr val="dk1"/>
                </a:solidFill>
              </a:rPr>
            </a:br>
            <a:r>
              <a:rPr lang="en" sz="2100">
                <a:solidFill>
                  <a:schemeClr val="dk1"/>
                </a:solidFill>
              </a:rPr>
              <a:t>Jack Holdridge, Kyle Walcher, Matthew Greer, and Adam Garcia</a:t>
            </a:r>
            <a:endParaRPr sz="2100">
              <a:solidFill>
                <a:schemeClr val="dk1"/>
              </a:solidFill>
            </a:endParaRPr>
          </a:p>
          <a:p>
            <a:pPr indent="0" lvl="0" marL="0" rtl="0" algn="ctr">
              <a:spcBef>
                <a:spcPts val="0"/>
              </a:spcBef>
              <a:spcAft>
                <a:spcPts val="0"/>
              </a:spcAft>
              <a:buNone/>
            </a:pPr>
            <a:r>
              <a:rPr lang="en" sz="1400">
                <a:solidFill>
                  <a:schemeClr val="dk1"/>
                </a:solidFill>
              </a:rPr>
              <a:t>TA: Hailey Ward</a:t>
            </a:r>
            <a:endParaRPr sz="1400">
              <a:solidFill>
                <a:schemeClr val="dk1"/>
              </a:solidFill>
            </a:endParaRPr>
          </a:p>
          <a:p>
            <a:pPr indent="0" lvl="0" marL="0" rtl="0" algn="ctr">
              <a:spcBef>
                <a:spcPts val="0"/>
              </a:spcBef>
              <a:spcAft>
                <a:spcPts val="0"/>
              </a:spcAft>
              <a:buNone/>
            </a:pPr>
            <a:r>
              <a:rPr lang="en" sz="1400">
                <a:solidFill>
                  <a:schemeClr val="dk1"/>
                </a:solidFill>
              </a:rPr>
              <a:t>Sponsor: Won Jang</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457200" y="786883"/>
            <a:ext cx="8229600" cy="602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79" name="Google Shape;279;p36"/>
          <p:cNvSpPr/>
          <p:nvPr/>
        </p:nvSpPr>
        <p:spPr>
          <a:xfrm>
            <a:off x="3685025" y="3489549"/>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80" name="Google Shape;280;p36"/>
          <p:cNvSpPr/>
          <p:nvPr/>
        </p:nvSpPr>
        <p:spPr>
          <a:xfrm>
            <a:off x="3776944" y="2837156"/>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81" name="Google Shape;281;p36"/>
          <p:cNvSpPr/>
          <p:nvPr/>
        </p:nvSpPr>
        <p:spPr>
          <a:xfrm>
            <a:off x="2095625" y="2931366"/>
            <a:ext cx="1553100" cy="2739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82" name="Google Shape;282;p36"/>
          <p:cNvSpPr/>
          <p:nvPr/>
        </p:nvSpPr>
        <p:spPr>
          <a:xfrm>
            <a:off x="2142772" y="3971434"/>
            <a:ext cx="8727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83" name="Google Shape;283;p36"/>
          <p:cNvSpPr/>
          <p:nvPr/>
        </p:nvSpPr>
        <p:spPr>
          <a:xfrm>
            <a:off x="2525300" y="3479191"/>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84" name="Google Shape;284;p36"/>
          <p:cNvSpPr txBox="1"/>
          <p:nvPr/>
        </p:nvSpPr>
        <p:spPr>
          <a:xfrm>
            <a:off x="2506888" y="3479181"/>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Touch screen HMI</a:t>
            </a:r>
            <a:endParaRPr sz="800">
              <a:solidFill>
                <a:srgbClr val="000000"/>
              </a:solidFill>
            </a:endParaRPr>
          </a:p>
        </p:txBody>
      </p:sp>
      <p:sp>
        <p:nvSpPr>
          <p:cNvPr id="285" name="Google Shape;285;p36"/>
          <p:cNvSpPr txBox="1"/>
          <p:nvPr/>
        </p:nvSpPr>
        <p:spPr>
          <a:xfrm>
            <a:off x="3666688" y="3479181"/>
            <a:ext cx="652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ESP32</a:t>
            </a:r>
            <a:endParaRPr sz="800">
              <a:solidFill>
                <a:srgbClr val="000000"/>
              </a:solidFill>
            </a:endParaRPr>
          </a:p>
        </p:txBody>
      </p:sp>
      <p:sp>
        <p:nvSpPr>
          <p:cNvPr id="286" name="Google Shape;286;p36"/>
          <p:cNvSpPr txBox="1"/>
          <p:nvPr/>
        </p:nvSpPr>
        <p:spPr>
          <a:xfrm>
            <a:off x="2259850" y="2911088"/>
            <a:ext cx="1507200" cy="3144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12v Buck Boost DC converter</a:t>
            </a:r>
            <a:endParaRPr sz="800">
              <a:solidFill>
                <a:srgbClr val="000000"/>
              </a:solidFill>
            </a:endParaRPr>
          </a:p>
        </p:txBody>
      </p:sp>
      <p:sp>
        <p:nvSpPr>
          <p:cNvPr id="287" name="Google Shape;287;p36"/>
          <p:cNvSpPr txBox="1"/>
          <p:nvPr/>
        </p:nvSpPr>
        <p:spPr>
          <a:xfrm>
            <a:off x="2072684" y="4027478"/>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Relay board and LED Lights</a:t>
            </a:r>
            <a:endParaRPr sz="800">
              <a:solidFill>
                <a:srgbClr val="000000"/>
              </a:solidFill>
            </a:endParaRPr>
          </a:p>
        </p:txBody>
      </p:sp>
      <p:sp>
        <p:nvSpPr>
          <p:cNvPr id="288" name="Google Shape;288;p36"/>
          <p:cNvSpPr txBox="1"/>
          <p:nvPr/>
        </p:nvSpPr>
        <p:spPr>
          <a:xfrm>
            <a:off x="3719944" y="2816444"/>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3.3v Buck Converter</a:t>
            </a:r>
            <a:endParaRPr sz="800">
              <a:solidFill>
                <a:srgbClr val="000000"/>
              </a:solidFill>
            </a:endParaRPr>
          </a:p>
        </p:txBody>
      </p:sp>
      <p:cxnSp>
        <p:nvCxnSpPr>
          <p:cNvPr id="289" name="Google Shape;289;p36"/>
          <p:cNvCxnSpPr>
            <a:stCxn id="284" idx="3"/>
            <a:endCxn id="285" idx="1"/>
          </p:cNvCxnSpPr>
          <p:nvPr/>
        </p:nvCxnSpPr>
        <p:spPr>
          <a:xfrm>
            <a:off x="3519988" y="3616131"/>
            <a:ext cx="146700" cy="0"/>
          </a:xfrm>
          <a:prstGeom prst="straightConnector1">
            <a:avLst/>
          </a:prstGeom>
          <a:noFill/>
          <a:ln cap="flat" cmpd="sng" w="21425">
            <a:solidFill>
              <a:srgbClr val="000000"/>
            </a:solidFill>
            <a:prstDash val="solid"/>
            <a:round/>
            <a:headEnd len="med" w="med" type="none"/>
            <a:tailEnd len="med" w="med" type="none"/>
          </a:ln>
        </p:spPr>
      </p:cxnSp>
      <p:cxnSp>
        <p:nvCxnSpPr>
          <p:cNvPr id="290" name="Google Shape;290;p36"/>
          <p:cNvCxnSpPr>
            <a:stCxn id="288" idx="2"/>
            <a:endCxn id="285" idx="0"/>
          </p:cNvCxnSpPr>
          <p:nvPr/>
        </p:nvCxnSpPr>
        <p:spPr>
          <a:xfrm flipH="1">
            <a:off x="3992644" y="3090344"/>
            <a:ext cx="272400" cy="388800"/>
          </a:xfrm>
          <a:prstGeom prst="straightConnector1">
            <a:avLst/>
          </a:prstGeom>
          <a:noFill/>
          <a:ln cap="flat" cmpd="sng" w="21425">
            <a:solidFill>
              <a:srgbClr val="000000"/>
            </a:solidFill>
            <a:prstDash val="solid"/>
            <a:round/>
            <a:headEnd len="med" w="med" type="none"/>
            <a:tailEnd len="med" w="med" type="none"/>
          </a:ln>
        </p:spPr>
      </p:cxnSp>
      <p:cxnSp>
        <p:nvCxnSpPr>
          <p:cNvPr id="291" name="Google Shape;291;p36"/>
          <p:cNvCxnSpPr/>
          <p:nvPr/>
        </p:nvCxnSpPr>
        <p:spPr>
          <a:xfrm>
            <a:off x="4800847" y="3732325"/>
            <a:ext cx="9300" cy="465900"/>
          </a:xfrm>
          <a:prstGeom prst="straightConnector1">
            <a:avLst/>
          </a:prstGeom>
          <a:noFill/>
          <a:ln cap="flat" cmpd="sng" w="21425">
            <a:solidFill>
              <a:srgbClr val="000000"/>
            </a:solidFill>
            <a:prstDash val="solid"/>
            <a:round/>
            <a:headEnd len="med" w="med" type="none"/>
            <a:tailEnd len="med" w="med" type="none"/>
          </a:ln>
        </p:spPr>
      </p:cxnSp>
      <p:cxnSp>
        <p:nvCxnSpPr>
          <p:cNvPr id="292" name="Google Shape;292;p36"/>
          <p:cNvCxnSpPr/>
          <p:nvPr/>
        </p:nvCxnSpPr>
        <p:spPr>
          <a:xfrm flipH="1">
            <a:off x="3013625" y="4200400"/>
            <a:ext cx="1804500" cy="7500"/>
          </a:xfrm>
          <a:prstGeom prst="straightConnector1">
            <a:avLst/>
          </a:prstGeom>
          <a:noFill/>
          <a:ln cap="flat" cmpd="sng" w="21425">
            <a:solidFill>
              <a:srgbClr val="000000"/>
            </a:solidFill>
            <a:prstDash val="solid"/>
            <a:round/>
            <a:headEnd len="med" w="med" type="none"/>
            <a:tailEnd len="med" w="med" type="none"/>
          </a:ln>
        </p:spPr>
      </p:cxnSp>
      <p:cxnSp>
        <p:nvCxnSpPr>
          <p:cNvPr id="293" name="Google Shape;293;p36"/>
          <p:cNvCxnSpPr/>
          <p:nvPr/>
        </p:nvCxnSpPr>
        <p:spPr>
          <a:xfrm rot="10800000">
            <a:off x="3438819" y="2155816"/>
            <a:ext cx="0" cy="501600"/>
          </a:xfrm>
          <a:prstGeom prst="straightConnector1">
            <a:avLst/>
          </a:prstGeom>
          <a:noFill/>
          <a:ln cap="flat" cmpd="sng" w="28575">
            <a:solidFill>
              <a:srgbClr val="000000"/>
            </a:solidFill>
            <a:prstDash val="solid"/>
            <a:round/>
            <a:headEnd len="med" w="med" type="none"/>
            <a:tailEnd len="med" w="med" type="none"/>
          </a:ln>
        </p:spPr>
      </p:cxnSp>
      <p:cxnSp>
        <p:nvCxnSpPr>
          <p:cNvPr id="294" name="Google Shape;294;p36"/>
          <p:cNvCxnSpPr/>
          <p:nvPr/>
        </p:nvCxnSpPr>
        <p:spPr>
          <a:xfrm>
            <a:off x="3454200" y="2634775"/>
            <a:ext cx="804900" cy="188100"/>
          </a:xfrm>
          <a:prstGeom prst="straightConnector1">
            <a:avLst/>
          </a:prstGeom>
          <a:noFill/>
          <a:ln cap="flat" cmpd="sng" w="21425">
            <a:solidFill>
              <a:srgbClr val="000000"/>
            </a:solidFill>
            <a:prstDash val="solid"/>
            <a:round/>
            <a:headEnd len="med" w="med" type="none"/>
            <a:tailEnd len="med" w="med" type="none"/>
          </a:ln>
        </p:spPr>
      </p:cxnSp>
      <p:cxnSp>
        <p:nvCxnSpPr>
          <p:cNvPr id="295" name="Google Shape;295;p36"/>
          <p:cNvCxnSpPr/>
          <p:nvPr/>
        </p:nvCxnSpPr>
        <p:spPr>
          <a:xfrm flipH="1">
            <a:off x="2916925" y="3221000"/>
            <a:ext cx="1500" cy="166800"/>
          </a:xfrm>
          <a:prstGeom prst="straightConnector1">
            <a:avLst/>
          </a:prstGeom>
          <a:noFill/>
          <a:ln cap="flat" cmpd="sng" w="21425">
            <a:solidFill>
              <a:srgbClr val="000000"/>
            </a:solidFill>
            <a:prstDash val="solid"/>
            <a:round/>
            <a:headEnd len="med" w="med" type="none"/>
            <a:tailEnd len="med" w="med" type="none"/>
          </a:ln>
        </p:spPr>
      </p:cxnSp>
      <p:cxnSp>
        <p:nvCxnSpPr>
          <p:cNvPr id="296" name="Google Shape;296;p36"/>
          <p:cNvCxnSpPr/>
          <p:nvPr/>
        </p:nvCxnSpPr>
        <p:spPr>
          <a:xfrm>
            <a:off x="2357094" y="3387784"/>
            <a:ext cx="3000" cy="583800"/>
          </a:xfrm>
          <a:prstGeom prst="straightConnector1">
            <a:avLst/>
          </a:prstGeom>
          <a:noFill/>
          <a:ln cap="flat" cmpd="sng" w="21425">
            <a:solidFill>
              <a:srgbClr val="000000"/>
            </a:solidFill>
            <a:prstDash val="solid"/>
            <a:round/>
            <a:headEnd len="med" w="med" type="none"/>
            <a:tailEnd len="med" w="med" type="none"/>
          </a:ln>
        </p:spPr>
      </p:cxnSp>
      <p:cxnSp>
        <p:nvCxnSpPr>
          <p:cNvPr id="297" name="Google Shape;297;p36"/>
          <p:cNvCxnSpPr/>
          <p:nvPr/>
        </p:nvCxnSpPr>
        <p:spPr>
          <a:xfrm flipH="1" rot="10800000">
            <a:off x="2357094" y="3394366"/>
            <a:ext cx="564600" cy="3300"/>
          </a:xfrm>
          <a:prstGeom prst="straightConnector1">
            <a:avLst/>
          </a:prstGeom>
          <a:noFill/>
          <a:ln cap="flat" cmpd="sng" w="21425">
            <a:solidFill>
              <a:srgbClr val="000000"/>
            </a:solidFill>
            <a:prstDash val="solid"/>
            <a:round/>
            <a:headEnd len="med" w="med" type="none"/>
            <a:tailEnd len="med" w="med" type="none"/>
          </a:ln>
        </p:spPr>
      </p:cxnSp>
      <p:sp>
        <p:nvSpPr>
          <p:cNvPr id="298" name="Google Shape;298;p36"/>
          <p:cNvSpPr/>
          <p:nvPr/>
        </p:nvSpPr>
        <p:spPr>
          <a:xfrm>
            <a:off x="4434294" y="3486643"/>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299" name="Google Shape;299;p36"/>
          <p:cNvSpPr txBox="1"/>
          <p:nvPr/>
        </p:nvSpPr>
        <p:spPr>
          <a:xfrm>
            <a:off x="4484075" y="3486606"/>
            <a:ext cx="620700" cy="238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solidFill>
                  <a:srgbClr val="000000"/>
                </a:solidFill>
              </a:rPr>
              <a:t>ESP32</a:t>
            </a:r>
            <a:endParaRPr sz="800">
              <a:solidFill>
                <a:srgbClr val="000000"/>
              </a:solidFill>
            </a:endParaRPr>
          </a:p>
        </p:txBody>
      </p:sp>
      <p:cxnSp>
        <p:nvCxnSpPr>
          <p:cNvPr id="300" name="Google Shape;300;p36"/>
          <p:cNvCxnSpPr>
            <a:stCxn id="288" idx="2"/>
          </p:cNvCxnSpPr>
          <p:nvPr/>
        </p:nvCxnSpPr>
        <p:spPr>
          <a:xfrm>
            <a:off x="4265044" y="3090344"/>
            <a:ext cx="374400" cy="399000"/>
          </a:xfrm>
          <a:prstGeom prst="straightConnector1">
            <a:avLst/>
          </a:prstGeom>
          <a:noFill/>
          <a:ln cap="flat" cmpd="sng" w="21425">
            <a:solidFill>
              <a:srgbClr val="000000"/>
            </a:solidFill>
            <a:prstDash val="solid"/>
            <a:round/>
            <a:headEnd len="med" w="med" type="none"/>
            <a:tailEnd len="med" w="med" type="none"/>
          </a:ln>
        </p:spPr>
      </p:cxnSp>
      <p:cxnSp>
        <p:nvCxnSpPr>
          <p:cNvPr id="301" name="Google Shape;301;p36"/>
          <p:cNvCxnSpPr>
            <a:endCxn id="298" idx="1"/>
          </p:cNvCxnSpPr>
          <p:nvPr/>
        </p:nvCxnSpPr>
        <p:spPr>
          <a:xfrm>
            <a:off x="4365594" y="3604543"/>
            <a:ext cx="68700" cy="1200"/>
          </a:xfrm>
          <a:prstGeom prst="straightConnector1">
            <a:avLst/>
          </a:prstGeom>
          <a:noFill/>
          <a:ln cap="flat" cmpd="sng" w="21425">
            <a:solidFill>
              <a:srgbClr val="000000"/>
            </a:solidFill>
            <a:prstDash val="solid"/>
            <a:round/>
            <a:headEnd len="med" w="med" type="none"/>
            <a:tailEnd len="med" w="med" type="none"/>
          </a:ln>
        </p:spPr>
      </p:cxnSp>
      <p:cxnSp>
        <p:nvCxnSpPr>
          <p:cNvPr id="302" name="Google Shape;302;p36"/>
          <p:cNvCxnSpPr>
            <a:endCxn id="286" idx="0"/>
          </p:cNvCxnSpPr>
          <p:nvPr/>
        </p:nvCxnSpPr>
        <p:spPr>
          <a:xfrm flipH="1">
            <a:off x="3013450" y="2634788"/>
            <a:ext cx="421800" cy="276300"/>
          </a:xfrm>
          <a:prstGeom prst="straightConnector1">
            <a:avLst/>
          </a:prstGeom>
          <a:noFill/>
          <a:ln cap="flat" cmpd="sng" w="21425">
            <a:solidFill>
              <a:srgbClr val="000000"/>
            </a:solidFill>
            <a:prstDash val="solid"/>
            <a:round/>
            <a:headEnd len="med" w="med" type="none"/>
            <a:tailEnd len="med" w="med" type="none"/>
          </a:ln>
        </p:spPr>
      </p:cxnSp>
      <p:sp>
        <p:nvSpPr>
          <p:cNvPr id="303" name="Google Shape;303;p36"/>
          <p:cNvSpPr/>
          <p:nvPr/>
        </p:nvSpPr>
        <p:spPr>
          <a:xfrm>
            <a:off x="2662275" y="1891266"/>
            <a:ext cx="1553100" cy="2739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304" name="Google Shape;304;p36"/>
          <p:cNvSpPr txBox="1"/>
          <p:nvPr/>
        </p:nvSpPr>
        <p:spPr>
          <a:xfrm>
            <a:off x="2685225" y="1854975"/>
            <a:ext cx="1507200" cy="3144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800"/>
              <a:t>10.8-14.2 V Battery Feed</a:t>
            </a:r>
            <a:endParaRPr sz="8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