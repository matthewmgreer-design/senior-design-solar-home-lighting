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1" roundtripDataSignature="AMtx7mhVJfrK8jnSMzCy2TppBXdvACz7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7EE7DD-B0EF-45B8-A8EC-47F95EF3D79C}">
  <a:tblStyle styleId="{C77EE7DD-B0EF-45B8-A8EC-47F95EF3D79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A186855-D57A-48B8-9561-DBAB6F8FAF48}"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3CE9775-7CF4-4B5C-8DDB-E07EEA5F38CC}"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US"/>
              <a:t>Michelle</a:t>
            </a:r>
            <a:endParaRPr/>
          </a:p>
        </p:txBody>
      </p:sp>
      <p:sp>
        <p:nvSpPr>
          <p:cNvPr id="56" name="Google Shape;5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US"/>
              <a:t>Kyle</a:t>
            </a:r>
            <a:endParaRPr/>
          </a:p>
        </p:txBody>
      </p:sp>
      <p:sp>
        <p:nvSpPr>
          <p:cNvPr id="63" name="Google Shape;6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US"/>
              <a:t>Eric</a:t>
            </a:r>
            <a:endParaRPr/>
          </a:p>
        </p:txBody>
      </p:sp>
      <p:sp>
        <p:nvSpPr>
          <p:cNvPr id="70" name="Google Shape;7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US"/>
              <a:t>Eric</a:t>
            </a:r>
            <a:endParaRPr/>
          </a:p>
        </p:txBody>
      </p:sp>
      <p:sp>
        <p:nvSpPr>
          <p:cNvPr id="135" name="Google Shape;13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41" name="Google Shape;14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6f2694c51_0_2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53" name="Google Shape;153;g3b6f2694c51_0_2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b6f2694c51_0_2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3b6f2694c51_0_2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6f2694c51_0_3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68" name="Google Shape;168;g3b6f2694c51_0_3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b6f2694c51_0_3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b6f2694c51_0_3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2fefca9a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85" name="Google Shape;185;g3c2fefca9a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c2fefca9ad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91" name="Google Shape;191;g3c2fefca9ad_0_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rPr lang="en-US"/>
              <a:t>Michelle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b6f2694c51_0_3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g3b6f2694c51_0_3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12"/>
          <p:cNvSpPr txBox="1"/>
          <p:nvPr>
            <p:ph type="ctrTitle"/>
          </p:nvPr>
        </p:nvSpPr>
        <p:spPr>
          <a:xfrm>
            <a:off x="3969582" y="2130425"/>
            <a:ext cx="4488617" cy="1470025"/>
          </a:xfrm>
          <a:prstGeom prst="rect">
            <a:avLst/>
          </a:prstGeom>
          <a:no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chemeClr val="lt1"/>
              </a:buClr>
              <a:buSzPts val="3600"/>
              <a:buFont typeface="Arial"/>
              <a:buNone/>
              <a:defRPr b="1"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3124200" y="3886200"/>
            <a:ext cx="5333999" cy="17526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560"/>
              </a:spcBef>
              <a:spcAft>
                <a:spcPts val="0"/>
              </a:spcAft>
              <a:buClr>
                <a:srgbClr val="FFFFFF"/>
              </a:buClr>
              <a:buSzPts val="2800"/>
              <a:buNone/>
              <a:defRPr sz="2800">
                <a:solidFill>
                  <a:srgbClr val="FFFFFF"/>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13"/>
          <p:cNvSpPr txBox="1"/>
          <p:nvPr>
            <p:ph type="title"/>
          </p:nvPr>
        </p:nvSpPr>
        <p:spPr>
          <a:xfrm>
            <a:off x="450851" y="1049177"/>
            <a:ext cx="8235950" cy="803756"/>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chemeClr val="dk1"/>
              </a:buClr>
              <a:buSzPts val="3200"/>
              <a:buFont typeface="Arial"/>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457200" y="2049270"/>
            <a:ext cx="8229600" cy="407689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27" name="Google Shape;27;p13"/>
          <p:cNvPicPr preferRelativeResize="0"/>
          <p:nvPr/>
        </p:nvPicPr>
        <p:blipFill rotWithShape="1">
          <a:blip r:embed="rId3">
            <a:alphaModFix/>
          </a:blip>
          <a:srcRect b="0" l="0" r="0" t="0"/>
          <a:stretch/>
        </p:blipFill>
        <p:spPr>
          <a:xfrm>
            <a:off x="450851" y="234146"/>
            <a:ext cx="2443865" cy="41260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14"/>
          <p:cNvSpPr txBox="1"/>
          <p:nvPr>
            <p:ph idx="1" type="body"/>
          </p:nvPr>
        </p:nvSpPr>
        <p:spPr>
          <a:xfrm>
            <a:off x="457200" y="1975644"/>
            <a:ext cx="4038600" cy="4150519"/>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0" name="Google Shape;30;p14"/>
          <p:cNvSpPr txBox="1"/>
          <p:nvPr>
            <p:ph idx="2" type="body"/>
          </p:nvPr>
        </p:nvSpPr>
        <p:spPr>
          <a:xfrm>
            <a:off x="4648200" y="1975644"/>
            <a:ext cx="4038600" cy="4150519"/>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1" name="Google Shape;3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4" name="Google Shape;34;p14"/>
          <p:cNvSpPr txBox="1"/>
          <p:nvPr>
            <p:ph type="title"/>
          </p:nvPr>
        </p:nvSpPr>
        <p:spPr>
          <a:xfrm>
            <a:off x="457200" y="1049177"/>
            <a:ext cx="8229600" cy="803756"/>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Arial"/>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15"/>
          <p:cNvSpPr txBox="1"/>
          <p:nvPr>
            <p:ph type="title"/>
          </p:nvPr>
        </p:nvSpPr>
        <p:spPr>
          <a:xfrm>
            <a:off x="457200" y="2900649"/>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Arial"/>
              <a:buNone/>
              <a:defRPr b="1"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1066968"/>
            <a:ext cx="3008313" cy="736881"/>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3575050" y="1073720"/>
            <a:ext cx="5111750" cy="505244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b="1" sz="28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43" name="Google Shape;43;p16"/>
          <p:cNvSpPr txBox="1"/>
          <p:nvPr>
            <p:ph idx="2" type="body"/>
          </p:nvPr>
        </p:nvSpPr>
        <p:spPr>
          <a:xfrm>
            <a:off x="457200" y="1803850"/>
            <a:ext cx="3008313" cy="432231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44" name="Google Shape;4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7" name="Shape 47"/>
        <p:cNvGrpSpPr/>
        <p:nvPr/>
      </p:nvGrpSpPr>
      <p:grpSpPr>
        <a:xfrm>
          <a:off x="0" y="0"/>
          <a:ext cx="0" cy="0"/>
          <a:chOff x="0" y="0"/>
          <a:chExt cx="0" cy="0"/>
        </a:xfrm>
      </p:grpSpPr>
      <p:sp>
        <p:nvSpPr>
          <p:cNvPr id="48" name="Google Shape;48;p17"/>
          <p:cNvSpPr txBox="1"/>
          <p:nvPr>
            <p:ph type="title"/>
          </p:nvPr>
        </p:nvSpPr>
        <p:spPr>
          <a:xfrm>
            <a:off x="457200" y="1196430"/>
            <a:ext cx="2573672"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1800"/>
              <a:buFont typeface="Arial"/>
              <a:buNone/>
              <a:defRPr b="1"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p:nvPr>
            <p:ph idx="2" type="pic"/>
          </p:nvPr>
        </p:nvSpPr>
        <p:spPr>
          <a:xfrm>
            <a:off x="3200400" y="1196430"/>
            <a:ext cx="5486400" cy="4850287"/>
          </a:xfrm>
          <a:prstGeom prst="rect">
            <a:avLst/>
          </a:prstGeom>
          <a:noFill/>
          <a:ln>
            <a:noFill/>
          </a:ln>
        </p:spPr>
      </p:sp>
      <p:sp>
        <p:nvSpPr>
          <p:cNvPr id="50" name="Google Shape;50;p17"/>
          <p:cNvSpPr txBox="1"/>
          <p:nvPr>
            <p:ph idx="1" type="body"/>
          </p:nvPr>
        </p:nvSpPr>
        <p:spPr>
          <a:xfrm>
            <a:off x="457200" y="1768043"/>
            <a:ext cx="2573672" cy="427867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16.png"/><Relationship Id="rId7"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
          <p:cNvSpPr txBox="1"/>
          <p:nvPr>
            <p:ph type="ctrTitle"/>
          </p:nvPr>
        </p:nvSpPr>
        <p:spPr>
          <a:xfrm>
            <a:off x="1619250" y="3814625"/>
            <a:ext cx="7302600" cy="2296800"/>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100000"/>
              </a:lnSpc>
              <a:spcBef>
                <a:spcPts val="0"/>
              </a:spcBef>
              <a:spcAft>
                <a:spcPts val="0"/>
              </a:spcAft>
              <a:buClr>
                <a:schemeClr val="lt1"/>
              </a:buClr>
              <a:buSzPct val="111111"/>
              <a:buFont typeface="Arial"/>
              <a:buNone/>
            </a:pPr>
            <a:r>
              <a:rPr lang="en-US"/>
              <a:t>Team 22: Solar Home Lighting</a:t>
            </a:r>
            <a:endParaRPr/>
          </a:p>
          <a:p>
            <a:pPr indent="0" lvl="0" marL="0" rtl="0" algn="r">
              <a:lnSpc>
                <a:spcPct val="100000"/>
              </a:lnSpc>
              <a:spcBef>
                <a:spcPts val="0"/>
              </a:spcBef>
              <a:spcAft>
                <a:spcPts val="0"/>
              </a:spcAft>
              <a:buClr>
                <a:schemeClr val="lt1"/>
              </a:buClr>
              <a:buSzPct val="238922"/>
              <a:buFont typeface="Arial"/>
              <a:buNone/>
            </a:pPr>
            <a:r>
              <a:rPr lang="en-US"/>
              <a:t>Bi-Weekly Update 2</a:t>
            </a:r>
            <a:br>
              <a:rPr lang="en-US"/>
            </a:br>
            <a:r>
              <a:rPr lang="en-US" sz="2455"/>
              <a:t>Jack Holdridge</a:t>
            </a:r>
            <a:endParaRPr sz="2455"/>
          </a:p>
          <a:p>
            <a:pPr indent="0" lvl="0" marL="0" rtl="0" algn="r">
              <a:lnSpc>
                <a:spcPct val="100000"/>
              </a:lnSpc>
              <a:spcBef>
                <a:spcPts val="0"/>
              </a:spcBef>
              <a:spcAft>
                <a:spcPts val="0"/>
              </a:spcAft>
              <a:buClr>
                <a:schemeClr val="lt1"/>
              </a:buClr>
              <a:buSzPct val="162932"/>
              <a:buFont typeface="Arial"/>
              <a:buNone/>
            </a:pPr>
            <a:r>
              <a:rPr lang="en-US" sz="2455"/>
              <a:t>Kyle Walcher</a:t>
            </a:r>
            <a:endParaRPr sz="2455"/>
          </a:p>
          <a:p>
            <a:pPr indent="0" lvl="0" marL="0" rtl="0" algn="r">
              <a:lnSpc>
                <a:spcPct val="100000"/>
              </a:lnSpc>
              <a:spcBef>
                <a:spcPts val="0"/>
              </a:spcBef>
              <a:spcAft>
                <a:spcPts val="0"/>
              </a:spcAft>
              <a:buClr>
                <a:schemeClr val="lt1"/>
              </a:buClr>
              <a:buSzPct val="162932"/>
              <a:buFont typeface="Arial"/>
              <a:buNone/>
            </a:pPr>
            <a:r>
              <a:rPr lang="en-US" sz="2455"/>
              <a:t>Matthew Greer</a:t>
            </a:r>
            <a:endParaRPr sz="2455"/>
          </a:p>
          <a:p>
            <a:pPr indent="0" lvl="0" marL="0" rtl="0" algn="r">
              <a:lnSpc>
                <a:spcPct val="100000"/>
              </a:lnSpc>
              <a:spcBef>
                <a:spcPts val="0"/>
              </a:spcBef>
              <a:spcAft>
                <a:spcPts val="0"/>
              </a:spcAft>
              <a:buClr>
                <a:schemeClr val="lt1"/>
              </a:buClr>
              <a:buSzPct val="162932"/>
              <a:buFont typeface="Arial"/>
              <a:buNone/>
            </a:pPr>
            <a:r>
              <a:rPr lang="en-US" sz="2455"/>
              <a:t>Adam Garcia</a:t>
            </a:r>
            <a:endParaRPr sz="2455"/>
          </a:p>
          <a:p>
            <a:pPr indent="0" lvl="0" marL="0" rtl="0" algn="r">
              <a:lnSpc>
                <a:spcPct val="100000"/>
              </a:lnSpc>
              <a:spcBef>
                <a:spcPts val="0"/>
              </a:spcBef>
              <a:spcAft>
                <a:spcPts val="0"/>
              </a:spcAft>
              <a:buClr>
                <a:schemeClr val="lt1"/>
              </a:buClr>
              <a:buSzPct val="162932"/>
              <a:buFont typeface="Arial"/>
              <a:buNone/>
            </a:pPr>
            <a:r>
              <a:rPr lang="en-US" sz="2455"/>
              <a:t>TA: Guanhua Tao</a:t>
            </a:r>
            <a:endParaRPr sz="2455"/>
          </a:p>
          <a:p>
            <a:pPr indent="0" lvl="0" marL="0" rtl="0" algn="r">
              <a:lnSpc>
                <a:spcPct val="100000"/>
              </a:lnSpc>
              <a:spcBef>
                <a:spcPts val="0"/>
              </a:spcBef>
              <a:spcAft>
                <a:spcPts val="0"/>
              </a:spcAft>
              <a:buClr>
                <a:schemeClr val="lt1"/>
              </a:buClr>
              <a:buSzPct val="162932"/>
              <a:buFont typeface="Arial"/>
              <a:buNone/>
            </a:pPr>
            <a:r>
              <a:rPr lang="en-US" sz="2455"/>
              <a:t>Sponsor: Won Jang</a:t>
            </a:r>
            <a:br>
              <a:rPr lang="en-US" sz="2455"/>
            </a:br>
            <a:endParaRPr sz="2455"/>
          </a:p>
        </p:txBody>
      </p:sp>
      <p:sp>
        <p:nvSpPr>
          <p:cNvPr id="59" name="Google Shape;59;p1"/>
          <p:cNvSpPr/>
          <p:nvPr/>
        </p:nvSpPr>
        <p:spPr>
          <a:xfrm>
            <a:off x="0" y="0"/>
            <a:ext cx="6111425" cy="6111425"/>
          </a:xfrm>
          <a:prstGeom prst="diagStripe">
            <a:avLst>
              <a:gd fmla="val 28990" name="adj"/>
            </a:avLst>
          </a:prstGeom>
          <a:blipFill rotWithShape="1">
            <a:blip r:embed="rId3">
              <a:alphaModFix/>
            </a:blip>
            <a:stretch>
              <a:fillRect b="0" l="0" r="0" t="0"/>
            </a:stretch>
          </a:blipFill>
          <a:ln>
            <a:noFill/>
          </a:ln>
          <a:effectLst>
            <a:outerShdw blurRad="193675" rotWithShape="0" dir="5400000" dist="23000">
              <a:srgbClr val="00000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60" name="Google Shape;60;p1"/>
          <p:cNvPicPr preferRelativeResize="0"/>
          <p:nvPr/>
        </p:nvPicPr>
        <p:blipFill rotWithShape="1">
          <a:blip r:embed="rId4">
            <a:alphaModFix/>
          </a:blip>
          <a:srcRect b="0" l="0" r="0" t="0"/>
          <a:stretch/>
        </p:blipFill>
        <p:spPr>
          <a:xfrm>
            <a:off x="5344000" y="1105318"/>
            <a:ext cx="3114199" cy="5257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txBox="1"/>
          <p:nvPr>
            <p:ph type="title"/>
          </p:nvPr>
        </p:nvSpPr>
        <p:spPr>
          <a:xfrm>
            <a:off x="457200" y="1049177"/>
            <a:ext cx="8229600" cy="8037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lang="en-US"/>
              <a:t>Project Summary</a:t>
            </a:r>
            <a:endParaRPr/>
          </a:p>
        </p:txBody>
      </p:sp>
      <p:sp>
        <p:nvSpPr>
          <p:cNvPr id="66" name="Google Shape;66;p2"/>
          <p:cNvSpPr txBox="1"/>
          <p:nvPr>
            <p:ph idx="1" type="body"/>
          </p:nvPr>
        </p:nvSpPr>
        <p:spPr>
          <a:xfrm>
            <a:off x="457200" y="2049275"/>
            <a:ext cx="4532100" cy="46374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00000"/>
              </a:lnSpc>
              <a:spcBef>
                <a:spcPts val="0"/>
              </a:spcBef>
              <a:spcAft>
                <a:spcPts val="0"/>
              </a:spcAft>
              <a:buClr>
                <a:schemeClr val="dk1"/>
              </a:buClr>
              <a:buSzPts val="1800"/>
              <a:buFont typeface="Arial"/>
              <a:buNone/>
            </a:pPr>
            <a:r>
              <a:rPr lang="en-US" sz="1800"/>
              <a:t>Problem statement:</a:t>
            </a:r>
            <a:endParaRPr/>
          </a:p>
          <a:p>
            <a:pPr indent="0" lvl="0" marL="0" rtl="0" algn="l">
              <a:lnSpc>
                <a:spcPct val="100000"/>
              </a:lnSpc>
              <a:spcBef>
                <a:spcPts val="500"/>
              </a:spcBef>
              <a:spcAft>
                <a:spcPts val="0"/>
              </a:spcAft>
              <a:buNone/>
            </a:pPr>
            <a:r>
              <a:rPr lang="en-US" sz="1300"/>
              <a:t>Modern residential smart-home solutions are fragmented, relying on multiple standalone devices from different vendors that depend heavily on continuous power and cloud connectivity. During power outages or grid disturbances, these systems often fail to provide basic lighting and monitoring, leaving homeowners without reliable operation. Additionally, the cost, complexity, and maintenance burden of deploying and managing multiple independent systems create barriers to adoption, limit scalability, and may result in poor user experience.</a:t>
            </a:r>
            <a:endParaRPr sz="1300"/>
          </a:p>
          <a:p>
            <a:pPr indent="0" lvl="0" marL="342900" rtl="0" algn="l">
              <a:lnSpc>
                <a:spcPct val="100000"/>
              </a:lnSpc>
              <a:spcBef>
                <a:spcPts val="500"/>
              </a:spcBef>
              <a:spcAft>
                <a:spcPts val="0"/>
              </a:spcAft>
              <a:buClr>
                <a:schemeClr val="dk1"/>
              </a:buClr>
              <a:buSzPts val="1100"/>
              <a:buFont typeface="Arial"/>
              <a:buNone/>
            </a:pPr>
            <a:r>
              <a:t/>
            </a:r>
            <a:endParaRPr sz="1300"/>
          </a:p>
          <a:p>
            <a:pPr indent="0" lvl="0" marL="0" rtl="0" algn="l">
              <a:lnSpc>
                <a:spcPct val="100000"/>
              </a:lnSpc>
              <a:spcBef>
                <a:spcPts val="500"/>
              </a:spcBef>
              <a:spcAft>
                <a:spcPts val="0"/>
              </a:spcAft>
              <a:buClr>
                <a:schemeClr val="dk1"/>
              </a:buClr>
              <a:buSzPts val="1800"/>
              <a:buFont typeface="Arial"/>
              <a:buNone/>
            </a:pPr>
            <a:r>
              <a:rPr lang="en-US" sz="1800"/>
              <a:t>Our Solution:</a:t>
            </a:r>
            <a:endParaRPr/>
          </a:p>
          <a:p>
            <a:pPr indent="-247650" lvl="0" marL="342900" rtl="0" algn="l">
              <a:lnSpc>
                <a:spcPct val="100000"/>
              </a:lnSpc>
              <a:spcBef>
                <a:spcPts val="500"/>
              </a:spcBef>
              <a:spcAft>
                <a:spcPts val="0"/>
              </a:spcAft>
              <a:buSzPts val="1300"/>
              <a:buChar char="•"/>
            </a:pPr>
            <a:r>
              <a:rPr lang="en-US" sz="1300"/>
              <a:t>Combine security, lighting control, and user interaction into one coordinated platform</a:t>
            </a:r>
            <a:endParaRPr sz="1300"/>
          </a:p>
          <a:p>
            <a:pPr indent="-247650" lvl="0" marL="342900" rtl="0" algn="l">
              <a:lnSpc>
                <a:spcPct val="100000"/>
              </a:lnSpc>
              <a:spcBef>
                <a:spcPts val="500"/>
              </a:spcBef>
              <a:spcAft>
                <a:spcPts val="0"/>
              </a:spcAft>
              <a:buSzPts val="1300"/>
              <a:buChar char="•"/>
            </a:pPr>
            <a:r>
              <a:rPr lang="en-US" sz="1300"/>
              <a:t>Offer flexible controls, with both local and remote capabilities.</a:t>
            </a:r>
            <a:endParaRPr sz="1300"/>
          </a:p>
          <a:p>
            <a:pPr indent="-247650" lvl="0" marL="342900" rtl="0" algn="l">
              <a:lnSpc>
                <a:spcPct val="100000"/>
              </a:lnSpc>
              <a:spcBef>
                <a:spcPts val="500"/>
              </a:spcBef>
              <a:spcAft>
                <a:spcPts val="0"/>
              </a:spcAft>
              <a:buSzPts val="1300"/>
              <a:buChar char="•"/>
            </a:pPr>
            <a:r>
              <a:rPr lang="en-US" sz="1300"/>
              <a:t>Ensures the home remains safely lit and monitored regardless of grid fluctuations. </a:t>
            </a:r>
            <a:endParaRPr sz="1300"/>
          </a:p>
          <a:p>
            <a:pPr indent="0" lvl="0" marL="0" rtl="0" algn="l">
              <a:lnSpc>
                <a:spcPct val="100000"/>
              </a:lnSpc>
              <a:spcBef>
                <a:spcPts val="500"/>
              </a:spcBef>
              <a:spcAft>
                <a:spcPts val="0"/>
              </a:spcAft>
              <a:buClr>
                <a:schemeClr val="dk1"/>
              </a:buClr>
              <a:buSzPts val="1500"/>
              <a:buFont typeface="Arial"/>
              <a:buNone/>
            </a:pPr>
            <a:r>
              <a:t/>
            </a:r>
            <a:endParaRPr sz="1500"/>
          </a:p>
          <a:p>
            <a:pPr indent="0" lvl="0" marL="342900" rtl="0" algn="l">
              <a:lnSpc>
                <a:spcPct val="100000"/>
              </a:lnSpc>
              <a:spcBef>
                <a:spcPts val="640"/>
              </a:spcBef>
              <a:spcAft>
                <a:spcPts val="0"/>
              </a:spcAft>
              <a:buClr>
                <a:schemeClr val="dk1"/>
              </a:buClr>
              <a:buSzPts val="1100"/>
              <a:buFont typeface="Arial"/>
              <a:buNone/>
            </a:pPr>
            <a:r>
              <a:t/>
            </a:r>
            <a:endParaRPr/>
          </a:p>
          <a:p>
            <a:pPr indent="0" lvl="0" marL="342900" rtl="0" algn="l">
              <a:lnSpc>
                <a:spcPct val="80000"/>
              </a:lnSpc>
              <a:spcBef>
                <a:spcPts val="0"/>
              </a:spcBef>
              <a:spcAft>
                <a:spcPts val="0"/>
              </a:spcAft>
              <a:buSzPts val="1800"/>
              <a:buNone/>
            </a:pPr>
            <a:r>
              <a:t/>
            </a:r>
            <a:endParaRPr sz="2400"/>
          </a:p>
        </p:txBody>
      </p:sp>
      <p:pic>
        <p:nvPicPr>
          <p:cNvPr id="67" name="Google Shape;67;p2"/>
          <p:cNvPicPr preferRelativeResize="0"/>
          <p:nvPr/>
        </p:nvPicPr>
        <p:blipFill rotWithShape="1">
          <a:blip r:embed="rId3">
            <a:alphaModFix/>
          </a:blip>
          <a:srcRect b="0" l="0" r="0" t="10682"/>
          <a:stretch/>
        </p:blipFill>
        <p:spPr>
          <a:xfrm>
            <a:off x="5433550" y="2166075"/>
            <a:ext cx="3187624" cy="33758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txBox="1"/>
          <p:nvPr>
            <p:ph type="title"/>
          </p:nvPr>
        </p:nvSpPr>
        <p:spPr>
          <a:xfrm>
            <a:off x="457200" y="1049177"/>
            <a:ext cx="8229600" cy="803756"/>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lang="en-US"/>
              <a:t>System Overview</a:t>
            </a:r>
            <a:endParaRPr/>
          </a:p>
        </p:txBody>
      </p:sp>
      <p:sp>
        <p:nvSpPr>
          <p:cNvPr id="73" name="Google Shape;73;p3"/>
          <p:cNvSpPr/>
          <p:nvPr/>
        </p:nvSpPr>
        <p:spPr>
          <a:xfrm>
            <a:off x="686300" y="3930388"/>
            <a:ext cx="3281100" cy="1988100"/>
          </a:xfrm>
          <a:prstGeom prst="rect">
            <a:avLst/>
          </a:prstGeom>
          <a:noFill/>
          <a:ln cap="flat" cmpd="sng" w="21425">
            <a:solidFill>
              <a:srgbClr val="0000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4" name="Google Shape;74;p3"/>
          <p:cNvSpPr txBox="1"/>
          <p:nvPr/>
        </p:nvSpPr>
        <p:spPr>
          <a:xfrm>
            <a:off x="4904900" y="4545922"/>
            <a:ext cx="1600200" cy="2055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888888"/>
                </a:solidFill>
                <a:latin typeface="Arial"/>
                <a:ea typeface="Arial"/>
                <a:cs typeface="Arial"/>
                <a:sym typeface="Arial"/>
              </a:rPr>
              <a:t>‹#›</a:t>
            </a:fld>
            <a:endParaRPr b="0" i="0" sz="1200" u="none" cap="none" strike="noStrike">
              <a:solidFill>
                <a:srgbClr val="888888"/>
              </a:solidFill>
              <a:latin typeface="Arial"/>
              <a:ea typeface="Arial"/>
              <a:cs typeface="Arial"/>
              <a:sym typeface="Arial"/>
            </a:endParaRPr>
          </a:p>
        </p:txBody>
      </p:sp>
      <p:cxnSp>
        <p:nvCxnSpPr>
          <p:cNvPr id="75" name="Google Shape;75;p3"/>
          <p:cNvCxnSpPr/>
          <p:nvPr/>
        </p:nvCxnSpPr>
        <p:spPr>
          <a:xfrm>
            <a:off x="6629656" y="2938278"/>
            <a:ext cx="8700" cy="1469700"/>
          </a:xfrm>
          <a:prstGeom prst="straightConnector1">
            <a:avLst/>
          </a:prstGeom>
          <a:noFill/>
          <a:ln cap="flat" cmpd="sng" w="14300">
            <a:solidFill>
              <a:srgbClr val="1F497D"/>
            </a:solidFill>
            <a:prstDash val="dash"/>
            <a:round/>
            <a:headEnd len="sm" w="sm" type="none"/>
            <a:tailEnd len="sm" w="sm" type="none"/>
          </a:ln>
        </p:spPr>
      </p:cxnSp>
      <p:sp>
        <p:nvSpPr>
          <p:cNvPr id="76" name="Google Shape;76;p3"/>
          <p:cNvSpPr/>
          <p:nvPr/>
        </p:nvSpPr>
        <p:spPr>
          <a:xfrm>
            <a:off x="1541356" y="3268381"/>
            <a:ext cx="976200" cy="2532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7" name="Google Shape;77;p3"/>
          <p:cNvSpPr/>
          <p:nvPr/>
        </p:nvSpPr>
        <p:spPr>
          <a:xfrm>
            <a:off x="2275700" y="4844524"/>
            <a:ext cx="680400" cy="2382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8" name="Google Shape;78;p3"/>
          <p:cNvSpPr/>
          <p:nvPr/>
        </p:nvSpPr>
        <p:spPr>
          <a:xfrm>
            <a:off x="2367619" y="4192131"/>
            <a:ext cx="976200" cy="2532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9" name="Google Shape;79;p3"/>
          <p:cNvSpPr/>
          <p:nvPr/>
        </p:nvSpPr>
        <p:spPr>
          <a:xfrm>
            <a:off x="5186638" y="2370885"/>
            <a:ext cx="3103800" cy="1443300"/>
          </a:xfrm>
          <a:prstGeom prst="rect">
            <a:avLst/>
          </a:prstGeom>
          <a:noFill/>
          <a:ln cap="flat" cmpd="sng" w="21425">
            <a:solidFill>
              <a:srgbClr val="6AA84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 name="Google Shape;80;p3"/>
          <p:cNvSpPr/>
          <p:nvPr/>
        </p:nvSpPr>
        <p:spPr>
          <a:xfrm>
            <a:off x="686300" y="2398728"/>
            <a:ext cx="3103800" cy="1258500"/>
          </a:xfrm>
          <a:prstGeom prst="rect">
            <a:avLst/>
          </a:prstGeom>
          <a:noFill/>
          <a:ln cap="flat" cmpd="sng" w="21425">
            <a:solidFill>
              <a:srgbClr val="FF0000"/>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1" name="Google Shape;81;p3"/>
          <p:cNvSpPr/>
          <p:nvPr/>
        </p:nvSpPr>
        <p:spPr>
          <a:xfrm>
            <a:off x="5036863" y="4339606"/>
            <a:ext cx="3103800" cy="1354500"/>
          </a:xfrm>
          <a:prstGeom prst="rect">
            <a:avLst/>
          </a:prstGeom>
          <a:noFill/>
          <a:ln cap="flat" cmpd="sng" w="21425">
            <a:solidFill>
              <a:srgbClr val="FF00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2" name="Google Shape;82;p3"/>
          <p:cNvSpPr txBox="1"/>
          <p:nvPr/>
        </p:nvSpPr>
        <p:spPr>
          <a:xfrm>
            <a:off x="1097565" y="2161270"/>
            <a:ext cx="1242000" cy="3144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Adam Garcia</a:t>
            </a:r>
            <a:endParaRPr b="0" i="0" sz="1100" u="none" cap="none" strike="noStrike">
              <a:solidFill>
                <a:srgbClr val="000000"/>
              </a:solidFill>
              <a:latin typeface="Arial"/>
              <a:ea typeface="Arial"/>
              <a:cs typeface="Arial"/>
              <a:sym typeface="Arial"/>
            </a:endParaRPr>
          </a:p>
        </p:txBody>
      </p:sp>
      <p:sp>
        <p:nvSpPr>
          <p:cNvPr id="83" name="Google Shape;83;p3"/>
          <p:cNvSpPr txBox="1"/>
          <p:nvPr/>
        </p:nvSpPr>
        <p:spPr>
          <a:xfrm>
            <a:off x="933137" y="3657163"/>
            <a:ext cx="1242000" cy="3144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Jack Holdridge</a:t>
            </a:r>
            <a:endParaRPr b="0" i="0" sz="1100" u="none" cap="none" strike="noStrike">
              <a:solidFill>
                <a:srgbClr val="000000"/>
              </a:solidFill>
              <a:latin typeface="Arial"/>
              <a:ea typeface="Arial"/>
              <a:cs typeface="Arial"/>
              <a:sym typeface="Arial"/>
            </a:endParaRPr>
          </a:p>
        </p:txBody>
      </p:sp>
      <p:sp>
        <p:nvSpPr>
          <p:cNvPr id="84" name="Google Shape;84;p3"/>
          <p:cNvSpPr txBox="1"/>
          <p:nvPr/>
        </p:nvSpPr>
        <p:spPr>
          <a:xfrm>
            <a:off x="6683979" y="1908035"/>
            <a:ext cx="1242000" cy="3144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Kyle Walcher</a:t>
            </a:r>
            <a:endParaRPr b="0" i="0" sz="1100" u="none" cap="none" strike="noStrike">
              <a:solidFill>
                <a:srgbClr val="000000"/>
              </a:solidFill>
              <a:latin typeface="Arial"/>
              <a:ea typeface="Arial"/>
              <a:cs typeface="Arial"/>
              <a:sym typeface="Arial"/>
            </a:endParaRPr>
          </a:p>
        </p:txBody>
      </p:sp>
      <p:sp>
        <p:nvSpPr>
          <p:cNvPr id="85" name="Google Shape;85;p3"/>
          <p:cNvSpPr txBox="1"/>
          <p:nvPr/>
        </p:nvSpPr>
        <p:spPr>
          <a:xfrm>
            <a:off x="7238647" y="3962772"/>
            <a:ext cx="1242000" cy="3144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Matthew Greer</a:t>
            </a:r>
            <a:endParaRPr b="0" i="0" sz="1100" u="none" cap="none" strike="noStrike">
              <a:solidFill>
                <a:srgbClr val="000000"/>
              </a:solidFill>
              <a:latin typeface="Arial"/>
              <a:ea typeface="Arial"/>
              <a:cs typeface="Arial"/>
              <a:sym typeface="Arial"/>
            </a:endParaRPr>
          </a:p>
        </p:txBody>
      </p:sp>
      <p:sp>
        <p:nvSpPr>
          <p:cNvPr id="86" name="Google Shape;86;p3"/>
          <p:cNvSpPr/>
          <p:nvPr/>
        </p:nvSpPr>
        <p:spPr>
          <a:xfrm>
            <a:off x="686300" y="4286341"/>
            <a:ext cx="1553100" cy="2739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7" name="Google Shape;87;p3"/>
          <p:cNvSpPr/>
          <p:nvPr/>
        </p:nvSpPr>
        <p:spPr>
          <a:xfrm>
            <a:off x="733447" y="5326409"/>
            <a:ext cx="872700" cy="4677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8" name="Google Shape;88;p3"/>
          <p:cNvSpPr/>
          <p:nvPr/>
        </p:nvSpPr>
        <p:spPr>
          <a:xfrm>
            <a:off x="1115975" y="4834166"/>
            <a:ext cx="976200" cy="2532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9" name="Google Shape;89;p3"/>
          <p:cNvSpPr txBox="1"/>
          <p:nvPr/>
        </p:nvSpPr>
        <p:spPr>
          <a:xfrm>
            <a:off x="1097563" y="4834156"/>
            <a:ext cx="1013100" cy="273900"/>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Touch screen HMI</a:t>
            </a:r>
            <a:endParaRPr b="0" i="0" sz="800" u="none" cap="none" strike="noStrike">
              <a:solidFill>
                <a:srgbClr val="000000"/>
              </a:solidFill>
              <a:latin typeface="Arial"/>
              <a:ea typeface="Arial"/>
              <a:cs typeface="Arial"/>
              <a:sym typeface="Arial"/>
            </a:endParaRPr>
          </a:p>
        </p:txBody>
      </p:sp>
      <p:sp>
        <p:nvSpPr>
          <p:cNvPr id="90" name="Google Shape;90;p3"/>
          <p:cNvSpPr txBox="1"/>
          <p:nvPr/>
        </p:nvSpPr>
        <p:spPr>
          <a:xfrm>
            <a:off x="2257363" y="4834156"/>
            <a:ext cx="652200" cy="273900"/>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ESP32</a:t>
            </a:r>
            <a:endParaRPr b="0" i="0" sz="800" u="none" cap="none" strike="noStrike">
              <a:solidFill>
                <a:srgbClr val="000000"/>
              </a:solidFill>
              <a:latin typeface="Arial"/>
              <a:ea typeface="Arial"/>
              <a:cs typeface="Arial"/>
              <a:sym typeface="Arial"/>
            </a:endParaRPr>
          </a:p>
        </p:txBody>
      </p:sp>
      <p:sp>
        <p:nvSpPr>
          <p:cNvPr id="91" name="Google Shape;91;p3"/>
          <p:cNvSpPr txBox="1"/>
          <p:nvPr/>
        </p:nvSpPr>
        <p:spPr>
          <a:xfrm>
            <a:off x="709250" y="4266063"/>
            <a:ext cx="1507200" cy="314400"/>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12v Buck Boost DC converter</a:t>
            </a:r>
            <a:endParaRPr b="0" i="0" sz="800" u="none" cap="none" strike="noStrike">
              <a:solidFill>
                <a:srgbClr val="000000"/>
              </a:solidFill>
              <a:latin typeface="Arial"/>
              <a:ea typeface="Arial"/>
              <a:cs typeface="Arial"/>
              <a:sym typeface="Arial"/>
            </a:endParaRPr>
          </a:p>
        </p:txBody>
      </p:sp>
      <p:sp>
        <p:nvSpPr>
          <p:cNvPr id="92" name="Google Shape;92;p3"/>
          <p:cNvSpPr txBox="1"/>
          <p:nvPr/>
        </p:nvSpPr>
        <p:spPr>
          <a:xfrm>
            <a:off x="663359" y="5382453"/>
            <a:ext cx="1013100" cy="273900"/>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Relay board and LED Lights</a:t>
            </a:r>
            <a:endParaRPr b="0" i="0" sz="800" u="none" cap="none" strike="noStrike">
              <a:solidFill>
                <a:srgbClr val="000000"/>
              </a:solidFill>
              <a:latin typeface="Arial"/>
              <a:ea typeface="Arial"/>
              <a:cs typeface="Arial"/>
              <a:sym typeface="Arial"/>
            </a:endParaRPr>
          </a:p>
        </p:txBody>
      </p:sp>
      <p:sp>
        <p:nvSpPr>
          <p:cNvPr id="93" name="Google Shape;93;p3"/>
          <p:cNvSpPr/>
          <p:nvPr/>
        </p:nvSpPr>
        <p:spPr>
          <a:xfrm>
            <a:off x="5301161" y="3250709"/>
            <a:ext cx="1013100" cy="4677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4" name="Google Shape;94;p3"/>
          <p:cNvSpPr txBox="1"/>
          <p:nvPr/>
        </p:nvSpPr>
        <p:spPr>
          <a:xfrm>
            <a:off x="2310619" y="4171419"/>
            <a:ext cx="1090200" cy="273900"/>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3.3v Buck Converter</a:t>
            </a:r>
            <a:endParaRPr b="0" i="0" sz="800" u="none" cap="none" strike="noStrike">
              <a:solidFill>
                <a:srgbClr val="000000"/>
              </a:solidFill>
              <a:latin typeface="Arial"/>
              <a:ea typeface="Arial"/>
              <a:cs typeface="Arial"/>
              <a:sym typeface="Arial"/>
            </a:endParaRPr>
          </a:p>
        </p:txBody>
      </p:sp>
      <p:sp>
        <p:nvSpPr>
          <p:cNvPr id="95" name="Google Shape;95;p3"/>
          <p:cNvSpPr txBox="1"/>
          <p:nvPr/>
        </p:nvSpPr>
        <p:spPr>
          <a:xfrm>
            <a:off x="5301162" y="3347563"/>
            <a:ext cx="1013100" cy="273900"/>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ESP32-WROVER</a:t>
            </a:r>
            <a:endParaRPr b="0" i="0" sz="800" u="none" cap="none" strike="noStrike">
              <a:solidFill>
                <a:srgbClr val="000000"/>
              </a:solidFill>
              <a:latin typeface="Arial"/>
              <a:ea typeface="Arial"/>
              <a:cs typeface="Arial"/>
              <a:sym typeface="Arial"/>
            </a:endParaRPr>
          </a:p>
        </p:txBody>
      </p:sp>
      <p:sp>
        <p:nvSpPr>
          <p:cNvPr id="96" name="Google Shape;96;p3"/>
          <p:cNvSpPr txBox="1"/>
          <p:nvPr/>
        </p:nvSpPr>
        <p:spPr>
          <a:xfrm>
            <a:off x="6254866" y="2599622"/>
            <a:ext cx="1090200" cy="273900"/>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3.3v Buck Converteri</a:t>
            </a:r>
            <a:endParaRPr b="0" i="0" sz="800" u="none" cap="none" strike="noStrike">
              <a:solidFill>
                <a:srgbClr val="000000"/>
              </a:solidFill>
              <a:latin typeface="Arial"/>
              <a:ea typeface="Arial"/>
              <a:cs typeface="Arial"/>
              <a:sym typeface="Arial"/>
            </a:endParaRPr>
          </a:p>
        </p:txBody>
      </p:sp>
      <p:sp>
        <p:nvSpPr>
          <p:cNvPr id="97" name="Google Shape;97;p3"/>
          <p:cNvSpPr/>
          <p:nvPr/>
        </p:nvSpPr>
        <p:spPr>
          <a:xfrm>
            <a:off x="6040743" y="2502763"/>
            <a:ext cx="1197900" cy="4677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Android Application</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(Kotlin/Java)</a:t>
            </a:r>
            <a:endParaRPr b="0" i="0" sz="1100" u="none" cap="none" strike="noStrike">
              <a:solidFill>
                <a:srgbClr val="000000"/>
              </a:solidFill>
              <a:latin typeface="Arial"/>
              <a:ea typeface="Arial"/>
              <a:cs typeface="Arial"/>
              <a:sym typeface="Arial"/>
            </a:endParaRPr>
          </a:p>
        </p:txBody>
      </p:sp>
      <p:cxnSp>
        <p:nvCxnSpPr>
          <p:cNvPr id="98" name="Google Shape;98;p3"/>
          <p:cNvCxnSpPr>
            <a:stCxn id="89" idx="3"/>
            <a:endCxn id="90" idx="1"/>
          </p:cNvCxnSpPr>
          <p:nvPr/>
        </p:nvCxnSpPr>
        <p:spPr>
          <a:xfrm>
            <a:off x="2110663" y="4971106"/>
            <a:ext cx="146700" cy="0"/>
          </a:xfrm>
          <a:prstGeom prst="straightConnector1">
            <a:avLst/>
          </a:prstGeom>
          <a:noFill/>
          <a:ln cap="flat" cmpd="sng" w="21425">
            <a:solidFill>
              <a:srgbClr val="000000"/>
            </a:solidFill>
            <a:prstDash val="solid"/>
            <a:round/>
            <a:headEnd len="sm" w="sm" type="none"/>
            <a:tailEnd len="sm" w="sm" type="none"/>
          </a:ln>
        </p:spPr>
      </p:cxnSp>
      <p:cxnSp>
        <p:nvCxnSpPr>
          <p:cNvPr id="99" name="Google Shape;99;p3"/>
          <p:cNvCxnSpPr>
            <a:stCxn id="94" idx="2"/>
            <a:endCxn id="90" idx="0"/>
          </p:cNvCxnSpPr>
          <p:nvPr/>
        </p:nvCxnSpPr>
        <p:spPr>
          <a:xfrm flipH="1">
            <a:off x="2583319" y="4445319"/>
            <a:ext cx="272400" cy="388800"/>
          </a:xfrm>
          <a:prstGeom prst="straightConnector1">
            <a:avLst/>
          </a:prstGeom>
          <a:noFill/>
          <a:ln cap="flat" cmpd="sng" w="21425">
            <a:solidFill>
              <a:srgbClr val="000000"/>
            </a:solidFill>
            <a:prstDash val="solid"/>
            <a:round/>
            <a:headEnd len="sm" w="sm" type="none"/>
            <a:tailEnd len="sm" w="sm" type="none"/>
          </a:ln>
        </p:spPr>
      </p:cxnSp>
      <p:cxnSp>
        <p:nvCxnSpPr>
          <p:cNvPr id="100" name="Google Shape;100;p3"/>
          <p:cNvCxnSpPr/>
          <p:nvPr/>
        </p:nvCxnSpPr>
        <p:spPr>
          <a:xfrm>
            <a:off x="3391522" y="5087300"/>
            <a:ext cx="9300" cy="465900"/>
          </a:xfrm>
          <a:prstGeom prst="straightConnector1">
            <a:avLst/>
          </a:prstGeom>
          <a:noFill/>
          <a:ln cap="flat" cmpd="sng" w="21425">
            <a:solidFill>
              <a:srgbClr val="000000"/>
            </a:solidFill>
            <a:prstDash val="solid"/>
            <a:round/>
            <a:headEnd len="sm" w="sm" type="none"/>
            <a:tailEnd len="sm" w="sm" type="none"/>
          </a:ln>
        </p:spPr>
      </p:cxnSp>
      <p:cxnSp>
        <p:nvCxnSpPr>
          <p:cNvPr id="101" name="Google Shape;101;p3"/>
          <p:cNvCxnSpPr/>
          <p:nvPr/>
        </p:nvCxnSpPr>
        <p:spPr>
          <a:xfrm flipH="1">
            <a:off x="1604300" y="5555375"/>
            <a:ext cx="1804500" cy="7500"/>
          </a:xfrm>
          <a:prstGeom prst="straightConnector1">
            <a:avLst/>
          </a:prstGeom>
          <a:noFill/>
          <a:ln cap="flat" cmpd="sng" w="21425">
            <a:solidFill>
              <a:srgbClr val="000000"/>
            </a:solidFill>
            <a:prstDash val="solid"/>
            <a:round/>
            <a:headEnd len="sm" w="sm" type="none"/>
            <a:tailEnd len="sm" w="sm" type="none"/>
          </a:ln>
        </p:spPr>
      </p:cxnSp>
      <p:sp>
        <p:nvSpPr>
          <p:cNvPr id="102" name="Google Shape;102;p3"/>
          <p:cNvSpPr/>
          <p:nvPr/>
        </p:nvSpPr>
        <p:spPr>
          <a:xfrm>
            <a:off x="6954311" y="3250691"/>
            <a:ext cx="1197900" cy="4677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OpenAI/Python Flask Server</a:t>
            </a:r>
            <a:endParaRPr b="0" i="0" sz="1100" u="none" cap="none" strike="noStrike">
              <a:solidFill>
                <a:srgbClr val="000000"/>
              </a:solidFill>
              <a:latin typeface="Arial"/>
              <a:ea typeface="Arial"/>
              <a:cs typeface="Arial"/>
              <a:sym typeface="Arial"/>
            </a:endParaRPr>
          </a:p>
        </p:txBody>
      </p:sp>
      <p:cxnSp>
        <p:nvCxnSpPr>
          <p:cNvPr id="103" name="Google Shape;103;p3"/>
          <p:cNvCxnSpPr/>
          <p:nvPr/>
        </p:nvCxnSpPr>
        <p:spPr>
          <a:xfrm rot="10800000">
            <a:off x="2029494" y="3510791"/>
            <a:ext cx="0" cy="501600"/>
          </a:xfrm>
          <a:prstGeom prst="straightConnector1">
            <a:avLst/>
          </a:prstGeom>
          <a:noFill/>
          <a:ln cap="flat" cmpd="sng" w="28575">
            <a:solidFill>
              <a:srgbClr val="000000"/>
            </a:solidFill>
            <a:prstDash val="solid"/>
            <a:round/>
            <a:headEnd len="sm" w="sm" type="none"/>
            <a:tailEnd len="sm" w="sm" type="none"/>
          </a:ln>
        </p:spPr>
      </p:cxnSp>
      <p:cxnSp>
        <p:nvCxnSpPr>
          <p:cNvPr id="104" name="Google Shape;104;p3"/>
          <p:cNvCxnSpPr/>
          <p:nvPr/>
        </p:nvCxnSpPr>
        <p:spPr>
          <a:xfrm>
            <a:off x="5718059" y="2692583"/>
            <a:ext cx="9000" cy="479100"/>
          </a:xfrm>
          <a:prstGeom prst="straightConnector1">
            <a:avLst/>
          </a:prstGeom>
          <a:noFill/>
          <a:ln cap="flat" cmpd="sng" w="14300">
            <a:solidFill>
              <a:srgbClr val="1F497D"/>
            </a:solidFill>
            <a:prstDash val="dash"/>
            <a:round/>
            <a:headEnd len="sm" w="sm" type="none"/>
            <a:tailEnd len="sm" w="sm" type="none"/>
          </a:ln>
        </p:spPr>
      </p:cxnSp>
      <p:sp>
        <p:nvSpPr>
          <p:cNvPr id="105" name="Google Shape;105;p3"/>
          <p:cNvSpPr txBox="1"/>
          <p:nvPr/>
        </p:nvSpPr>
        <p:spPr>
          <a:xfrm>
            <a:off x="1484431" y="3191469"/>
            <a:ext cx="1090200" cy="273900"/>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12v deep cycle battery</a:t>
            </a:r>
            <a:endParaRPr b="0" i="0" sz="800" u="none" cap="none" strike="noStrike">
              <a:solidFill>
                <a:srgbClr val="000000"/>
              </a:solidFill>
              <a:latin typeface="Arial"/>
              <a:ea typeface="Arial"/>
              <a:cs typeface="Arial"/>
              <a:sym typeface="Arial"/>
            </a:endParaRPr>
          </a:p>
        </p:txBody>
      </p:sp>
      <p:sp>
        <p:nvSpPr>
          <p:cNvPr id="106" name="Google Shape;106;p3"/>
          <p:cNvSpPr/>
          <p:nvPr/>
        </p:nvSpPr>
        <p:spPr>
          <a:xfrm>
            <a:off x="5152513" y="4673778"/>
            <a:ext cx="1172100" cy="3156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7" name="Google Shape;107;p3"/>
          <p:cNvSpPr txBox="1"/>
          <p:nvPr/>
        </p:nvSpPr>
        <p:spPr>
          <a:xfrm>
            <a:off x="5186638" y="4695247"/>
            <a:ext cx="1172100" cy="238200"/>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rPr b="0" i="0" lang="en-US" sz="1100" u="none" cap="none" strike="noStrike">
                <a:solidFill>
                  <a:srgbClr val="000000"/>
                </a:solidFill>
                <a:latin typeface="Arial"/>
                <a:ea typeface="Arial"/>
                <a:cs typeface="Arial"/>
                <a:sym typeface="Arial"/>
              </a:rPr>
              <a:t>MCU</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cxnSp>
        <p:nvCxnSpPr>
          <p:cNvPr id="108" name="Google Shape;108;p3"/>
          <p:cNvCxnSpPr/>
          <p:nvPr/>
        </p:nvCxnSpPr>
        <p:spPr>
          <a:xfrm>
            <a:off x="2044875" y="3989750"/>
            <a:ext cx="804900" cy="188100"/>
          </a:xfrm>
          <a:prstGeom prst="straightConnector1">
            <a:avLst/>
          </a:prstGeom>
          <a:noFill/>
          <a:ln cap="flat" cmpd="sng" w="21425">
            <a:solidFill>
              <a:srgbClr val="000000"/>
            </a:solidFill>
            <a:prstDash val="solid"/>
            <a:round/>
            <a:headEnd len="sm" w="sm" type="none"/>
            <a:tailEnd len="sm" w="sm" type="none"/>
          </a:ln>
        </p:spPr>
      </p:cxnSp>
      <p:cxnSp>
        <p:nvCxnSpPr>
          <p:cNvPr id="109" name="Google Shape;109;p3"/>
          <p:cNvCxnSpPr/>
          <p:nvPr/>
        </p:nvCxnSpPr>
        <p:spPr>
          <a:xfrm flipH="1" rot="10800000">
            <a:off x="5728169" y="2663899"/>
            <a:ext cx="312300" cy="4200"/>
          </a:xfrm>
          <a:prstGeom prst="straightConnector1">
            <a:avLst/>
          </a:prstGeom>
          <a:noFill/>
          <a:ln cap="flat" cmpd="sng" w="14300">
            <a:solidFill>
              <a:srgbClr val="1F497D"/>
            </a:solidFill>
            <a:prstDash val="dash"/>
            <a:round/>
            <a:headEnd len="sm" w="sm" type="none"/>
            <a:tailEnd len="sm" w="sm" type="none"/>
          </a:ln>
        </p:spPr>
      </p:cxnSp>
      <p:sp>
        <p:nvSpPr>
          <p:cNvPr id="110" name="Google Shape;110;p3"/>
          <p:cNvSpPr/>
          <p:nvPr/>
        </p:nvSpPr>
        <p:spPr>
          <a:xfrm>
            <a:off x="6683975" y="4675203"/>
            <a:ext cx="1367700" cy="3144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Database</a:t>
            </a:r>
            <a:endParaRPr b="0" i="0" sz="1100" u="none" cap="none" strike="noStrike">
              <a:solidFill>
                <a:srgbClr val="000000"/>
              </a:solidFill>
              <a:latin typeface="Arial"/>
              <a:ea typeface="Arial"/>
              <a:cs typeface="Arial"/>
              <a:sym typeface="Arial"/>
            </a:endParaRPr>
          </a:p>
        </p:txBody>
      </p:sp>
      <p:cxnSp>
        <p:nvCxnSpPr>
          <p:cNvPr id="111" name="Google Shape;111;p3"/>
          <p:cNvCxnSpPr/>
          <p:nvPr/>
        </p:nvCxnSpPr>
        <p:spPr>
          <a:xfrm>
            <a:off x="7690332" y="2692583"/>
            <a:ext cx="9000" cy="479100"/>
          </a:xfrm>
          <a:prstGeom prst="straightConnector1">
            <a:avLst/>
          </a:prstGeom>
          <a:noFill/>
          <a:ln cap="flat" cmpd="sng" w="14300">
            <a:solidFill>
              <a:srgbClr val="1F497D"/>
            </a:solidFill>
            <a:prstDash val="dash"/>
            <a:round/>
            <a:headEnd len="sm" w="sm" type="none"/>
            <a:tailEnd len="sm" w="sm" type="none"/>
          </a:ln>
        </p:spPr>
      </p:cxnSp>
      <p:cxnSp>
        <p:nvCxnSpPr>
          <p:cNvPr id="112" name="Google Shape;112;p3"/>
          <p:cNvCxnSpPr/>
          <p:nvPr/>
        </p:nvCxnSpPr>
        <p:spPr>
          <a:xfrm>
            <a:off x="7288563" y="2655911"/>
            <a:ext cx="373500" cy="5700"/>
          </a:xfrm>
          <a:prstGeom prst="straightConnector1">
            <a:avLst/>
          </a:prstGeom>
          <a:noFill/>
          <a:ln cap="flat" cmpd="sng" w="14300">
            <a:solidFill>
              <a:srgbClr val="1F497D"/>
            </a:solidFill>
            <a:prstDash val="dash"/>
            <a:round/>
            <a:headEnd len="sm" w="sm" type="none"/>
            <a:tailEnd len="sm" w="sm" type="none"/>
          </a:ln>
        </p:spPr>
      </p:cxnSp>
      <p:cxnSp>
        <p:nvCxnSpPr>
          <p:cNvPr id="113" name="Google Shape;113;p3"/>
          <p:cNvCxnSpPr/>
          <p:nvPr/>
        </p:nvCxnSpPr>
        <p:spPr>
          <a:xfrm>
            <a:off x="5684300" y="3818169"/>
            <a:ext cx="11400" cy="777300"/>
          </a:xfrm>
          <a:prstGeom prst="straightConnector1">
            <a:avLst/>
          </a:prstGeom>
          <a:noFill/>
          <a:ln cap="flat" cmpd="sng" w="14300">
            <a:solidFill>
              <a:srgbClr val="1F497D"/>
            </a:solidFill>
            <a:prstDash val="dash"/>
            <a:round/>
            <a:headEnd len="sm" w="sm" type="none"/>
            <a:tailEnd len="sm" w="sm" type="none"/>
          </a:ln>
        </p:spPr>
      </p:cxnSp>
      <p:sp>
        <p:nvSpPr>
          <p:cNvPr id="114" name="Google Shape;114;p3"/>
          <p:cNvSpPr/>
          <p:nvPr/>
        </p:nvSpPr>
        <p:spPr>
          <a:xfrm>
            <a:off x="805288" y="2565284"/>
            <a:ext cx="976200" cy="2532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Solar panel</a:t>
            </a:r>
            <a:endParaRPr b="0" i="0" sz="800" u="none" cap="none" strike="noStrike">
              <a:solidFill>
                <a:srgbClr val="000000"/>
              </a:solidFill>
              <a:latin typeface="Arial"/>
              <a:ea typeface="Arial"/>
              <a:cs typeface="Arial"/>
              <a:sym typeface="Arial"/>
            </a:endParaRPr>
          </a:p>
        </p:txBody>
      </p:sp>
      <p:sp>
        <p:nvSpPr>
          <p:cNvPr id="115" name="Google Shape;115;p3"/>
          <p:cNvSpPr/>
          <p:nvPr/>
        </p:nvSpPr>
        <p:spPr>
          <a:xfrm>
            <a:off x="2462075" y="2565284"/>
            <a:ext cx="1013100" cy="2532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MPPT charge controller</a:t>
            </a:r>
            <a:endParaRPr b="0" i="0" sz="800" u="none" cap="none" strike="noStrike">
              <a:solidFill>
                <a:srgbClr val="000000"/>
              </a:solidFill>
              <a:latin typeface="Arial"/>
              <a:ea typeface="Arial"/>
              <a:cs typeface="Arial"/>
              <a:sym typeface="Arial"/>
            </a:endParaRPr>
          </a:p>
        </p:txBody>
      </p:sp>
      <p:cxnSp>
        <p:nvCxnSpPr>
          <p:cNvPr id="116" name="Google Shape;116;p3"/>
          <p:cNvCxnSpPr>
            <a:stCxn id="115" idx="1"/>
            <a:endCxn id="114" idx="3"/>
          </p:cNvCxnSpPr>
          <p:nvPr/>
        </p:nvCxnSpPr>
        <p:spPr>
          <a:xfrm rot="10800000">
            <a:off x="1781375" y="2691884"/>
            <a:ext cx="680700" cy="0"/>
          </a:xfrm>
          <a:prstGeom prst="straightConnector1">
            <a:avLst/>
          </a:prstGeom>
          <a:noFill/>
          <a:ln cap="flat" cmpd="sng" w="28575">
            <a:solidFill>
              <a:srgbClr val="000000"/>
            </a:solidFill>
            <a:prstDash val="solid"/>
            <a:round/>
            <a:headEnd len="sm" w="sm" type="none"/>
            <a:tailEnd len="sm" w="sm" type="none"/>
          </a:ln>
        </p:spPr>
      </p:cxnSp>
      <p:cxnSp>
        <p:nvCxnSpPr>
          <p:cNvPr id="117" name="Google Shape;117;p3"/>
          <p:cNvCxnSpPr>
            <a:endCxn id="115" idx="2"/>
          </p:cNvCxnSpPr>
          <p:nvPr/>
        </p:nvCxnSpPr>
        <p:spPr>
          <a:xfrm rot="10800000">
            <a:off x="2968625" y="2818484"/>
            <a:ext cx="4200" cy="213300"/>
          </a:xfrm>
          <a:prstGeom prst="straightConnector1">
            <a:avLst/>
          </a:prstGeom>
          <a:noFill/>
          <a:ln cap="flat" cmpd="sng" w="28575">
            <a:solidFill>
              <a:srgbClr val="000000"/>
            </a:solidFill>
            <a:prstDash val="solid"/>
            <a:round/>
            <a:headEnd len="sm" w="sm" type="none"/>
            <a:tailEnd len="sm" w="sm" type="none"/>
          </a:ln>
        </p:spPr>
      </p:cxnSp>
      <p:cxnSp>
        <p:nvCxnSpPr>
          <p:cNvPr id="118" name="Google Shape;118;p3"/>
          <p:cNvCxnSpPr/>
          <p:nvPr/>
        </p:nvCxnSpPr>
        <p:spPr>
          <a:xfrm rot="10800000">
            <a:off x="2007950" y="3021172"/>
            <a:ext cx="972900" cy="5700"/>
          </a:xfrm>
          <a:prstGeom prst="straightConnector1">
            <a:avLst/>
          </a:prstGeom>
          <a:noFill/>
          <a:ln cap="flat" cmpd="sng" w="28575">
            <a:solidFill>
              <a:srgbClr val="000000"/>
            </a:solidFill>
            <a:prstDash val="solid"/>
            <a:round/>
            <a:headEnd len="sm" w="sm" type="none"/>
            <a:tailEnd len="sm" w="sm" type="none"/>
          </a:ln>
        </p:spPr>
      </p:cxnSp>
      <p:cxnSp>
        <p:nvCxnSpPr>
          <p:cNvPr id="119" name="Google Shape;119;p3"/>
          <p:cNvCxnSpPr/>
          <p:nvPr/>
        </p:nvCxnSpPr>
        <p:spPr>
          <a:xfrm rot="10800000">
            <a:off x="2017044" y="3021622"/>
            <a:ext cx="1800" cy="238200"/>
          </a:xfrm>
          <a:prstGeom prst="straightConnector1">
            <a:avLst/>
          </a:prstGeom>
          <a:noFill/>
          <a:ln cap="flat" cmpd="sng" w="28575">
            <a:solidFill>
              <a:srgbClr val="000000"/>
            </a:solidFill>
            <a:prstDash val="solid"/>
            <a:round/>
            <a:headEnd len="sm" w="sm" type="none"/>
            <a:tailEnd len="sm" w="sm" type="none"/>
          </a:ln>
        </p:spPr>
      </p:cxnSp>
      <p:cxnSp>
        <p:nvCxnSpPr>
          <p:cNvPr id="120" name="Google Shape;120;p3"/>
          <p:cNvCxnSpPr/>
          <p:nvPr/>
        </p:nvCxnSpPr>
        <p:spPr>
          <a:xfrm flipH="1">
            <a:off x="1507600" y="4575975"/>
            <a:ext cx="1500" cy="166800"/>
          </a:xfrm>
          <a:prstGeom prst="straightConnector1">
            <a:avLst/>
          </a:prstGeom>
          <a:noFill/>
          <a:ln cap="flat" cmpd="sng" w="21425">
            <a:solidFill>
              <a:srgbClr val="000000"/>
            </a:solidFill>
            <a:prstDash val="solid"/>
            <a:round/>
            <a:headEnd len="sm" w="sm" type="none"/>
            <a:tailEnd len="sm" w="sm" type="none"/>
          </a:ln>
        </p:spPr>
      </p:cxnSp>
      <p:cxnSp>
        <p:nvCxnSpPr>
          <p:cNvPr id="121" name="Google Shape;121;p3"/>
          <p:cNvCxnSpPr/>
          <p:nvPr/>
        </p:nvCxnSpPr>
        <p:spPr>
          <a:xfrm>
            <a:off x="947769" y="4742759"/>
            <a:ext cx="3000" cy="583800"/>
          </a:xfrm>
          <a:prstGeom prst="straightConnector1">
            <a:avLst/>
          </a:prstGeom>
          <a:noFill/>
          <a:ln cap="flat" cmpd="sng" w="21425">
            <a:solidFill>
              <a:srgbClr val="000000"/>
            </a:solidFill>
            <a:prstDash val="solid"/>
            <a:round/>
            <a:headEnd len="sm" w="sm" type="none"/>
            <a:tailEnd len="sm" w="sm" type="none"/>
          </a:ln>
        </p:spPr>
      </p:cxnSp>
      <p:cxnSp>
        <p:nvCxnSpPr>
          <p:cNvPr id="122" name="Google Shape;122;p3"/>
          <p:cNvCxnSpPr/>
          <p:nvPr/>
        </p:nvCxnSpPr>
        <p:spPr>
          <a:xfrm flipH="1" rot="10800000">
            <a:off x="947769" y="4749341"/>
            <a:ext cx="564600" cy="3300"/>
          </a:xfrm>
          <a:prstGeom prst="straightConnector1">
            <a:avLst/>
          </a:prstGeom>
          <a:noFill/>
          <a:ln cap="flat" cmpd="sng" w="21425">
            <a:solidFill>
              <a:srgbClr val="000000"/>
            </a:solidFill>
            <a:prstDash val="solid"/>
            <a:round/>
            <a:headEnd len="sm" w="sm" type="none"/>
            <a:tailEnd len="sm" w="sm" type="none"/>
          </a:ln>
        </p:spPr>
      </p:cxnSp>
      <p:cxnSp>
        <p:nvCxnSpPr>
          <p:cNvPr id="123" name="Google Shape;123;p3"/>
          <p:cNvCxnSpPr/>
          <p:nvPr/>
        </p:nvCxnSpPr>
        <p:spPr>
          <a:xfrm>
            <a:off x="6639275" y="4439741"/>
            <a:ext cx="652200" cy="3900"/>
          </a:xfrm>
          <a:prstGeom prst="straightConnector1">
            <a:avLst/>
          </a:prstGeom>
          <a:noFill/>
          <a:ln cap="flat" cmpd="sng" w="14300">
            <a:solidFill>
              <a:srgbClr val="1F497D"/>
            </a:solidFill>
            <a:prstDash val="dash"/>
            <a:round/>
            <a:headEnd len="sm" w="sm" type="none"/>
            <a:tailEnd len="sm" w="sm" type="none"/>
          </a:ln>
        </p:spPr>
      </p:cxnSp>
      <p:cxnSp>
        <p:nvCxnSpPr>
          <p:cNvPr id="124" name="Google Shape;124;p3"/>
          <p:cNvCxnSpPr/>
          <p:nvPr/>
        </p:nvCxnSpPr>
        <p:spPr>
          <a:xfrm rot="10800000">
            <a:off x="7368481" y="4432297"/>
            <a:ext cx="2100" cy="199200"/>
          </a:xfrm>
          <a:prstGeom prst="straightConnector1">
            <a:avLst/>
          </a:prstGeom>
          <a:noFill/>
          <a:ln cap="flat" cmpd="sng" w="14300">
            <a:solidFill>
              <a:srgbClr val="1F497D"/>
            </a:solidFill>
            <a:prstDash val="dash"/>
            <a:round/>
            <a:headEnd len="sm" w="sm" type="none"/>
            <a:tailEnd len="sm" w="sm" type="none"/>
          </a:ln>
        </p:spPr>
      </p:cxnSp>
      <p:sp>
        <p:nvSpPr>
          <p:cNvPr id="125" name="Google Shape;125;p3"/>
          <p:cNvSpPr/>
          <p:nvPr/>
        </p:nvSpPr>
        <p:spPr>
          <a:xfrm>
            <a:off x="5841575" y="5249722"/>
            <a:ext cx="1308300" cy="3387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Sensors</a:t>
            </a:r>
            <a:endParaRPr b="0" i="0" sz="1100" u="none" cap="none" strike="noStrike">
              <a:solidFill>
                <a:srgbClr val="000000"/>
              </a:solidFill>
              <a:latin typeface="Arial"/>
              <a:ea typeface="Arial"/>
              <a:cs typeface="Arial"/>
              <a:sym typeface="Arial"/>
            </a:endParaRPr>
          </a:p>
        </p:txBody>
      </p:sp>
      <p:cxnSp>
        <p:nvCxnSpPr>
          <p:cNvPr id="126" name="Google Shape;126;p3"/>
          <p:cNvCxnSpPr/>
          <p:nvPr/>
        </p:nvCxnSpPr>
        <p:spPr>
          <a:xfrm flipH="1">
            <a:off x="6044525" y="5032953"/>
            <a:ext cx="900" cy="176100"/>
          </a:xfrm>
          <a:prstGeom prst="straightConnector1">
            <a:avLst/>
          </a:prstGeom>
          <a:noFill/>
          <a:ln cap="flat" cmpd="sng" w="14300">
            <a:solidFill>
              <a:srgbClr val="1F497D"/>
            </a:solidFill>
            <a:prstDash val="dash"/>
            <a:round/>
            <a:headEnd len="sm" w="sm" type="none"/>
            <a:tailEnd len="sm" w="sm" type="none"/>
          </a:ln>
        </p:spPr>
      </p:cxnSp>
      <p:cxnSp>
        <p:nvCxnSpPr>
          <p:cNvPr id="127" name="Google Shape;127;p3"/>
          <p:cNvCxnSpPr/>
          <p:nvPr/>
        </p:nvCxnSpPr>
        <p:spPr>
          <a:xfrm>
            <a:off x="6967888" y="5032991"/>
            <a:ext cx="900" cy="172500"/>
          </a:xfrm>
          <a:prstGeom prst="straightConnector1">
            <a:avLst/>
          </a:prstGeom>
          <a:noFill/>
          <a:ln cap="flat" cmpd="sng" w="14300">
            <a:solidFill>
              <a:srgbClr val="1F497D"/>
            </a:solidFill>
            <a:prstDash val="dash"/>
            <a:round/>
            <a:headEnd len="sm" w="sm" type="none"/>
            <a:tailEnd len="sm" w="sm" type="none"/>
          </a:ln>
        </p:spPr>
      </p:cxnSp>
      <p:sp>
        <p:nvSpPr>
          <p:cNvPr id="128" name="Google Shape;128;p3"/>
          <p:cNvSpPr/>
          <p:nvPr/>
        </p:nvSpPr>
        <p:spPr>
          <a:xfrm>
            <a:off x="3024969" y="4841618"/>
            <a:ext cx="680400" cy="238200"/>
          </a:xfrm>
          <a:prstGeom prst="roundRect">
            <a:avLst>
              <a:gd fmla="val 16667" name="adj"/>
            </a:avLst>
          </a:prstGeom>
          <a:solidFill>
            <a:srgbClr val="EEECE1"/>
          </a:solidFill>
          <a:ln cap="flat" cmpd="sng" w="9525">
            <a:solidFill>
              <a:srgbClr val="1F497D"/>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29" name="Google Shape;129;p3"/>
          <p:cNvSpPr txBox="1"/>
          <p:nvPr/>
        </p:nvSpPr>
        <p:spPr>
          <a:xfrm>
            <a:off x="3074750" y="4841581"/>
            <a:ext cx="620700" cy="238200"/>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ESP32</a:t>
            </a:r>
            <a:endParaRPr b="0" i="0" sz="800" u="none" cap="none" strike="noStrike">
              <a:solidFill>
                <a:srgbClr val="000000"/>
              </a:solidFill>
              <a:latin typeface="Arial"/>
              <a:ea typeface="Arial"/>
              <a:cs typeface="Arial"/>
              <a:sym typeface="Arial"/>
            </a:endParaRPr>
          </a:p>
        </p:txBody>
      </p:sp>
      <p:cxnSp>
        <p:nvCxnSpPr>
          <p:cNvPr id="130" name="Google Shape;130;p3"/>
          <p:cNvCxnSpPr>
            <a:stCxn id="94" idx="2"/>
          </p:cNvCxnSpPr>
          <p:nvPr/>
        </p:nvCxnSpPr>
        <p:spPr>
          <a:xfrm>
            <a:off x="2855719" y="4445319"/>
            <a:ext cx="374400" cy="399000"/>
          </a:xfrm>
          <a:prstGeom prst="straightConnector1">
            <a:avLst/>
          </a:prstGeom>
          <a:noFill/>
          <a:ln cap="flat" cmpd="sng" w="21425">
            <a:solidFill>
              <a:srgbClr val="000000"/>
            </a:solidFill>
            <a:prstDash val="solid"/>
            <a:round/>
            <a:headEnd len="sm" w="sm" type="none"/>
            <a:tailEnd len="sm" w="sm" type="none"/>
          </a:ln>
        </p:spPr>
      </p:cxnSp>
      <p:cxnSp>
        <p:nvCxnSpPr>
          <p:cNvPr id="131" name="Google Shape;131;p3"/>
          <p:cNvCxnSpPr>
            <a:endCxn id="128" idx="1"/>
          </p:cNvCxnSpPr>
          <p:nvPr/>
        </p:nvCxnSpPr>
        <p:spPr>
          <a:xfrm>
            <a:off x="2956269" y="4959518"/>
            <a:ext cx="68700" cy="1200"/>
          </a:xfrm>
          <a:prstGeom prst="straightConnector1">
            <a:avLst/>
          </a:prstGeom>
          <a:noFill/>
          <a:ln cap="flat" cmpd="sng" w="21425">
            <a:solidFill>
              <a:srgbClr val="000000"/>
            </a:solidFill>
            <a:prstDash val="solid"/>
            <a:round/>
            <a:headEnd len="sm" w="sm" type="none"/>
            <a:tailEnd len="sm" w="sm" type="none"/>
          </a:ln>
        </p:spPr>
      </p:cxnSp>
      <p:cxnSp>
        <p:nvCxnSpPr>
          <p:cNvPr id="132" name="Google Shape;132;p3"/>
          <p:cNvCxnSpPr/>
          <p:nvPr/>
        </p:nvCxnSpPr>
        <p:spPr>
          <a:xfrm flipH="1">
            <a:off x="1606150" y="3990801"/>
            <a:ext cx="421800" cy="276300"/>
          </a:xfrm>
          <a:prstGeom prst="straightConnector1">
            <a:avLst/>
          </a:prstGeom>
          <a:noFill/>
          <a:ln cap="flat" cmpd="sng" w="21425">
            <a:solidFill>
              <a:srgbClr val="000000"/>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5"/>
          <p:cNvSpPr txBox="1"/>
          <p:nvPr>
            <p:ph type="title"/>
          </p:nvPr>
        </p:nvSpPr>
        <p:spPr>
          <a:xfrm>
            <a:off x="457200" y="1049177"/>
            <a:ext cx="8229600" cy="803756"/>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lang="en-US"/>
              <a:t>Project Timeline </a:t>
            </a:r>
            <a:endParaRPr/>
          </a:p>
        </p:txBody>
      </p:sp>
      <p:graphicFrame>
        <p:nvGraphicFramePr>
          <p:cNvPr id="138" name="Google Shape;138;p5"/>
          <p:cNvGraphicFramePr/>
          <p:nvPr/>
        </p:nvGraphicFramePr>
        <p:xfrm>
          <a:off x="457225" y="3238500"/>
          <a:ext cx="3000000" cy="3000000"/>
        </p:xfrm>
        <a:graphic>
          <a:graphicData uri="http://schemas.openxmlformats.org/drawingml/2006/table">
            <a:tbl>
              <a:tblPr>
                <a:noFill/>
                <a:tableStyleId>{C77EE7DD-B0EF-45B8-A8EC-47F95EF3D79C}</a:tableStyleId>
              </a:tblPr>
              <a:tblGrid>
                <a:gridCol w="1503525"/>
                <a:gridCol w="1383275"/>
                <a:gridCol w="1194200"/>
                <a:gridCol w="1194200"/>
                <a:gridCol w="1125450"/>
                <a:gridCol w="1046375"/>
                <a:gridCol w="912350"/>
              </a:tblGrid>
              <a:tr h="381000">
                <a:tc>
                  <a:txBody>
                    <a:bodyPr/>
                    <a:lstStyle/>
                    <a:p>
                      <a:pPr indent="0" lvl="0" marL="0" rtl="0" algn="l">
                        <a:spcBef>
                          <a:spcPts val="0"/>
                        </a:spcBef>
                        <a:spcAft>
                          <a:spcPts val="0"/>
                        </a:spcAft>
                        <a:buNone/>
                      </a:pPr>
                      <a:r>
                        <a:rPr lang="en-US"/>
                        <a:t>Subsystem Designs updated and ready for integration</a:t>
                      </a:r>
                      <a:endParaRPr/>
                    </a:p>
                    <a:p>
                      <a:pPr indent="0" lvl="0" marL="0" rtl="0" algn="l">
                        <a:spcBef>
                          <a:spcPts val="0"/>
                        </a:spcBef>
                        <a:spcAft>
                          <a:spcPts val="0"/>
                        </a:spcAft>
                        <a:buNone/>
                      </a:pPr>
                      <a:r>
                        <a:rPr lang="en-US"/>
                        <a:t>(to complete 2/4/26)</a:t>
                      </a:r>
                      <a:endParaRPr/>
                    </a:p>
                  </a:txBody>
                  <a:tcPr marT="91425" marB="91425" marR="91425" marL="91425">
                    <a:solidFill>
                      <a:srgbClr val="FFF2CC"/>
                    </a:solidFill>
                  </a:tcPr>
                </a:tc>
                <a:tc>
                  <a:txBody>
                    <a:bodyPr/>
                    <a:lstStyle/>
                    <a:p>
                      <a:pPr indent="0" lvl="0" marL="0" rtl="0" algn="l">
                        <a:spcBef>
                          <a:spcPts val="0"/>
                        </a:spcBef>
                        <a:spcAft>
                          <a:spcPts val="0"/>
                        </a:spcAft>
                        <a:buNone/>
                      </a:pPr>
                      <a:r>
                        <a:rPr lang="en-US"/>
                        <a:t>Integration</a:t>
                      </a:r>
                      <a:r>
                        <a:rPr lang="en-US"/>
                        <a:t> of Database with application </a:t>
                      </a:r>
                      <a:endParaRPr/>
                    </a:p>
                    <a:p>
                      <a:pPr indent="0" lvl="0" marL="0" rtl="0" algn="l">
                        <a:spcBef>
                          <a:spcPts val="0"/>
                        </a:spcBef>
                        <a:spcAft>
                          <a:spcPts val="0"/>
                        </a:spcAft>
                        <a:buNone/>
                      </a:pPr>
                      <a:r>
                        <a:rPr lang="en-US"/>
                        <a:t>(completed 1/28/26)</a:t>
                      </a:r>
                      <a:endParaRPr/>
                    </a:p>
                  </a:txBody>
                  <a:tcPr marT="91425" marB="91425" marR="91425" marL="91425">
                    <a:solidFill>
                      <a:srgbClr val="B6D7A8"/>
                    </a:solidFill>
                  </a:tcPr>
                </a:tc>
                <a:tc>
                  <a:txBody>
                    <a:bodyPr/>
                    <a:lstStyle/>
                    <a:p>
                      <a:pPr indent="0" lvl="0" marL="0" rtl="0" algn="l">
                        <a:spcBef>
                          <a:spcPts val="0"/>
                        </a:spcBef>
                        <a:spcAft>
                          <a:spcPts val="0"/>
                        </a:spcAft>
                        <a:buNone/>
                      </a:pPr>
                      <a:r>
                        <a:rPr lang="en-US"/>
                        <a:t>Integration of light controls with android application</a:t>
                      </a:r>
                      <a:endParaRPr/>
                    </a:p>
                    <a:p>
                      <a:pPr indent="0" lvl="0" marL="0" rtl="0" algn="l">
                        <a:spcBef>
                          <a:spcPts val="0"/>
                        </a:spcBef>
                        <a:spcAft>
                          <a:spcPts val="0"/>
                        </a:spcAft>
                        <a:buNone/>
                      </a:pPr>
                      <a:r>
                        <a:rPr lang="en-US"/>
                        <a:t>(to complete 2/11/26)</a:t>
                      </a:r>
                      <a:endParaRPr/>
                    </a:p>
                  </a:txBody>
                  <a:tcPr marT="91425" marB="91425" marR="91425" marL="91425"/>
                </a:tc>
                <a:tc>
                  <a:txBody>
                    <a:bodyPr/>
                    <a:lstStyle/>
                    <a:p>
                      <a:pPr indent="0" lvl="0" marL="0" rtl="0" algn="l">
                        <a:spcBef>
                          <a:spcPts val="0"/>
                        </a:spcBef>
                        <a:spcAft>
                          <a:spcPts val="0"/>
                        </a:spcAft>
                        <a:buNone/>
                      </a:pPr>
                      <a:r>
                        <a:rPr lang="en-US"/>
                        <a:t>Final Integration (to complete</a:t>
                      </a:r>
                      <a:endParaRPr/>
                    </a:p>
                    <a:p>
                      <a:pPr indent="0" lvl="0" marL="0" rtl="0" algn="l">
                        <a:spcBef>
                          <a:spcPts val="0"/>
                        </a:spcBef>
                        <a:spcAft>
                          <a:spcPts val="0"/>
                        </a:spcAft>
                        <a:buNone/>
                      </a:pPr>
                      <a:r>
                        <a:rPr lang="en-US"/>
                        <a:t>2/25/26) </a:t>
                      </a:r>
                      <a:endParaRPr/>
                    </a:p>
                  </a:txBody>
                  <a:tcPr marT="91425" marB="91425" marR="91425" marL="91425"/>
                </a:tc>
                <a:tc>
                  <a:txBody>
                    <a:bodyPr/>
                    <a:lstStyle/>
                    <a:p>
                      <a:pPr indent="0" lvl="0" marL="0" rtl="0" algn="l">
                        <a:spcBef>
                          <a:spcPts val="0"/>
                        </a:spcBef>
                        <a:spcAft>
                          <a:spcPts val="0"/>
                        </a:spcAft>
                        <a:buNone/>
                      </a:pPr>
                      <a:r>
                        <a:rPr lang="en-US"/>
                        <a:t>System Test (to complete 3/4/26) </a:t>
                      </a:r>
                      <a:endParaRPr/>
                    </a:p>
                  </a:txBody>
                  <a:tcPr marT="91425" marB="91425" marR="91425" marL="91425"/>
                </a:tc>
                <a:tc>
                  <a:txBody>
                    <a:bodyPr/>
                    <a:lstStyle/>
                    <a:p>
                      <a:pPr indent="0" lvl="0" marL="0" rtl="0" algn="l">
                        <a:spcBef>
                          <a:spcPts val="0"/>
                        </a:spcBef>
                        <a:spcAft>
                          <a:spcPts val="0"/>
                        </a:spcAft>
                        <a:buNone/>
                      </a:pPr>
                      <a:r>
                        <a:rPr lang="en-US"/>
                        <a:t>Validation of system</a:t>
                      </a:r>
                      <a:endParaRPr/>
                    </a:p>
                    <a:p>
                      <a:pPr indent="0" lvl="0" marL="0" rtl="0" algn="l">
                        <a:spcBef>
                          <a:spcPts val="0"/>
                        </a:spcBef>
                        <a:spcAft>
                          <a:spcPts val="0"/>
                        </a:spcAft>
                        <a:buNone/>
                      </a:pPr>
                      <a:r>
                        <a:rPr lang="en-US"/>
                        <a:t>(to complete 3/11/26)</a:t>
                      </a:r>
                      <a:endParaRPr/>
                    </a:p>
                  </a:txBody>
                  <a:tcPr marT="91425" marB="91425" marR="91425" marL="91425"/>
                </a:tc>
                <a:tc>
                  <a:txBody>
                    <a:bodyPr/>
                    <a:lstStyle/>
                    <a:p>
                      <a:pPr indent="0" lvl="0" marL="0" rtl="0" algn="l">
                        <a:spcBef>
                          <a:spcPts val="0"/>
                        </a:spcBef>
                        <a:spcAft>
                          <a:spcPts val="0"/>
                        </a:spcAft>
                        <a:buNone/>
                      </a:pPr>
                      <a:r>
                        <a:rPr lang="en-US"/>
                        <a:t>Demo</a:t>
                      </a:r>
                      <a:endParaRPr/>
                    </a:p>
                    <a:p>
                      <a:pPr indent="0" lvl="0" marL="0" rtl="0" algn="l">
                        <a:spcBef>
                          <a:spcPts val="0"/>
                        </a:spcBef>
                        <a:spcAft>
                          <a:spcPts val="0"/>
                        </a:spcAft>
                        <a:buNone/>
                      </a:pPr>
                      <a:r>
                        <a:rPr lang="en-US"/>
                        <a:t>(to complete 4/15/26)</a:t>
                      </a:r>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6"/>
          <p:cNvSpPr txBox="1"/>
          <p:nvPr>
            <p:ph type="title"/>
          </p:nvPr>
        </p:nvSpPr>
        <p:spPr>
          <a:xfrm>
            <a:off x="457200" y="1049177"/>
            <a:ext cx="8229600" cy="8037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Arial"/>
              <a:buNone/>
            </a:pPr>
            <a:r>
              <a:rPr lang="en-US"/>
              <a:t>MPPT Charge Controller</a:t>
            </a:r>
            <a:br>
              <a:rPr lang="en-US" sz="3600"/>
            </a:br>
            <a:r>
              <a:rPr lang="en-US" sz="1800"/>
              <a:t>Adam Garcia</a:t>
            </a:r>
            <a:endParaRPr/>
          </a:p>
          <a:p>
            <a:pPr indent="0" lvl="0" marL="0" rtl="0" algn="ctr">
              <a:lnSpc>
                <a:spcPct val="115000"/>
              </a:lnSpc>
              <a:spcBef>
                <a:spcPts val="0"/>
              </a:spcBef>
              <a:spcAft>
                <a:spcPts val="0"/>
              </a:spcAft>
              <a:buClr>
                <a:schemeClr val="dk1"/>
              </a:buClr>
              <a:buSzPts val="990"/>
              <a:buFont typeface="Arial"/>
              <a:buNone/>
            </a:pPr>
            <a:r>
              <a:t/>
            </a:r>
            <a:endParaRPr/>
          </a:p>
        </p:txBody>
      </p:sp>
      <p:graphicFrame>
        <p:nvGraphicFramePr>
          <p:cNvPr id="144" name="Google Shape;144;p6"/>
          <p:cNvGraphicFramePr/>
          <p:nvPr/>
        </p:nvGraphicFramePr>
        <p:xfrm>
          <a:off x="685800" y="1952075"/>
          <a:ext cx="3000000" cy="3000000"/>
        </p:xfrm>
        <a:graphic>
          <a:graphicData uri="http://schemas.openxmlformats.org/drawingml/2006/table">
            <a:tbl>
              <a:tblPr>
                <a:noFill/>
                <a:tableStyleId>{5A186855-D57A-48B8-9561-DBAB6F8FAF48}</a:tableStyleId>
              </a:tblPr>
              <a:tblGrid>
                <a:gridCol w="3886200"/>
                <a:gridCol w="3886200"/>
              </a:tblGrid>
              <a:tr h="70790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t>Accomplishments since </a:t>
                      </a:r>
                      <a:r>
                        <a:rPr lang="en-US" sz="1800"/>
                        <a:t>Status Update #1</a:t>
                      </a:r>
                      <a:endParaRPr sz="1800"/>
                    </a:p>
                    <a:p>
                      <a:pPr indent="0" lvl="0" marL="0" marR="0" rtl="0" algn="l">
                        <a:lnSpc>
                          <a:spcPct val="100000"/>
                        </a:lnSpc>
                        <a:spcBef>
                          <a:spcPts val="0"/>
                        </a:spcBef>
                        <a:spcAft>
                          <a:spcPts val="0"/>
                        </a:spcAft>
                        <a:buClr>
                          <a:schemeClr val="dk1"/>
                        </a:buClr>
                        <a:buSzPts val="1800"/>
                        <a:buFont typeface="Arial"/>
                        <a:buNone/>
                      </a:pPr>
                      <a:r>
                        <a:rPr lang="en-US" sz="1800" u="none" cap="none" strike="noStrike">
                          <a:solidFill>
                            <a:srgbClr val="C00000"/>
                          </a:solidFill>
                        </a:rPr>
                        <a:t>1</a:t>
                      </a:r>
                      <a:r>
                        <a:rPr lang="en-US" sz="1800">
                          <a:solidFill>
                            <a:srgbClr val="C00000"/>
                          </a:solidFill>
                        </a:rPr>
                        <a:t>8</a:t>
                      </a:r>
                      <a:r>
                        <a:rPr lang="en-US" sz="1800" u="none" cap="none" strike="noStrike">
                          <a:solidFill>
                            <a:srgbClr val="C00000"/>
                          </a:solidFill>
                        </a:rPr>
                        <a:t>hrs of effort</a:t>
                      </a:r>
                      <a:endParaRPr sz="1800" u="none" cap="none" strike="noStrike">
                        <a:solidFill>
                          <a:srgbClr val="C00000"/>
                        </a:solidFill>
                      </a:endParaRPr>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t>Ongoing progress/problems and plans until the next presentation</a:t>
                      </a:r>
                      <a:endParaRPr sz="1800" u="none" cap="none" strike="noStrike"/>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1920850">
                <a:tc>
                  <a:txBody>
                    <a:bodyPr/>
                    <a:lstStyle/>
                    <a:p>
                      <a:pPr indent="0" lvl="0" marL="0" marR="0" rtl="0" algn="l">
                        <a:lnSpc>
                          <a:spcPct val="100000"/>
                        </a:lnSpc>
                        <a:spcBef>
                          <a:spcPts val="0"/>
                        </a:spcBef>
                        <a:spcAft>
                          <a:spcPts val="0"/>
                        </a:spcAft>
                        <a:buNone/>
                      </a:pPr>
                      <a:r>
                        <a:rPr lang="en-US" sz="1800"/>
                        <a:t>Redesigned PCB</a:t>
                      </a:r>
                      <a:endParaRPr sz="1800"/>
                    </a:p>
                    <a:p>
                      <a:pPr indent="-342900" lvl="0" marL="457200" marR="0" rtl="0" algn="l">
                        <a:lnSpc>
                          <a:spcPct val="100000"/>
                        </a:lnSpc>
                        <a:spcBef>
                          <a:spcPts val="0"/>
                        </a:spcBef>
                        <a:spcAft>
                          <a:spcPts val="0"/>
                        </a:spcAft>
                        <a:buClr>
                          <a:srgbClr val="000000"/>
                        </a:buClr>
                        <a:buSzPts val="1800"/>
                        <a:buFont typeface="Arial"/>
                        <a:buChar char="●"/>
                      </a:pPr>
                      <a:r>
                        <a:rPr lang="en-US" sz="1800"/>
                        <a:t>Added MPPT IC and terminal block to support 2 batteries</a:t>
                      </a:r>
                      <a:endParaRPr sz="1800"/>
                    </a:p>
                    <a:p>
                      <a:pPr indent="0" lvl="0" marL="0" marR="0" rtl="0" algn="l">
                        <a:lnSpc>
                          <a:spcPct val="100000"/>
                        </a:lnSpc>
                        <a:spcBef>
                          <a:spcPts val="0"/>
                        </a:spcBef>
                        <a:spcAft>
                          <a:spcPts val="0"/>
                        </a:spcAft>
                        <a:buNone/>
                      </a:pPr>
                      <a:r>
                        <a:t/>
                      </a:r>
                      <a:endParaRPr sz="1800"/>
                    </a:p>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p>
                      <a:pPr indent="0" lvl="0" marL="0" marR="0" rtl="0" algn="l">
                        <a:lnSpc>
                          <a:spcPct val="100000"/>
                        </a:lnSpc>
                        <a:spcBef>
                          <a:spcPts val="0"/>
                        </a:spcBef>
                        <a:spcAft>
                          <a:spcPts val="0"/>
                        </a:spcAft>
                        <a:buClr>
                          <a:schemeClr val="dk1"/>
                        </a:buClr>
                        <a:buSzPts val="1800"/>
                        <a:buFont typeface="Arial"/>
                        <a:buNone/>
                      </a:pPr>
                      <a:r>
                        <a:t/>
                      </a:r>
                      <a:endParaRPr sz="1800" u="none" cap="none" strike="noStrike"/>
                    </a:p>
                    <a:p>
                      <a:pPr indent="0" lvl="0" marL="0" marR="0" rtl="0" algn="l">
                        <a:lnSpc>
                          <a:spcPct val="100000"/>
                        </a:lnSpc>
                        <a:spcBef>
                          <a:spcPts val="0"/>
                        </a:spcBef>
                        <a:spcAft>
                          <a:spcPts val="0"/>
                        </a:spcAft>
                        <a:buClr>
                          <a:schemeClr val="dk1"/>
                        </a:buClr>
                        <a:buSzPts val="1800"/>
                        <a:buFont typeface="Arial"/>
                        <a:buNone/>
                      </a:pPr>
                      <a:r>
                        <a:t/>
                      </a:r>
                      <a:endParaRPr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457200" marR="0" rtl="0" algn="l">
                        <a:lnSpc>
                          <a:spcPct val="100000"/>
                        </a:lnSpc>
                        <a:spcBef>
                          <a:spcPts val="0"/>
                        </a:spcBef>
                        <a:spcAft>
                          <a:spcPts val="0"/>
                        </a:spcAft>
                        <a:buSzPts val="1800"/>
                        <a:buChar char="●"/>
                      </a:pPr>
                      <a:r>
                        <a:rPr lang="en-US" sz="1800"/>
                        <a:t>Validate MPPT and Buck converter IC operation.</a:t>
                      </a:r>
                      <a:endParaRPr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txBox="1"/>
          <p:nvPr>
            <p:ph type="title"/>
          </p:nvPr>
        </p:nvSpPr>
        <p:spPr>
          <a:xfrm>
            <a:off x="457200" y="1049177"/>
            <a:ext cx="8229600" cy="8037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Arial"/>
              <a:buNone/>
            </a:pPr>
            <a:r>
              <a:rPr lang="en-US"/>
              <a:t>MPPT Charge Controller</a:t>
            </a:r>
            <a:br>
              <a:rPr lang="en-US" sz="3600"/>
            </a:br>
            <a:r>
              <a:rPr lang="en-US" sz="1800"/>
              <a:t>Adam Garcia</a:t>
            </a:r>
            <a:endParaRPr/>
          </a:p>
          <a:p>
            <a:pPr indent="0" lvl="0" marL="0" rtl="0" algn="ctr">
              <a:lnSpc>
                <a:spcPct val="115000"/>
              </a:lnSpc>
              <a:spcBef>
                <a:spcPts val="0"/>
              </a:spcBef>
              <a:spcAft>
                <a:spcPts val="0"/>
              </a:spcAft>
              <a:buClr>
                <a:schemeClr val="dk1"/>
              </a:buClr>
              <a:buSzPts val="990"/>
              <a:buFont typeface="Arial"/>
              <a:buNone/>
            </a:pPr>
            <a:r>
              <a:t/>
            </a:r>
            <a:endParaRPr/>
          </a:p>
        </p:txBody>
      </p:sp>
      <p:sp>
        <p:nvSpPr>
          <p:cNvPr id="150" name="Google Shape;150;p7"/>
          <p:cNvSpPr txBox="1"/>
          <p:nvPr>
            <p:ph idx="1" type="body"/>
          </p:nvPr>
        </p:nvSpPr>
        <p:spPr>
          <a:xfrm>
            <a:off x="457200" y="2049275"/>
            <a:ext cx="6573900" cy="4077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Clr>
                <a:schemeClr val="dk1"/>
              </a:buClr>
              <a:buSzPts val="3200"/>
              <a:buNone/>
            </a:pPr>
            <a:r>
              <a:rPr lang="en-US" sz="2000"/>
              <a:t>Issues addressed:</a:t>
            </a:r>
            <a:endParaRPr sz="2000"/>
          </a:p>
          <a:p>
            <a:pPr indent="0" lvl="0" marL="0" rtl="0" algn="l">
              <a:lnSpc>
                <a:spcPct val="100000"/>
              </a:lnSpc>
              <a:spcBef>
                <a:spcPts val="360"/>
              </a:spcBef>
              <a:spcAft>
                <a:spcPts val="0"/>
              </a:spcAft>
              <a:buClr>
                <a:schemeClr val="dk1"/>
              </a:buClr>
              <a:buSzPts val="3200"/>
              <a:buNone/>
            </a:pPr>
            <a:r>
              <a:t/>
            </a:r>
            <a:endParaRPr sz="1800"/>
          </a:p>
          <a:p>
            <a:pPr indent="-342900" lvl="0" marL="457200" rtl="0" algn="l">
              <a:lnSpc>
                <a:spcPct val="100000"/>
              </a:lnSpc>
              <a:spcBef>
                <a:spcPts val="360"/>
              </a:spcBef>
              <a:spcAft>
                <a:spcPts val="0"/>
              </a:spcAft>
              <a:buSzPts val="1800"/>
              <a:buChar char="•"/>
            </a:pPr>
            <a:r>
              <a:rPr lang="en-US" sz="1800"/>
              <a:t>Input voltage regulation from solar panel, Vmp = 18V</a:t>
            </a:r>
            <a:endParaRPr sz="1800"/>
          </a:p>
          <a:p>
            <a:pPr indent="-330200" lvl="1" marL="914400" rtl="0" algn="l">
              <a:lnSpc>
                <a:spcPct val="100000"/>
              </a:lnSpc>
              <a:spcBef>
                <a:spcPts val="0"/>
              </a:spcBef>
              <a:spcAft>
                <a:spcPts val="0"/>
              </a:spcAft>
              <a:buSzPts val="1600"/>
              <a:buChar char="–"/>
            </a:pPr>
            <a:r>
              <a:rPr lang="en-US" sz="1600"/>
              <a:t>LTC4015 MMPT IC with Buck Battery communication via I2C</a:t>
            </a:r>
            <a:endParaRPr sz="1600"/>
          </a:p>
          <a:p>
            <a:pPr indent="0" lvl="0" marL="0" rtl="0" algn="l">
              <a:lnSpc>
                <a:spcPct val="100000"/>
              </a:lnSpc>
              <a:spcBef>
                <a:spcPts val="360"/>
              </a:spcBef>
              <a:spcAft>
                <a:spcPts val="0"/>
              </a:spcAft>
              <a:buNone/>
            </a:pPr>
            <a:r>
              <a:t/>
            </a:r>
            <a:endParaRPr sz="1800"/>
          </a:p>
          <a:p>
            <a:pPr indent="-342900" lvl="0" marL="457200" rtl="0" algn="l">
              <a:lnSpc>
                <a:spcPct val="100000"/>
              </a:lnSpc>
              <a:spcBef>
                <a:spcPts val="360"/>
              </a:spcBef>
              <a:spcAft>
                <a:spcPts val="0"/>
              </a:spcAft>
              <a:buSzPts val="1800"/>
              <a:buChar char="•"/>
            </a:pPr>
            <a:r>
              <a:rPr lang="en-US" sz="1800"/>
              <a:t>Battery Charge protection</a:t>
            </a:r>
            <a:endParaRPr sz="1800"/>
          </a:p>
          <a:p>
            <a:pPr indent="-342900" lvl="1" marL="914400" rtl="0" algn="l">
              <a:spcBef>
                <a:spcPts val="0"/>
              </a:spcBef>
              <a:spcAft>
                <a:spcPts val="0"/>
              </a:spcAft>
              <a:buSzPts val="1800"/>
              <a:buChar char="–"/>
            </a:pPr>
            <a:r>
              <a:rPr lang="en-US" sz="1600"/>
              <a:t>CC/CV</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b6f2694c51_0_293"/>
          <p:cNvSpPr txBox="1"/>
          <p:nvPr>
            <p:ph type="title"/>
          </p:nvPr>
        </p:nvSpPr>
        <p:spPr>
          <a:xfrm>
            <a:off x="457200" y="1049177"/>
            <a:ext cx="8229600" cy="8037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Arial"/>
              <a:buNone/>
            </a:pPr>
            <a:r>
              <a:rPr lang="en-US" sz="3600"/>
              <a:t>Physical Controls</a:t>
            </a:r>
            <a:br>
              <a:rPr lang="en-US" sz="3600"/>
            </a:br>
            <a:r>
              <a:rPr lang="en-US" sz="1800"/>
              <a:t>Jack Holdridge</a:t>
            </a:r>
            <a:endParaRPr sz="1800"/>
          </a:p>
          <a:p>
            <a:pPr indent="0" lvl="0" marL="0" rtl="0" algn="ctr">
              <a:lnSpc>
                <a:spcPct val="115000"/>
              </a:lnSpc>
              <a:spcBef>
                <a:spcPts val="0"/>
              </a:spcBef>
              <a:spcAft>
                <a:spcPts val="0"/>
              </a:spcAft>
              <a:buClr>
                <a:schemeClr val="dk1"/>
              </a:buClr>
              <a:buSzPts val="990"/>
              <a:buFont typeface="Arial"/>
              <a:buNone/>
            </a:pPr>
            <a:r>
              <a:t/>
            </a:r>
            <a:endParaRPr/>
          </a:p>
        </p:txBody>
      </p:sp>
      <p:graphicFrame>
        <p:nvGraphicFramePr>
          <p:cNvPr id="156" name="Google Shape;156;g3b6f2694c51_0_293"/>
          <p:cNvGraphicFramePr/>
          <p:nvPr/>
        </p:nvGraphicFramePr>
        <p:xfrm>
          <a:off x="685800" y="1952075"/>
          <a:ext cx="3000000" cy="3000000"/>
        </p:xfrm>
        <a:graphic>
          <a:graphicData uri="http://schemas.openxmlformats.org/drawingml/2006/table">
            <a:tbl>
              <a:tblPr>
                <a:noFill/>
                <a:tableStyleId>{5A186855-D57A-48B8-9561-DBAB6F8FAF48}</a:tableStyleId>
              </a:tblPr>
              <a:tblGrid>
                <a:gridCol w="3886200"/>
                <a:gridCol w="3886200"/>
              </a:tblGrid>
              <a:tr h="64030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t>Accomplishments since 403                          </a:t>
                      </a:r>
                      <a:r>
                        <a:rPr lang="en-US" sz="1800" u="none" cap="none" strike="noStrike">
                          <a:solidFill>
                            <a:srgbClr val="C00000"/>
                          </a:solidFill>
                        </a:rPr>
                        <a:t>14 hrs of effort</a:t>
                      </a:r>
                      <a:endParaRPr sz="1800" u="none" cap="none" strike="noStrike">
                        <a:solidFill>
                          <a:srgbClr val="C00000"/>
                        </a:solidFill>
                      </a:endParaRPr>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t>Ongoing progress/problems and plans until the next presentation</a:t>
                      </a:r>
                      <a:endParaRPr sz="1800" u="none" cap="none" strike="noStrike"/>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1734600">
                <a:tc>
                  <a:txBody>
                    <a:bodyPr/>
                    <a:lstStyle/>
                    <a:p>
                      <a:pPr indent="-342900" lvl="0" marL="457200" marR="0" rtl="0" algn="l">
                        <a:lnSpc>
                          <a:spcPct val="100000"/>
                        </a:lnSpc>
                        <a:spcBef>
                          <a:spcPts val="0"/>
                        </a:spcBef>
                        <a:spcAft>
                          <a:spcPts val="0"/>
                        </a:spcAft>
                        <a:buSzPts val="1800"/>
                        <a:buChar char="●"/>
                      </a:pPr>
                      <a:r>
                        <a:rPr lang="en-US" sz="1800"/>
                        <a:t>Confirmed 12v converter point </a:t>
                      </a:r>
                      <a:r>
                        <a:rPr lang="en-US" sz="1800"/>
                        <a:t>of</a:t>
                      </a:r>
                      <a:r>
                        <a:rPr lang="en-US" sz="1800"/>
                        <a:t> failure. </a:t>
                      </a:r>
                      <a:endParaRPr sz="1800"/>
                    </a:p>
                    <a:p>
                      <a:pPr indent="-342900" lvl="0" marL="457200" marR="0" rtl="0" algn="l">
                        <a:lnSpc>
                          <a:spcPct val="100000"/>
                        </a:lnSpc>
                        <a:spcBef>
                          <a:spcPts val="0"/>
                        </a:spcBef>
                        <a:spcAft>
                          <a:spcPts val="0"/>
                        </a:spcAft>
                        <a:buSzPts val="1800"/>
                        <a:buChar char="●"/>
                      </a:pPr>
                      <a:r>
                        <a:rPr lang="en-US" sz="1800"/>
                        <a:t>Redesigned, ordered, and assembled updated 12v converter.</a:t>
                      </a:r>
                      <a:endParaRPr sz="1800"/>
                    </a:p>
                    <a:p>
                      <a:pPr indent="-342900" lvl="0" marL="457200" marR="0" rtl="0" algn="l">
                        <a:lnSpc>
                          <a:spcPct val="100000"/>
                        </a:lnSpc>
                        <a:spcBef>
                          <a:spcPts val="0"/>
                        </a:spcBef>
                        <a:spcAft>
                          <a:spcPts val="0"/>
                        </a:spcAft>
                        <a:buSzPts val="1800"/>
                        <a:buChar char="●"/>
                      </a:pPr>
                      <a:r>
                        <a:rPr lang="en-US" sz="1800"/>
                        <a:t>Function tested 12v converter up to 3 amp stability.</a:t>
                      </a:r>
                      <a:endParaRPr sz="1800"/>
                    </a:p>
                    <a:p>
                      <a:pPr indent="-342900" lvl="0" marL="457200" rtl="0" algn="l">
                        <a:spcBef>
                          <a:spcPts val="0"/>
                        </a:spcBef>
                        <a:spcAft>
                          <a:spcPts val="0"/>
                        </a:spcAft>
                        <a:buSzPts val="1800"/>
                        <a:buChar char="●"/>
                      </a:pPr>
                      <a:r>
                        <a:rPr lang="en-US" sz="1800">
                          <a:solidFill>
                            <a:schemeClr val="dk1"/>
                          </a:solidFill>
                        </a:rPr>
                        <a:t>Updated Touchscreen code to provide improved UI.</a:t>
                      </a:r>
                      <a:endParaRPr sz="1800"/>
                    </a:p>
                    <a:p>
                      <a:pPr indent="0" lvl="0" marL="0" marR="0" rtl="0" algn="l">
                        <a:lnSpc>
                          <a:spcPct val="100000"/>
                        </a:lnSpc>
                        <a:spcBef>
                          <a:spcPts val="0"/>
                        </a:spcBef>
                        <a:spcAft>
                          <a:spcPts val="0"/>
                        </a:spcAft>
                        <a:buClr>
                          <a:schemeClr val="dk1"/>
                        </a:buClr>
                        <a:buSzPts val="1800"/>
                        <a:buFont typeface="Arial"/>
                        <a:buNone/>
                      </a:pPr>
                      <a:r>
                        <a:t/>
                      </a:r>
                      <a:endParaRPr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457200" marR="0" rtl="0" algn="l">
                        <a:lnSpc>
                          <a:spcPct val="100000"/>
                        </a:lnSpc>
                        <a:spcBef>
                          <a:spcPts val="0"/>
                        </a:spcBef>
                        <a:spcAft>
                          <a:spcPts val="0"/>
                        </a:spcAft>
                        <a:buSzPts val="1800"/>
                        <a:buChar char="●"/>
                      </a:pPr>
                      <a:r>
                        <a:rPr lang="en-US" sz="1800"/>
                        <a:t>Redesigned</a:t>
                      </a:r>
                      <a:r>
                        <a:rPr lang="en-US" sz="1800"/>
                        <a:t> 12v converter validation. </a:t>
                      </a:r>
                      <a:endParaRPr sz="1800" u="none" cap="none" strike="noStrike"/>
                    </a:p>
                    <a:p>
                      <a:pPr indent="-342900" lvl="0" marL="457200" marR="0" rtl="0" algn="l">
                        <a:lnSpc>
                          <a:spcPct val="100000"/>
                        </a:lnSpc>
                        <a:spcBef>
                          <a:spcPts val="0"/>
                        </a:spcBef>
                        <a:spcAft>
                          <a:spcPts val="0"/>
                        </a:spcAft>
                        <a:buClr>
                          <a:srgbClr val="000000"/>
                        </a:buClr>
                        <a:buSzPts val="1800"/>
                        <a:buFont typeface="Arial"/>
                        <a:buChar char="●"/>
                      </a:pPr>
                      <a:r>
                        <a:rPr lang="en-US" sz="1800"/>
                        <a:t>Design and assemble Physical Controls housing.</a:t>
                      </a:r>
                      <a:endParaRPr sz="1800"/>
                    </a:p>
                    <a:p>
                      <a:pPr indent="-342900" lvl="0" marL="457200" marR="0" rtl="0" algn="l">
                        <a:lnSpc>
                          <a:spcPct val="100000"/>
                        </a:lnSpc>
                        <a:spcBef>
                          <a:spcPts val="0"/>
                        </a:spcBef>
                        <a:spcAft>
                          <a:spcPts val="0"/>
                        </a:spcAft>
                        <a:buSzPts val="1800"/>
                        <a:buChar char="●"/>
                      </a:pPr>
                      <a:r>
                        <a:rPr lang="en-US" sz="1800"/>
                        <a:t>Integrating the database and physical controls </a:t>
                      </a:r>
                      <a:r>
                        <a:rPr lang="en-US" sz="1800"/>
                        <a:t>communication</a:t>
                      </a:r>
                      <a:r>
                        <a:rPr lang="en-US" sz="1800"/>
                        <a:t> .</a:t>
                      </a:r>
                      <a:endParaRPr sz="1800"/>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b6f2694c51_0_299"/>
          <p:cNvSpPr txBox="1"/>
          <p:nvPr>
            <p:ph type="title"/>
          </p:nvPr>
        </p:nvSpPr>
        <p:spPr>
          <a:xfrm>
            <a:off x="457200" y="1049177"/>
            <a:ext cx="8229600" cy="8037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Arial"/>
              <a:buNone/>
            </a:pPr>
            <a:r>
              <a:rPr lang="en-US" sz="3600"/>
              <a:t>Physical Controls</a:t>
            </a:r>
            <a:br>
              <a:rPr lang="en-US" sz="3600"/>
            </a:br>
            <a:r>
              <a:rPr lang="en-US" sz="1800"/>
              <a:t>Jack Holdridge</a:t>
            </a:r>
            <a:endParaRPr sz="1800"/>
          </a:p>
          <a:p>
            <a:pPr indent="0" lvl="0" marL="0" rtl="0" algn="ctr">
              <a:lnSpc>
                <a:spcPct val="115000"/>
              </a:lnSpc>
              <a:spcBef>
                <a:spcPts val="0"/>
              </a:spcBef>
              <a:spcAft>
                <a:spcPts val="0"/>
              </a:spcAft>
              <a:buClr>
                <a:schemeClr val="dk1"/>
              </a:buClr>
              <a:buSzPts val="990"/>
              <a:buFont typeface="Arial"/>
              <a:buNone/>
            </a:pPr>
            <a:r>
              <a:t/>
            </a:r>
            <a:endParaRPr/>
          </a:p>
        </p:txBody>
      </p:sp>
      <p:sp>
        <p:nvSpPr>
          <p:cNvPr id="162" name="Google Shape;162;g3b6f2694c51_0_299"/>
          <p:cNvSpPr txBox="1"/>
          <p:nvPr>
            <p:ph idx="1" type="body"/>
          </p:nvPr>
        </p:nvSpPr>
        <p:spPr>
          <a:xfrm>
            <a:off x="2058825" y="2175450"/>
            <a:ext cx="4881600" cy="4077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360"/>
              </a:spcBef>
              <a:spcAft>
                <a:spcPts val="0"/>
              </a:spcAft>
              <a:buNone/>
            </a:pPr>
            <a:r>
              <a:rPr b="1" lang="en-US" sz="1800"/>
              <a:t>12V Buck-Boost Converter:</a:t>
            </a:r>
            <a:r>
              <a:rPr lang="en-US" sz="1800"/>
              <a:t> Changed to a 2 MHz wide input converter, and removed UVLO function that was causing performance issues.  </a:t>
            </a:r>
            <a:endParaRPr sz="1800"/>
          </a:p>
        </p:txBody>
      </p:sp>
      <p:pic>
        <p:nvPicPr>
          <p:cNvPr id="163" name="Google Shape;163;g3b6f2694c51_0_299"/>
          <p:cNvPicPr preferRelativeResize="0"/>
          <p:nvPr/>
        </p:nvPicPr>
        <p:blipFill>
          <a:blip r:embed="rId3">
            <a:alphaModFix/>
          </a:blip>
          <a:stretch>
            <a:fillRect/>
          </a:stretch>
        </p:blipFill>
        <p:spPr>
          <a:xfrm>
            <a:off x="5029700" y="3510975"/>
            <a:ext cx="3881858" cy="2604625"/>
          </a:xfrm>
          <a:prstGeom prst="rect">
            <a:avLst/>
          </a:prstGeom>
          <a:noFill/>
          <a:ln>
            <a:noFill/>
          </a:ln>
        </p:spPr>
      </p:pic>
      <p:pic>
        <p:nvPicPr>
          <p:cNvPr id="164" name="Google Shape;164;g3b6f2694c51_0_299"/>
          <p:cNvPicPr preferRelativeResize="0"/>
          <p:nvPr/>
        </p:nvPicPr>
        <p:blipFill rotWithShape="1">
          <a:blip r:embed="rId4">
            <a:alphaModFix/>
          </a:blip>
          <a:srcRect b="2884" l="10937" r="7741" t="0"/>
          <a:stretch/>
        </p:blipFill>
        <p:spPr>
          <a:xfrm>
            <a:off x="330450" y="3510975"/>
            <a:ext cx="3598750" cy="2604625"/>
          </a:xfrm>
          <a:prstGeom prst="rect">
            <a:avLst/>
          </a:prstGeom>
          <a:noFill/>
          <a:ln>
            <a:noFill/>
          </a:ln>
        </p:spPr>
      </p:pic>
      <p:sp>
        <p:nvSpPr>
          <p:cNvPr id="165" name="Google Shape;165;g3b6f2694c51_0_299"/>
          <p:cNvSpPr/>
          <p:nvPr/>
        </p:nvSpPr>
        <p:spPr>
          <a:xfrm>
            <a:off x="4078575" y="4553900"/>
            <a:ext cx="842100" cy="4548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000000"/>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b6f2694c51_0_305"/>
          <p:cNvSpPr txBox="1"/>
          <p:nvPr>
            <p:ph type="title"/>
          </p:nvPr>
        </p:nvSpPr>
        <p:spPr>
          <a:xfrm>
            <a:off x="457200" y="1049177"/>
            <a:ext cx="8229600" cy="8037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Arial"/>
              <a:buNone/>
            </a:pPr>
            <a:r>
              <a:rPr lang="en-US"/>
              <a:t>Android Application and Camera</a:t>
            </a:r>
            <a:br>
              <a:rPr lang="en-US" sz="3600"/>
            </a:br>
            <a:r>
              <a:rPr lang="en-US" sz="1800"/>
              <a:t>Kyle Walcher</a:t>
            </a:r>
            <a:endParaRPr sz="3600"/>
          </a:p>
          <a:p>
            <a:pPr indent="0" lvl="0" marL="0" rtl="0" algn="ctr">
              <a:lnSpc>
                <a:spcPct val="115000"/>
              </a:lnSpc>
              <a:spcBef>
                <a:spcPts val="0"/>
              </a:spcBef>
              <a:spcAft>
                <a:spcPts val="0"/>
              </a:spcAft>
              <a:buClr>
                <a:schemeClr val="dk1"/>
              </a:buClr>
              <a:buSzPts val="990"/>
              <a:buFont typeface="Arial"/>
              <a:buNone/>
            </a:pPr>
            <a:r>
              <a:t/>
            </a:r>
            <a:endParaRPr/>
          </a:p>
        </p:txBody>
      </p:sp>
      <p:graphicFrame>
        <p:nvGraphicFramePr>
          <p:cNvPr id="171" name="Google Shape;171;g3b6f2694c51_0_305"/>
          <p:cNvGraphicFramePr/>
          <p:nvPr/>
        </p:nvGraphicFramePr>
        <p:xfrm>
          <a:off x="685800" y="1952075"/>
          <a:ext cx="3000000" cy="3000000"/>
        </p:xfrm>
        <a:graphic>
          <a:graphicData uri="http://schemas.openxmlformats.org/drawingml/2006/table">
            <a:tbl>
              <a:tblPr>
                <a:noFill/>
                <a:tableStyleId>{5A186855-D57A-48B8-9561-DBAB6F8FAF48}</a:tableStyleId>
              </a:tblPr>
              <a:tblGrid>
                <a:gridCol w="3886200"/>
                <a:gridCol w="3886200"/>
              </a:tblGrid>
              <a:tr h="640300">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t>Accomplishments since </a:t>
                      </a:r>
                      <a:r>
                        <a:rPr lang="en-US" sz="1800"/>
                        <a:t>last update</a:t>
                      </a:r>
                      <a:r>
                        <a:rPr lang="en-US" sz="1800" u="none" cap="none" strike="noStrike"/>
                        <a:t>                         </a:t>
                      </a:r>
                      <a:r>
                        <a:rPr lang="en-US" sz="1800" u="none" cap="none" strike="noStrike">
                          <a:solidFill>
                            <a:srgbClr val="C00000"/>
                          </a:solidFill>
                        </a:rPr>
                        <a:t>1</a:t>
                      </a:r>
                      <a:r>
                        <a:rPr lang="en-US" sz="1800">
                          <a:solidFill>
                            <a:srgbClr val="C00000"/>
                          </a:solidFill>
                        </a:rPr>
                        <a:t>5</a:t>
                      </a:r>
                      <a:r>
                        <a:rPr lang="en-US" sz="1800" u="none" cap="none" strike="noStrike">
                          <a:solidFill>
                            <a:srgbClr val="C00000"/>
                          </a:solidFill>
                        </a:rPr>
                        <a:t> hrs of effort</a:t>
                      </a:r>
                      <a:endParaRPr sz="1800" u="none" cap="none" strike="noStrike">
                        <a:solidFill>
                          <a:srgbClr val="C00000"/>
                        </a:solidFill>
                      </a:endParaRPr>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US" sz="1800" u="none" cap="none" strike="noStrike"/>
                        <a:t>Ongoing progress/problems and plans until the next presentation</a:t>
                      </a:r>
                      <a:endParaRPr sz="1800" u="none" cap="none" strike="noStrike"/>
                    </a:p>
                  </a:txBody>
                  <a:tcPr marT="45750" marB="4575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1734600">
                <a:tc>
                  <a:txBody>
                    <a:bodyPr/>
                    <a:lstStyle/>
                    <a:p>
                      <a:pPr indent="-342900" lvl="0" marL="457200" marR="0" rtl="0" algn="l">
                        <a:lnSpc>
                          <a:spcPct val="100000"/>
                        </a:lnSpc>
                        <a:spcBef>
                          <a:spcPts val="0"/>
                        </a:spcBef>
                        <a:spcAft>
                          <a:spcPts val="0"/>
                        </a:spcAft>
                        <a:buClr>
                          <a:srgbClr val="000000"/>
                        </a:buClr>
                        <a:buSzPts val="1800"/>
                        <a:buFont typeface="Arial"/>
                        <a:buChar char="●"/>
                      </a:pPr>
                      <a:r>
                        <a:rPr lang="en-US" sz="1800"/>
                        <a:t>Firebase Database Integration (Login, Snapshots, AI summaries)</a:t>
                      </a:r>
                      <a:endParaRPr sz="1800"/>
                    </a:p>
                    <a:p>
                      <a:pPr indent="0" lvl="0" marL="457200" marR="0" rtl="0" algn="l">
                        <a:lnSpc>
                          <a:spcPct val="100000"/>
                        </a:lnSpc>
                        <a:spcBef>
                          <a:spcPts val="0"/>
                        </a:spcBef>
                        <a:spcAft>
                          <a:spcPts val="0"/>
                        </a:spcAft>
                        <a:buNone/>
                      </a:pPr>
                      <a:r>
                        <a:t/>
                      </a:r>
                      <a:endParaRPr sz="1800"/>
                    </a:p>
                    <a:p>
                      <a:pPr indent="-342900" lvl="0" marL="457200" marR="0" rtl="0" algn="l">
                        <a:lnSpc>
                          <a:spcPct val="100000"/>
                        </a:lnSpc>
                        <a:spcBef>
                          <a:spcPts val="0"/>
                        </a:spcBef>
                        <a:spcAft>
                          <a:spcPts val="0"/>
                        </a:spcAft>
                        <a:buClr>
                          <a:srgbClr val="000000"/>
                        </a:buClr>
                        <a:buSzPts val="1800"/>
                        <a:buFont typeface="Arial"/>
                        <a:buChar char="●"/>
                      </a:pPr>
                      <a:r>
                        <a:rPr lang="en-US" sz="1800"/>
                        <a:t>Universal Login capabilities (Forgot password, </a:t>
                      </a:r>
                      <a:r>
                        <a:rPr lang="en-US" sz="1800"/>
                        <a:t>create account, user customization)</a:t>
                      </a:r>
                      <a:br>
                        <a:rPr lang="en-US" sz="1800" u="none" cap="none" strike="noStrike"/>
                      </a:br>
                      <a:endParaRPr sz="1800" u="none" cap="none" strike="noStrike"/>
                    </a:p>
                    <a:p>
                      <a:pPr indent="-342900" lvl="0" marL="457200" marR="0" rtl="0" algn="l">
                        <a:lnSpc>
                          <a:spcPct val="100000"/>
                        </a:lnSpc>
                        <a:spcBef>
                          <a:spcPts val="0"/>
                        </a:spcBef>
                        <a:spcAft>
                          <a:spcPts val="0"/>
                        </a:spcAft>
                        <a:buClr>
                          <a:srgbClr val="000000"/>
                        </a:buClr>
                        <a:buSzPts val="1800"/>
                        <a:buFont typeface="Arial"/>
                        <a:buChar char="●"/>
                      </a:pPr>
                      <a:r>
                        <a:rPr lang="en-US" sz="1800"/>
                        <a:t>Universal Snapshot Capability</a:t>
                      </a:r>
                      <a:endParaRPr sz="1800"/>
                    </a:p>
                    <a:p>
                      <a:pPr indent="0" lvl="0" marL="457200" marR="0" rtl="0" algn="l">
                        <a:lnSpc>
                          <a:spcPct val="100000"/>
                        </a:lnSpc>
                        <a:spcBef>
                          <a:spcPts val="0"/>
                        </a:spcBef>
                        <a:spcAft>
                          <a:spcPts val="0"/>
                        </a:spcAft>
                        <a:buNone/>
                      </a:pPr>
                      <a:r>
                        <a:rPr lang="en-US" sz="1800"/>
                        <a:t>(Camera is </a:t>
                      </a:r>
                      <a:r>
                        <a:rPr lang="en-US" sz="1800"/>
                        <a:t>accessible</a:t>
                      </a:r>
                      <a:r>
                        <a:rPr lang="en-US" sz="1800"/>
                        <a:t> off of local wifi)</a:t>
                      </a:r>
                      <a:endParaRPr sz="1800"/>
                    </a:p>
                    <a:p>
                      <a:pPr indent="0" lvl="0" marL="0" marR="0" rtl="0" algn="l">
                        <a:lnSpc>
                          <a:spcPct val="100000"/>
                        </a:lnSpc>
                        <a:spcBef>
                          <a:spcPts val="0"/>
                        </a:spcBef>
                        <a:spcAft>
                          <a:spcPts val="0"/>
                        </a:spcAft>
                        <a:buClr>
                          <a:schemeClr val="dk1"/>
                        </a:buClr>
                        <a:buSzPts val="1800"/>
                        <a:buFont typeface="Arial"/>
                        <a:buNone/>
                      </a:pPr>
                      <a:r>
                        <a:t/>
                      </a:r>
                      <a:endParaRPr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457200" marR="0" rtl="0" algn="l">
                        <a:lnSpc>
                          <a:spcPct val="100000"/>
                        </a:lnSpc>
                        <a:spcBef>
                          <a:spcPts val="0"/>
                        </a:spcBef>
                        <a:spcAft>
                          <a:spcPts val="0"/>
                        </a:spcAft>
                        <a:buClr>
                          <a:srgbClr val="000000"/>
                        </a:buClr>
                        <a:buSzPts val="1800"/>
                        <a:buFont typeface="Arial"/>
                        <a:buChar char="●"/>
                      </a:pPr>
                      <a:r>
                        <a:rPr lang="en-US" sz="1800"/>
                        <a:t>ESP-32 </a:t>
                      </a:r>
                      <a:r>
                        <a:rPr lang="en-US" sz="1800"/>
                        <a:t>Camera</a:t>
                      </a:r>
                      <a:r>
                        <a:rPr lang="en-US" sz="1800"/>
                        <a:t> &amp; motion </a:t>
                      </a:r>
                      <a:r>
                        <a:rPr lang="en-US" sz="1800"/>
                        <a:t>sensor</a:t>
                      </a:r>
                      <a:r>
                        <a:rPr lang="en-US" sz="1800"/>
                        <a:t> enclosure</a:t>
                      </a:r>
                      <a:endParaRPr sz="1800" u="none" cap="none" strike="noStrike"/>
                    </a:p>
                    <a:p>
                      <a:pPr indent="0" lvl="0" marL="457200" marR="0" rtl="0" algn="l">
                        <a:lnSpc>
                          <a:spcPct val="100000"/>
                        </a:lnSpc>
                        <a:spcBef>
                          <a:spcPts val="0"/>
                        </a:spcBef>
                        <a:spcAft>
                          <a:spcPts val="0"/>
                        </a:spcAft>
                        <a:buClr>
                          <a:srgbClr val="000000"/>
                        </a:buClr>
                        <a:buSzPts val="1800"/>
                        <a:buFont typeface="Arial"/>
                        <a:buNone/>
                      </a:pPr>
                      <a:r>
                        <a:t/>
                      </a:r>
                      <a:endParaRPr sz="1800" u="none" cap="none" strike="noStrike"/>
                    </a:p>
                    <a:p>
                      <a:pPr indent="-342900" lvl="0" marL="457200" marR="0" rtl="0" algn="l">
                        <a:lnSpc>
                          <a:spcPct val="100000"/>
                        </a:lnSpc>
                        <a:spcBef>
                          <a:spcPts val="0"/>
                        </a:spcBef>
                        <a:spcAft>
                          <a:spcPts val="0"/>
                        </a:spcAft>
                        <a:buClr>
                          <a:srgbClr val="000000"/>
                        </a:buClr>
                        <a:buSzPts val="1800"/>
                        <a:buFont typeface="Arial"/>
                        <a:buChar char="●"/>
                      </a:pPr>
                      <a:r>
                        <a:rPr lang="en-US" sz="1800"/>
                        <a:t>Motion Sensor Logic to automatically trigger AI analysis</a:t>
                      </a:r>
                      <a:endParaRPr sz="1800" u="none" cap="none" strike="noStrike"/>
                    </a:p>
                    <a:p>
                      <a:pPr indent="0" lvl="0" marL="457200" marR="0" rtl="0" algn="l">
                        <a:lnSpc>
                          <a:spcPct val="100000"/>
                        </a:lnSpc>
                        <a:spcBef>
                          <a:spcPts val="0"/>
                        </a:spcBef>
                        <a:spcAft>
                          <a:spcPts val="0"/>
                        </a:spcAft>
                        <a:buClr>
                          <a:srgbClr val="000000"/>
                        </a:buClr>
                        <a:buSzPts val="1800"/>
                        <a:buFont typeface="Arial"/>
                        <a:buNone/>
                      </a:pPr>
                      <a:r>
                        <a:t/>
                      </a:r>
                      <a:endParaRPr sz="1800" u="none" cap="none" strike="noStrike"/>
                    </a:p>
                    <a:p>
                      <a:pPr indent="-342900" lvl="0" marL="457200" marR="0" rtl="0" algn="l">
                        <a:lnSpc>
                          <a:spcPct val="100000"/>
                        </a:lnSpc>
                        <a:spcBef>
                          <a:spcPts val="0"/>
                        </a:spcBef>
                        <a:spcAft>
                          <a:spcPts val="0"/>
                        </a:spcAft>
                        <a:buClr>
                          <a:srgbClr val="000000"/>
                        </a:buClr>
                        <a:buSzPts val="1800"/>
                        <a:buFont typeface="Arial"/>
                        <a:buChar char="●"/>
                      </a:pPr>
                      <a:r>
                        <a:rPr lang="en-US" sz="1800"/>
                        <a:t>Remote Lighting controls within application</a:t>
                      </a:r>
                      <a:endParaRPr sz="1800" u="none" cap="none" strike="noStrike"/>
                    </a:p>
                  </a:txBody>
                  <a:tcPr marT="45750" marB="4575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b6f2694c51_0_311"/>
          <p:cNvSpPr txBox="1"/>
          <p:nvPr>
            <p:ph type="title"/>
          </p:nvPr>
        </p:nvSpPr>
        <p:spPr>
          <a:xfrm>
            <a:off x="457200" y="808727"/>
            <a:ext cx="8229600" cy="8037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Arial"/>
              <a:buNone/>
            </a:pPr>
            <a:r>
              <a:rPr lang="en-US"/>
              <a:t>Android Application and Camera</a:t>
            </a:r>
            <a:br>
              <a:rPr lang="en-US" sz="3600"/>
            </a:br>
            <a:r>
              <a:rPr lang="en-US" sz="1800"/>
              <a:t>Kyle Walcher</a:t>
            </a:r>
            <a:endParaRPr sz="3600"/>
          </a:p>
          <a:p>
            <a:pPr indent="0" lvl="0" marL="0" rtl="0" algn="ctr">
              <a:lnSpc>
                <a:spcPct val="115000"/>
              </a:lnSpc>
              <a:spcBef>
                <a:spcPts val="0"/>
              </a:spcBef>
              <a:spcAft>
                <a:spcPts val="0"/>
              </a:spcAft>
              <a:buClr>
                <a:schemeClr val="dk1"/>
              </a:buClr>
              <a:buSzPts val="990"/>
              <a:buFont typeface="Arial"/>
              <a:buNone/>
            </a:pPr>
            <a:r>
              <a:t/>
            </a:r>
            <a:endParaRPr/>
          </a:p>
        </p:txBody>
      </p:sp>
      <p:sp>
        <p:nvSpPr>
          <p:cNvPr id="177" name="Google Shape;177;g3b6f2694c51_0_311"/>
          <p:cNvSpPr txBox="1"/>
          <p:nvPr/>
        </p:nvSpPr>
        <p:spPr>
          <a:xfrm>
            <a:off x="5335800" y="4450100"/>
            <a:ext cx="3351000" cy="197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1" lang="en-US" sz="1700" u="sng">
                <a:solidFill>
                  <a:schemeClr val="dk1"/>
                </a:solidFill>
              </a:rPr>
              <a:t>Firebase Data </a:t>
            </a:r>
            <a:r>
              <a:rPr b="1" lang="en-US" sz="1700" u="sng">
                <a:solidFill>
                  <a:schemeClr val="dk1"/>
                </a:solidFill>
              </a:rPr>
              <a:t>integration</a:t>
            </a:r>
            <a:endParaRPr b="1" sz="1700" u="sng">
              <a:solidFill>
                <a:schemeClr val="dk1"/>
              </a:solidFill>
            </a:endParaRPr>
          </a:p>
          <a:p>
            <a:pPr indent="0" lvl="0" marL="0" marR="0" rtl="0" algn="l">
              <a:lnSpc>
                <a:spcPct val="100000"/>
              </a:lnSpc>
              <a:spcBef>
                <a:spcPts val="0"/>
              </a:spcBef>
              <a:spcAft>
                <a:spcPts val="0"/>
              </a:spcAft>
              <a:buClr>
                <a:srgbClr val="000000"/>
              </a:buClr>
              <a:buSzPts val="1700"/>
              <a:buFont typeface="Arial"/>
              <a:buNone/>
            </a:pPr>
            <a:r>
              <a:rPr b="1" lang="en-US" sz="1700" u="sng">
                <a:solidFill>
                  <a:schemeClr val="dk1"/>
                </a:solidFill>
              </a:rPr>
              <a:t> </a:t>
            </a:r>
            <a:endParaRPr b="1" sz="1700" u="sng">
              <a:solidFill>
                <a:schemeClr val="dk1"/>
              </a:solidFill>
            </a:endParaRPr>
          </a:p>
          <a:p>
            <a:pPr indent="0" lvl="0" marL="0" marR="0" rtl="0" algn="l">
              <a:lnSpc>
                <a:spcPct val="100000"/>
              </a:lnSpc>
              <a:spcBef>
                <a:spcPts val="0"/>
              </a:spcBef>
              <a:spcAft>
                <a:spcPts val="0"/>
              </a:spcAft>
              <a:buClr>
                <a:srgbClr val="000000"/>
              </a:buClr>
              <a:buSzPts val="1700"/>
              <a:buFont typeface="Arial"/>
              <a:buNone/>
            </a:pPr>
            <a:r>
              <a:rPr lang="en-US" sz="1700">
                <a:solidFill>
                  <a:schemeClr val="dk1"/>
                </a:solidFill>
              </a:rPr>
              <a:t>Each</a:t>
            </a:r>
            <a:r>
              <a:rPr lang="en-US" sz="1700">
                <a:solidFill>
                  <a:schemeClr val="dk1"/>
                </a:solidFill>
              </a:rPr>
              <a:t> user has independent logins with snapshots, activity, and summaries time stamped and saved within firebase and in application.</a:t>
            </a:r>
            <a:endParaRPr i="0" sz="1700" u="none" cap="none" strike="noStrike">
              <a:solidFill>
                <a:schemeClr val="dk1"/>
              </a:solidFill>
            </a:endParaRPr>
          </a:p>
        </p:txBody>
      </p:sp>
      <p:pic>
        <p:nvPicPr>
          <p:cNvPr id="178" name="Google Shape;178;g3b6f2694c51_0_311"/>
          <p:cNvPicPr preferRelativeResize="0"/>
          <p:nvPr/>
        </p:nvPicPr>
        <p:blipFill>
          <a:blip r:embed="rId3">
            <a:alphaModFix/>
          </a:blip>
          <a:stretch>
            <a:fillRect/>
          </a:stretch>
        </p:blipFill>
        <p:spPr>
          <a:xfrm>
            <a:off x="692925" y="1689752"/>
            <a:ext cx="2733675" cy="2838450"/>
          </a:xfrm>
          <a:prstGeom prst="rect">
            <a:avLst/>
          </a:prstGeom>
          <a:noFill/>
          <a:ln>
            <a:noFill/>
          </a:ln>
        </p:spPr>
      </p:pic>
      <p:pic>
        <p:nvPicPr>
          <p:cNvPr id="179" name="Google Shape;179;g3b6f2694c51_0_311"/>
          <p:cNvPicPr preferRelativeResize="0"/>
          <p:nvPr/>
        </p:nvPicPr>
        <p:blipFill>
          <a:blip r:embed="rId4">
            <a:alphaModFix/>
          </a:blip>
          <a:stretch>
            <a:fillRect/>
          </a:stretch>
        </p:blipFill>
        <p:spPr>
          <a:xfrm>
            <a:off x="5395800" y="1779827"/>
            <a:ext cx="2292971" cy="2369023"/>
          </a:xfrm>
          <a:prstGeom prst="rect">
            <a:avLst/>
          </a:prstGeom>
          <a:noFill/>
          <a:ln>
            <a:noFill/>
          </a:ln>
        </p:spPr>
      </p:pic>
      <p:cxnSp>
        <p:nvCxnSpPr>
          <p:cNvPr id="180" name="Google Shape;180;g3b6f2694c51_0_311"/>
          <p:cNvCxnSpPr/>
          <p:nvPr/>
        </p:nvCxnSpPr>
        <p:spPr>
          <a:xfrm flipH="1" rot="10800000">
            <a:off x="3348300" y="2957750"/>
            <a:ext cx="1786800" cy="1351500"/>
          </a:xfrm>
          <a:prstGeom prst="straightConnector1">
            <a:avLst/>
          </a:prstGeom>
          <a:noFill/>
          <a:ln cap="flat" cmpd="sng" w="9525">
            <a:solidFill>
              <a:srgbClr val="C00000"/>
            </a:solidFill>
            <a:prstDash val="solid"/>
            <a:round/>
            <a:headEnd len="med" w="med" type="none"/>
            <a:tailEnd len="med" w="med" type="triangle"/>
          </a:ln>
        </p:spPr>
      </p:cxnSp>
      <p:sp>
        <p:nvSpPr>
          <p:cNvPr id="181" name="Google Shape;181;g3b6f2694c51_0_311"/>
          <p:cNvSpPr/>
          <p:nvPr/>
        </p:nvSpPr>
        <p:spPr>
          <a:xfrm>
            <a:off x="1474150" y="4216100"/>
            <a:ext cx="1171200" cy="234000"/>
          </a:xfrm>
          <a:prstGeom prst="ellipse">
            <a:avLst/>
          </a:prstGeom>
          <a:noFill/>
          <a:ln cap="flat" cmpd="sng" w="9525">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2" name="Google Shape;182;g3b6f2694c51_0_311"/>
          <p:cNvPicPr preferRelativeResize="0"/>
          <p:nvPr/>
        </p:nvPicPr>
        <p:blipFill>
          <a:blip r:embed="rId5">
            <a:alphaModFix/>
          </a:blip>
          <a:stretch>
            <a:fillRect/>
          </a:stretch>
        </p:blipFill>
        <p:spPr>
          <a:xfrm>
            <a:off x="152400" y="4605527"/>
            <a:ext cx="5114417" cy="20249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c2fefca9ad_0_0"/>
          <p:cNvSpPr txBox="1"/>
          <p:nvPr>
            <p:ph type="title"/>
          </p:nvPr>
        </p:nvSpPr>
        <p:spPr>
          <a:xfrm>
            <a:off x="457200" y="1049177"/>
            <a:ext cx="8229600" cy="8037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lang="en-US" sz="3600"/>
              <a:t>MCU, Sensors &amp; Database</a:t>
            </a:r>
            <a:br>
              <a:rPr lang="en-US" sz="3600"/>
            </a:br>
            <a:r>
              <a:rPr lang="en-US" sz="1800"/>
              <a:t>Matthew Greer</a:t>
            </a:r>
            <a:endParaRPr/>
          </a:p>
          <a:p>
            <a:pPr indent="0" lvl="0" marL="0" rtl="0" algn="ctr">
              <a:lnSpc>
                <a:spcPct val="115000"/>
              </a:lnSpc>
              <a:spcBef>
                <a:spcPts val="0"/>
              </a:spcBef>
              <a:spcAft>
                <a:spcPts val="0"/>
              </a:spcAft>
              <a:buClr>
                <a:schemeClr val="dk1"/>
              </a:buClr>
              <a:buSzPts val="990"/>
              <a:buFont typeface="Arial"/>
              <a:buNone/>
            </a:pPr>
            <a:r>
              <a:t/>
            </a:r>
            <a:endParaRPr/>
          </a:p>
        </p:txBody>
      </p:sp>
      <p:graphicFrame>
        <p:nvGraphicFramePr>
          <p:cNvPr id="188" name="Google Shape;188;g3c2fefca9ad_0_0"/>
          <p:cNvGraphicFramePr/>
          <p:nvPr/>
        </p:nvGraphicFramePr>
        <p:xfrm>
          <a:off x="685800" y="2591925"/>
          <a:ext cx="3000000" cy="3000000"/>
        </p:xfrm>
        <a:graphic>
          <a:graphicData uri="http://schemas.openxmlformats.org/drawingml/2006/table">
            <a:tbl>
              <a:tblPr>
                <a:noFill/>
                <a:tableStyleId>{D3CE9775-7CF4-4B5C-8DDB-E07EEA5F38CC}</a:tableStyleId>
              </a:tblPr>
              <a:tblGrid>
                <a:gridCol w="3886200"/>
                <a:gridCol w="3886200"/>
              </a:tblGrid>
              <a:tr h="504825">
                <a:tc>
                  <a:txBody>
                    <a:bodyPr/>
                    <a:lstStyle/>
                    <a:p>
                      <a:pPr indent="0" lvl="0" marL="0" marR="0" rtl="0" algn="l">
                        <a:spcBef>
                          <a:spcPts val="0"/>
                        </a:spcBef>
                        <a:spcAft>
                          <a:spcPts val="0"/>
                        </a:spcAft>
                        <a:buClr>
                          <a:schemeClr val="dk1"/>
                        </a:buClr>
                        <a:buSzPts val="1900"/>
                        <a:buFont typeface="Arial"/>
                        <a:buNone/>
                      </a:pPr>
                      <a:r>
                        <a:rPr lang="en-US" sz="1900" u="none" cap="none" strike="noStrike"/>
                        <a:t>Accomplishments U</a:t>
                      </a:r>
                      <a:r>
                        <a:rPr lang="en-US" sz="1900"/>
                        <a:t>pdate</a:t>
                      </a:r>
                      <a:r>
                        <a:rPr lang="en-US" sz="1900" u="none" cap="none" strike="noStrike"/>
                        <a:t>                </a:t>
                      </a:r>
                      <a:r>
                        <a:rPr lang="en-US" sz="1900">
                          <a:solidFill>
                            <a:srgbClr val="C00000"/>
                          </a:solidFill>
                        </a:rPr>
                        <a:t>15 Hours</a:t>
                      </a:r>
                      <a:endParaRPr sz="1900" u="none" cap="none" strike="noStrike">
                        <a:solidFill>
                          <a:srgbClr val="C00000"/>
                        </a:solidFill>
                      </a:endParaRPr>
                    </a:p>
                  </a:txBody>
                  <a:tcPr marT="45775" marB="4577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c>
                  <a:txBody>
                    <a:bodyPr/>
                    <a:lstStyle/>
                    <a:p>
                      <a:pPr indent="0" lvl="0" marL="0" marR="0" rtl="0" algn="l">
                        <a:spcBef>
                          <a:spcPts val="0"/>
                        </a:spcBef>
                        <a:spcAft>
                          <a:spcPts val="0"/>
                        </a:spcAft>
                        <a:buClr>
                          <a:schemeClr val="dk1"/>
                        </a:buClr>
                        <a:buSzPts val="1900"/>
                        <a:buFont typeface="Arial"/>
                        <a:buNone/>
                      </a:pPr>
                      <a:r>
                        <a:rPr lang="en-US" sz="1900" u="none" cap="none" strike="noStrike"/>
                        <a:t>Ongoing progress/problems and plans until the next presentation</a:t>
                      </a:r>
                      <a:endParaRPr sz="1900" u="none" cap="none" strike="noStrike"/>
                    </a:p>
                  </a:txBody>
                  <a:tcPr marT="45775" marB="4577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6B8AF"/>
                    </a:solidFill>
                  </a:tcPr>
                </a:tc>
              </a:tr>
              <a:tr h="1734600">
                <a:tc>
                  <a:txBody>
                    <a:bodyPr/>
                    <a:lstStyle/>
                    <a:p>
                      <a:pPr indent="-342900" lvl="0" marL="457200" rtl="0" algn="l">
                        <a:spcBef>
                          <a:spcPts val="0"/>
                        </a:spcBef>
                        <a:spcAft>
                          <a:spcPts val="0"/>
                        </a:spcAft>
                        <a:buSzPts val="2000"/>
                        <a:buChar char="●"/>
                      </a:pPr>
                      <a:r>
                        <a:rPr lang="en-US" sz="1600">
                          <a:solidFill>
                            <a:schemeClr val="dk1"/>
                          </a:solidFill>
                        </a:rPr>
                        <a:t>Resolved MCU latency issues through task scheduling and prioritization</a:t>
                      </a:r>
                      <a:br>
                        <a:rPr lang="en-US" sz="1600">
                          <a:solidFill>
                            <a:schemeClr val="dk1"/>
                          </a:solidFill>
                        </a:rPr>
                      </a:br>
                      <a:endParaRPr sz="1600">
                        <a:solidFill>
                          <a:schemeClr val="dk1"/>
                        </a:solidFill>
                      </a:endParaRPr>
                    </a:p>
                    <a:p>
                      <a:pPr indent="-342900" lvl="0" marL="457200" rtl="0" algn="l">
                        <a:spcBef>
                          <a:spcPts val="0"/>
                        </a:spcBef>
                        <a:spcAft>
                          <a:spcPts val="0"/>
                        </a:spcAft>
                        <a:buSzPts val="2000"/>
                        <a:buChar char="●"/>
                      </a:pPr>
                      <a:r>
                        <a:rPr lang="en-US" sz="1600">
                          <a:solidFill>
                            <a:schemeClr val="dk1"/>
                          </a:solidFill>
                        </a:rPr>
                        <a:t>Achieved reliable integration between MCU and cloud database</a:t>
                      </a:r>
                      <a:br>
                        <a:rPr lang="en-US" sz="1600">
                          <a:solidFill>
                            <a:schemeClr val="dk1"/>
                          </a:solidFill>
                        </a:rPr>
                      </a:br>
                      <a:endParaRPr sz="1600">
                        <a:solidFill>
                          <a:schemeClr val="dk1"/>
                        </a:solidFill>
                      </a:endParaRPr>
                    </a:p>
                    <a:p>
                      <a:pPr indent="-342900" lvl="0" marL="457200" rtl="0" algn="l">
                        <a:spcBef>
                          <a:spcPts val="0"/>
                        </a:spcBef>
                        <a:spcAft>
                          <a:spcPts val="0"/>
                        </a:spcAft>
                        <a:buSzPts val="2000"/>
                        <a:buChar char="●"/>
                      </a:pPr>
                      <a:r>
                        <a:rPr lang="en-US" sz="1600">
                          <a:solidFill>
                            <a:schemeClr val="dk1"/>
                          </a:solidFill>
                        </a:rPr>
                        <a:t>Verified end-to-end data flow for sensor input, MCU logic, and database commands</a:t>
                      </a:r>
                      <a:endParaRPr sz="1600">
                        <a:solidFill>
                          <a:schemeClr val="dk1"/>
                        </a:solidFill>
                      </a:endParaRPr>
                    </a:p>
                    <a:p>
                      <a:pPr indent="0" lvl="0" marL="0" marR="0" rtl="0" algn="l">
                        <a:spcBef>
                          <a:spcPts val="0"/>
                        </a:spcBef>
                        <a:spcAft>
                          <a:spcPts val="0"/>
                        </a:spcAft>
                        <a:buClr>
                          <a:schemeClr val="dk1"/>
                        </a:buClr>
                        <a:buSzPts val="1900"/>
                        <a:buFont typeface="Arial"/>
                        <a:buNone/>
                      </a:pPr>
                      <a:r>
                        <a:t/>
                      </a:r>
                      <a:endParaRPr sz="1900" u="none" cap="none" strike="noStrike"/>
                    </a:p>
                  </a:txBody>
                  <a:tcPr marT="45775" marB="457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457200" rtl="0" algn="l">
                        <a:spcBef>
                          <a:spcPts val="0"/>
                        </a:spcBef>
                        <a:spcAft>
                          <a:spcPts val="0"/>
                        </a:spcAft>
                        <a:buSzPts val="2000"/>
                        <a:buChar char="●"/>
                      </a:pPr>
                      <a:r>
                        <a:rPr lang="en-US" sz="1600">
                          <a:solidFill>
                            <a:schemeClr val="dk1"/>
                          </a:solidFill>
                        </a:rPr>
                        <a:t>Upgrade PIR motion sensors to reduce false triggers and improve detection reliability</a:t>
                      </a:r>
                      <a:br>
                        <a:rPr lang="en-US" sz="1600">
                          <a:solidFill>
                            <a:schemeClr val="dk1"/>
                          </a:solidFill>
                        </a:rPr>
                      </a:br>
                      <a:endParaRPr sz="1600">
                        <a:solidFill>
                          <a:schemeClr val="dk1"/>
                        </a:solidFill>
                      </a:endParaRPr>
                    </a:p>
                    <a:p>
                      <a:pPr indent="-342900" lvl="0" marL="457200" rtl="0" algn="l">
                        <a:spcBef>
                          <a:spcPts val="0"/>
                        </a:spcBef>
                        <a:spcAft>
                          <a:spcPts val="0"/>
                        </a:spcAft>
                        <a:buSzPts val="2000"/>
                        <a:buChar char="●"/>
                      </a:pPr>
                      <a:r>
                        <a:rPr lang="en-US" sz="1600">
                          <a:solidFill>
                            <a:schemeClr val="dk1"/>
                          </a:solidFill>
                        </a:rPr>
                        <a:t>Integrate database control with mobile app interface</a:t>
                      </a:r>
                      <a:br>
                        <a:rPr lang="en-US" sz="1600">
                          <a:solidFill>
                            <a:schemeClr val="dk1"/>
                          </a:solidFill>
                        </a:rPr>
                      </a:br>
                      <a:endParaRPr sz="1600">
                        <a:solidFill>
                          <a:schemeClr val="dk1"/>
                        </a:solidFill>
                      </a:endParaRPr>
                    </a:p>
                    <a:p>
                      <a:pPr indent="-342900" lvl="0" marL="457200" rtl="0" algn="l">
                        <a:spcBef>
                          <a:spcPts val="0"/>
                        </a:spcBef>
                        <a:spcAft>
                          <a:spcPts val="0"/>
                        </a:spcAft>
                        <a:buSzPts val="2000"/>
                        <a:buChar char="●"/>
                      </a:pPr>
                      <a:r>
                        <a:rPr lang="en-US" sz="1600">
                          <a:solidFill>
                            <a:schemeClr val="dk1"/>
                          </a:solidFill>
                        </a:rPr>
                        <a:t>Implement software-level integration between MCU and charge controller</a:t>
                      </a:r>
                      <a:endParaRPr sz="1600">
                        <a:solidFill>
                          <a:schemeClr val="dk1"/>
                        </a:solidFill>
                      </a:endParaRPr>
                    </a:p>
                    <a:p>
                      <a:pPr indent="0" lvl="0" marL="0" marR="0" rtl="0" algn="l">
                        <a:spcBef>
                          <a:spcPts val="0"/>
                        </a:spcBef>
                        <a:spcAft>
                          <a:spcPts val="0"/>
                        </a:spcAft>
                        <a:buNone/>
                      </a:pPr>
                      <a:r>
                        <a:t/>
                      </a:r>
                      <a:endParaRPr sz="1900"/>
                    </a:p>
                  </a:txBody>
                  <a:tcPr marT="45775" marB="457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c2fefca9ad_0_111"/>
          <p:cNvSpPr txBox="1"/>
          <p:nvPr/>
        </p:nvSpPr>
        <p:spPr>
          <a:xfrm>
            <a:off x="232075" y="1245202"/>
            <a:ext cx="2568000" cy="50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1"/>
                </a:solidFill>
              </a:rPr>
              <a:t>Current Sensor</a:t>
            </a:r>
            <a:endParaRPr sz="1800">
              <a:solidFill>
                <a:schemeClr val="dk1"/>
              </a:solidFill>
            </a:endParaRPr>
          </a:p>
        </p:txBody>
      </p:sp>
      <p:pic>
        <p:nvPicPr>
          <p:cNvPr id="194" name="Google Shape;194;g3c2fefca9ad_0_111"/>
          <p:cNvPicPr preferRelativeResize="0"/>
          <p:nvPr/>
        </p:nvPicPr>
        <p:blipFill>
          <a:blip r:embed="rId3">
            <a:alphaModFix/>
          </a:blip>
          <a:stretch>
            <a:fillRect/>
          </a:stretch>
        </p:blipFill>
        <p:spPr>
          <a:xfrm>
            <a:off x="232075" y="2003552"/>
            <a:ext cx="2364825" cy="1421755"/>
          </a:xfrm>
          <a:prstGeom prst="rect">
            <a:avLst/>
          </a:prstGeom>
          <a:noFill/>
          <a:ln>
            <a:noFill/>
          </a:ln>
        </p:spPr>
      </p:pic>
      <p:sp>
        <p:nvSpPr>
          <p:cNvPr id="195" name="Google Shape;195;g3c2fefca9ad_0_111"/>
          <p:cNvSpPr txBox="1"/>
          <p:nvPr/>
        </p:nvSpPr>
        <p:spPr>
          <a:xfrm>
            <a:off x="95575" y="4043000"/>
            <a:ext cx="2841000" cy="2475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1"/>
              </a:buClr>
              <a:buSzPts val="1400"/>
              <a:buChar char="●"/>
            </a:pPr>
            <a:r>
              <a:rPr lang="en-US">
                <a:solidFill>
                  <a:schemeClr val="dk1"/>
                </a:solidFill>
              </a:rPr>
              <a:t>Wide-angle PIR with adjustable sensitivity</a:t>
            </a:r>
            <a:br>
              <a:rPr lang="en-US">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Detects general motion but lacks controlled detection geometry</a:t>
            </a:r>
            <a:br>
              <a:rPr lang="en-US">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High false triggers from small or low-level motion</a:t>
            </a:r>
            <a:endParaRPr>
              <a:solidFill>
                <a:schemeClr val="dk1"/>
              </a:solidFill>
            </a:endParaRPr>
          </a:p>
          <a:p>
            <a:pPr indent="0" lvl="0" marL="0" rtl="0" algn="l">
              <a:spcBef>
                <a:spcPts val="1200"/>
              </a:spcBef>
              <a:spcAft>
                <a:spcPts val="0"/>
              </a:spcAft>
              <a:buNone/>
            </a:pPr>
            <a:r>
              <a:t/>
            </a:r>
            <a:endParaRPr sz="1800">
              <a:solidFill>
                <a:schemeClr val="dk2"/>
              </a:solidFill>
            </a:endParaRPr>
          </a:p>
        </p:txBody>
      </p:sp>
      <p:cxnSp>
        <p:nvCxnSpPr>
          <p:cNvPr id="196" name="Google Shape;196;g3c2fefca9ad_0_111"/>
          <p:cNvCxnSpPr/>
          <p:nvPr/>
        </p:nvCxnSpPr>
        <p:spPr>
          <a:xfrm>
            <a:off x="3126275" y="858600"/>
            <a:ext cx="20700" cy="5999400"/>
          </a:xfrm>
          <a:prstGeom prst="straightConnector1">
            <a:avLst/>
          </a:prstGeom>
          <a:noFill/>
          <a:ln cap="flat" cmpd="sng" w="19050">
            <a:solidFill>
              <a:schemeClr val="dk1"/>
            </a:solidFill>
            <a:prstDash val="solid"/>
            <a:round/>
            <a:headEnd len="med" w="med" type="none"/>
            <a:tailEnd len="med" w="med" type="none"/>
          </a:ln>
        </p:spPr>
      </p:cxnSp>
      <p:sp>
        <p:nvSpPr>
          <p:cNvPr id="197" name="Google Shape;197;g3c2fefca9ad_0_111"/>
          <p:cNvSpPr txBox="1"/>
          <p:nvPr/>
        </p:nvSpPr>
        <p:spPr>
          <a:xfrm>
            <a:off x="5035000" y="1245202"/>
            <a:ext cx="2568000" cy="50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1"/>
                </a:solidFill>
              </a:rPr>
              <a:t>Upgraded Sensors</a:t>
            </a:r>
            <a:endParaRPr sz="1800">
              <a:solidFill>
                <a:schemeClr val="dk1"/>
              </a:solidFill>
            </a:endParaRPr>
          </a:p>
        </p:txBody>
      </p:sp>
      <p:pic>
        <p:nvPicPr>
          <p:cNvPr id="198" name="Google Shape;198;g3c2fefca9ad_0_111"/>
          <p:cNvPicPr preferRelativeResize="0"/>
          <p:nvPr/>
        </p:nvPicPr>
        <p:blipFill>
          <a:blip r:embed="rId4">
            <a:alphaModFix/>
          </a:blip>
          <a:stretch>
            <a:fillRect/>
          </a:stretch>
        </p:blipFill>
        <p:spPr>
          <a:xfrm>
            <a:off x="3536433" y="1747400"/>
            <a:ext cx="1981717" cy="1663500"/>
          </a:xfrm>
          <a:prstGeom prst="rect">
            <a:avLst/>
          </a:prstGeom>
          <a:noFill/>
          <a:ln>
            <a:noFill/>
          </a:ln>
        </p:spPr>
      </p:pic>
      <p:pic>
        <p:nvPicPr>
          <p:cNvPr id="199" name="Google Shape;199;g3c2fefca9ad_0_111"/>
          <p:cNvPicPr preferRelativeResize="0"/>
          <p:nvPr/>
        </p:nvPicPr>
        <p:blipFill>
          <a:blip r:embed="rId5">
            <a:alphaModFix/>
          </a:blip>
          <a:stretch>
            <a:fillRect/>
          </a:stretch>
        </p:blipFill>
        <p:spPr>
          <a:xfrm>
            <a:off x="6918495" y="1817908"/>
            <a:ext cx="1761155" cy="1608300"/>
          </a:xfrm>
          <a:prstGeom prst="rect">
            <a:avLst/>
          </a:prstGeom>
          <a:noFill/>
          <a:ln>
            <a:noFill/>
          </a:ln>
        </p:spPr>
      </p:pic>
      <p:pic>
        <p:nvPicPr>
          <p:cNvPr id="200" name="Google Shape;200;g3c2fefca9ad_0_111"/>
          <p:cNvPicPr preferRelativeResize="0"/>
          <p:nvPr/>
        </p:nvPicPr>
        <p:blipFill>
          <a:blip r:embed="rId6">
            <a:alphaModFix/>
          </a:blip>
          <a:stretch>
            <a:fillRect/>
          </a:stretch>
        </p:blipFill>
        <p:spPr>
          <a:xfrm>
            <a:off x="3626225" y="2003546"/>
            <a:ext cx="495300" cy="438150"/>
          </a:xfrm>
          <a:prstGeom prst="rect">
            <a:avLst/>
          </a:prstGeom>
          <a:noFill/>
          <a:ln>
            <a:noFill/>
          </a:ln>
        </p:spPr>
      </p:pic>
      <p:pic>
        <p:nvPicPr>
          <p:cNvPr id="201" name="Google Shape;201;g3c2fefca9ad_0_111"/>
          <p:cNvPicPr preferRelativeResize="0"/>
          <p:nvPr/>
        </p:nvPicPr>
        <p:blipFill>
          <a:blip r:embed="rId7">
            <a:alphaModFix/>
          </a:blip>
          <a:stretch>
            <a:fillRect/>
          </a:stretch>
        </p:blipFill>
        <p:spPr>
          <a:xfrm>
            <a:off x="7155325" y="2008308"/>
            <a:ext cx="447675" cy="428625"/>
          </a:xfrm>
          <a:prstGeom prst="rect">
            <a:avLst/>
          </a:prstGeom>
          <a:noFill/>
          <a:ln>
            <a:noFill/>
          </a:ln>
        </p:spPr>
      </p:pic>
      <p:sp>
        <p:nvSpPr>
          <p:cNvPr id="202" name="Google Shape;202;g3c2fefca9ad_0_111"/>
          <p:cNvSpPr txBox="1"/>
          <p:nvPr/>
        </p:nvSpPr>
        <p:spPr>
          <a:xfrm>
            <a:off x="3802175" y="3604997"/>
            <a:ext cx="1556400" cy="43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2"/>
                </a:solidFill>
              </a:rPr>
              <a:t>Inside PIR</a:t>
            </a:r>
            <a:endParaRPr sz="1800">
              <a:solidFill>
                <a:schemeClr val="dk2"/>
              </a:solidFill>
            </a:endParaRPr>
          </a:p>
        </p:txBody>
      </p:sp>
      <p:sp>
        <p:nvSpPr>
          <p:cNvPr id="203" name="Google Shape;203;g3c2fefca9ad_0_111"/>
          <p:cNvSpPr txBox="1"/>
          <p:nvPr/>
        </p:nvSpPr>
        <p:spPr>
          <a:xfrm>
            <a:off x="7155325" y="3557400"/>
            <a:ext cx="1700400" cy="42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dk2"/>
                </a:solidFill>
              </a:rPr>
              <a:t>Outside PIR</a:t>
            </a:r>
            <a:endParaRPr sz="1800">
              <a:solidFill>
                <a:schemeClr val="dk2"/>
              </a:solidFill>
            </a:endParaRPr>
          </a:p>
        </p:txBody>
      </p:sp>
      <p:sp>
        <p:nvSpPr>
          <p:cNvPr id="204" name="Google Shape;204;g3c2fefca9ad_0_111"/>
          <p:cNvSpPr txBox="1"/>
          <p:nvPr/>
        </p:nvSpPr>
        <p:spPr>
          <a:xfrm>
            <a:off x="3209675" y="3990702"/>
            <a:ext cx="3045600" cy="1969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1"/>
              </a:buClr>
              <a:buSzPts val="1400"/>
              <a:buChar char="●"/>
            </a:pPr>
            <a:r>
              <a:rPr lang="en-US">
                <a:solidFill>
                  <a:schemeClr val="dk1"/>
                </a:solidFill>
              </a:rPr>
              <a:t>Short, controlled detection range   (3–6 m) for indoor spaces</a:t>
            </a:r>
            <a:br>
              <a:rPr lang="en-US">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Detection zones angle above floor level to reduce pets/toddlers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Designed for presence detection, not long-distance tracking</a:t>
            </a:r>
            <a:br>
              <a:rPr lang="en-US" sz="1100">
                <a:solidFill>
                  <a:schemeClr val="dk1"/>
                </a:solidFill>
              </a:rPr>
            </a:br>
            <a:endParaRPr sz="1100">
              <a:solidFill>
                <a:schemeClr val="dk1"/>
              </a:solidFill>
            </a:endParaRPr>
          </a:p>
          <a:p>
            <a:pPr indent="0" lvl="0" marL="0" rtl="0" algn="l">
              <a:spcBef>
                <a:spcPts val="1200"/>
              </a:spcBef>
              <a:spcAft>
                <a:spcPts val="0"/>
              </a:spcAft>
              <a:buNone/>
            </a:pPr>
            <a:r>
              <a:t/>
            </a:r>
            <a:endParaRPr sz="1800">
              <a:solidFill>
                <a:schemeClr val="dk2"/>
              </a:solidFill>
            </a:endParaRPr>
          </a:p>
        </p:txBody>
      </p:sp>
      <p:sp>
        <p:nvSpPr>
          <p:cNvPr id="205" name="Google Shape;205;g3c2fefca9ad_0_111"/>
          <p:cNvSpPr txBox="1"/>
          <p:nvPr/>
        </p:nvSpPr>
        <p:spPr>
          <a:xfrm>
            <a:off x="6528375" y="4043000"/>
            <a:ext cx="2615700" cy="264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solidFill>
                  <a:schemeClr val="dk1"/>
                </a:solidFill>
              </a:rPr>
              <a:t>High zone density (128 zones) for improved human motion discrimination</a:t>
            </a:r>
            <a:br>
              <a:rPr lang="en-US">
                <a:solidFill>
                  <a:schemeClr val="dk1"/>
                </a:solidFill>
              </a:rPr>
            </a:br>
            <a:endParaRPr>
              <a:solidFill>
                <a:schemeClr val="dk1"/>
              </a:solidFill>
            </a:endParaRPr>
          </a:p>
          <a:p>
            <a:pPr indent="0" lvl="0" marL="0" rtl="0" algn="ctr">
              <a:spcBef>
                <a:spcPts val="0"/>
              </a:spcBef>
              <a:spcAft>
                <a:spcPts val="0"/>
              </a:spcAft>
              <a:buNone/>
            </a:pPr>
            <a:r>
              <a:rPr lang="en-US">
                <a:solidFill>
                  <a:schemeClr val="dk1"/>
                </a:solidFill>
              </a:rPr>
              <a:t>Long detection range (12–14.5 m) for approach detection</a:t>
            </a:r>
            <a:br>
              <a:rPr lang="en-US">
                <a:solidFill>
                  <a:schemeClr val="dk1"/>
                </a:solidFill>
              </a:rPr>
            </a:br>
            <a:endParaRPr>
              <a:solidFill>
                <a:schemeClr val="dk1"/>
              </a:solidFill>
            </a:endParaRPr>
          </a:p>
          <a:p>
            <a:pPr indent="0" lvl="0" marL="0" rtl="0" algn="ctr">
              <a:spcBef>
                <a:spcPts val="0"/>
              </a:spcBef>
              <a:spcAft>
                <a:spcPts val="0"/>
              </a:spcAft>
              <a:buNone/>
            </a:pPr>
            <a:r>
              <a:rPr lang="en-US">
                <a:solidFill>
                  <a:schemeClr val="dk1"/>
                </a:solidFill>
              </a:rPr>
              <a:t>Triggers lighting and camera activation with low false alarms</a:t>
            </a:r>
            <a:endParaRPr>
              <a:solidFill>
                <a:schemeClr val="dk1"/>
              </a:solidFill>
            </a:endParaRPr>
          </a:p>
          <a:p>
            <a:pPr indent="0" lvl="0" marL="0" rtl="0" algn="l">
              <a:spcBef>
                <a:spcPts val="0"/>
              </a:spcBef>
              <a:spcAft>
                <a:spcPts val="0"/>
              </a:spcAft>
              <a:buNone/>
            </a:pPr>
            <a:r>
              <a:t/>
            </a:r>
            <a:endParaRPr>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9"/>
          <p:cNvSpPr txBox="1"/>
          <p:nvPr>
            <p:ph type="title"/>
          </p:nvPr>
        </p:nvSpPr>
        <p:spPr>
          <a:xfrm>
            <a:off x="450851" y="1049177"/>
            <a:ext cx="8235950" cy="803756"/>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lang="en-US"/>
              <a:t>Execution &amp; Plan</a:t>
            </a:r>
            <a:endParaRPr/>
          </a:p>
        </p:txBody>
      </p:sp>
      <p:pic>
        <p:nvPicPr>
          <p:cNvPr id="211" name="Google Shape;211;p9"/>
          <p:cNvPicPr preferRelativeResize="0"/>
          <p:nvPr/>
        </p:nvPicPr>
        <p:blipFill>
          <a:blip r:embed="rId3">
            <a:alphaModFix/>
          </a:blip>
          <a:stretch>
            <a:fillRect/>
          </a:stretch>
        </p:blipFill>
        <p:spPr>
          <a:xfrm>
            <a:off x="152400" y="2005324"/>
            <a:ext cx="8839198" cy="3369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b6f2694c51_0_334"/>
          <p:cNvSpPr txBox="1"/>
          <p:nvPr/>
        </p:nvSpPr>
        <p:spPr>
          <a:xfrm>
            <a:off x="8126730" y="6494683"/>
            <a:ext cx="5601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88888"/>
              </a:buClr>
              <a:buSzPts val="300"/>
              <a:buFont typeface="Arial"/>
              <a:buNone/>
            </a:pPr>
            <a:fld id="{00000000-1234-1234-1234-123412341234}" type="slidenum">
              <a:rPr b="0" i="0" lang="en-US" sz="1200" u="none" cap="none" strike="noStrike">
                <a:solidFill>
                  <a:srgbClr val="888888"/>
                </a:solidFill>
                <a:latin typeface="Arial"/>
                <a:ea typeface="Arial"/>
                <a:cs typeface="Arial"/>
                <a:sym typeface="Arial"/>
              </a:rPr>
              <a:t>‹#›</a:t>
            </a:fld>
            <a:endParaRPr b="0" i="0" sz="1200" u="none" cap="none" strike="noStrike">
              <a:solidFill>
                <a:srgbClr val="888888"/>
              </a:solidFill>
              <a:latin typeface="Arial"/>
              <a:ea typeface="Arial"/>
              <a:cs typeface="Arial"/>
              <a:sym typeface="Arial"/>
            </a:endParaRPr>
          </a:p>
        </p:txBody>
      </p:sp>
      <p:sp>
        <p:nvSpPr>
          <p:cNvPr id="217" name="Google Shape;217;g3b6f2694c51_0_334"/>
          <p:cNvSpPr txBox="1"/>
          <p:nvPr>
            <p:ph idx="1" type="body"/>
          </p:nvPr>
        </p:nvSpPr>
        <p:spPr>
          <a:xfrm>
            <a:off x="392975" y="1123825"/>
            <a:ext cx="7878900" cy="3636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700"/>
              <a:buNone/>
            </a:pPr>
            <a:r>
              <a:rPr b="1" lang="en-US"/>
              <a:t>Solar Home Lighting 3:</a:t>
            </a:r>
            <a:r>
              <a:rPr lang="en-US"/>
              <a:t> </a:t>
            </a:r>
            <a:endParaRPr/>
          </a:p>
          <a:p>
            <a:pPr indent="0" lvl="0" marL="0" rtl="0" algn="ctr">
              <a:lnSpc>
                <a:spcPct val="100000"/>
              </a:lnSpc>
              <a:spcBef>
                <a:spcPts val="0"/>
              </a:spcBef>
              <a:spcAft>
                <a:spcPts val="0"/>
              </a:spcAft>
              <a:buSzPts val="700"/>
              <a:buNone/>
            </a:pPr>
            <a:r>
              <a:t/>
            </a:r>
            <a:endParaRPr/>
          </a:p>
          <a:p>
            <a:pPr indent="0" lvl="0" marL="0" rtl="0" algn="ctr">
              <a:lnSpc>
                <a:spcPct val="100000"/>
              </a:lnSpc>
              <a:spcBef>
                <a:spcPts val="0"/>
              </a:spcBef>
              <a:spcAft>
                <a:spcPts val="0"/>
              </a:spcAft>
              <a:buSzPts val="700"/>
              <a:buNone/>
            </a:pPr>
            <a:r>
              <a:t/>
            </a:r>
            <a:endParaRPr/>
          </a:p>
          <a:p>
            <a:pPr indent="0" lvl="0" marL="0" rtl="0" algn="l">
              <a:lnSpc>
                <a:spcPct val="100000"/>
              </a:lnSpc>
              <a:spcBef>
                <a:spcPts val="0"/>
              </a:spcBef>
              <a:spcAft>
                <a:spcPts val="0"/>
              </a:spcAft>
              <a:buSzPts val="700"/>
              <a:buNone/>
            </a:pPr>
            <a:r>
              <a:rPr lang="en-US"/>
              <a:t>                  Thank you for listening!</a:t>
            </a:r>
            <a:endParaRPr/>
          </a:p>
          <a:p>
            <a:pPr indent="0" lvl="0" marL="0" rtl="0" algn="ctr">
              <a:lnSpc>
                <a:spcPct val="100000"/>
              </a:lnSpc>
              <a:spcBef>
                <a:spcPts val="0"/>
              </a:spcBef>
              <a:spcAft>
                <a:spcPts val="0"/>
              </a:spcAft>
              <a:buSzPts val="700"/>
              <a:buNone/>
            </a:pPr>
            <a:r>
              <a:rPr lang="en-US"/>
              <a:t>Questions?</a:t>
            </a:r>
            <a:br>
              <a:rPr lang="en-US"/>
            </a:br>
            <a:br>
              <a:rPr lang="en-US"/>
            </a:br>
            <a:endParaRPr/>
          </a:p>
          <a:p>
            <a:pPr indent="0" lvl="0" marL="0" rtl="0" algn="r">
              <a:lnSpc>
                <a:spcPct val="100000"/>
              </a:lnSpc>
              <a:spcBef>
                <a:spcPts val="0"/>
              </a:spcBef>
              <a:spcAft>
                <a:spcPts val="0"/>
              </a:spcAft>
              <a:buSzPts val="700"/>
              <a:buNone/>
            </a:pPr>
            <a:r>
              <a:t/>
            </a:r>
            <a:endParaRPr/>
          </a:p>
        </p:txBody>
      </p:sp>
      <p:sp>
        <p:nvSpPr>
          <p:cNvPr id="218" name="Google Shape;218;g3b6f2694c51_0_334"/>
          <p:cNvSpPr txBox="1"/>
          <p:nvPr/>
        </p:nvSpPr>
        <p:spPr>
          <a:xfrm>
            <a:off x="6373975" y="3527225"/>
            <a:ext cx="2714100" cy="2893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2800"/>
              <a:buFont typeface="Arial"/>
              <a:buNone/>
            </a:pPr>
            <a:br>
              <a:rPr b="0" i="0" lang="en-US" sz="2800" u="none" cap="none" strike="noStrike">
                <a:solidFill>
                  <a:schemeClr val="dk1"/>
                </a:solidFill>
                <a:latin typeface="Arial"/>
                <a:ea typeface="Arial"/>
                <a:cs typeface="Arial"/>
                <a:sym typeface="Arial"/>
              </a:rPr>
            </a:br>
            <a:r>
              <a:rPr b="0" i="0" lang="en-US" sz="2800" u="none" cap="none" strike="noStrike">
                <a:solidFill>
                  <a:schemeClr val="dk1"/>
                </a:solidFill>
                <a:latin typeface="Arial"/>
                <a:ea typeface="Arial"/>
                <a:cs typeface="Arial"/>
                <a:sym typeface="Arial"/>
              </a:rPr>
              <a:t>Jack Holdridge</a:t>
            </a:r>
            <a:endParaRPr b="0" i="0" sz="28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Kyle Walcher</a:t>
            </a:r>
            <a:endParaRPr b="0" i="0" sz="28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Matthew Greer</a:t>
            </a:r>
            <a:endParaRPr b="0" i="0" sz="28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Adam Garcia</a:t>
            </a:r>
            <a:endParaRPr b="0" i="0" sz="28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TA: Guanhua Tao</a:t>
            </a:r>
            <a:endParaRPr b="0" i="0" sz="18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Sponsor: Won Jang</a:t>
            </a:r>
            <a:endParaRPr b="0" i="0" sz="14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2013-06-18T16:37:55Z</dcterms:created>
  <dc:creator>Nowka, Kevin J.</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ReadingOrderVerifiedPages">
    <vt:lpwstr>9</vt:lpwstr>
  </property>
</Properties>
</file>