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asO27PIGd6LY68nL3w2Thmiwx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B170E3-F38C-4B98-9F29-46449A1C57E5}">
  <a:tblStyle styleId="{69B170E3-F38C-4B98-9F29-46449A1C57E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C6EF50C-E54E-4F99-B5FF-7066C354165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6f2694c51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3" name="Google Shape;153;g3b6f2694c51_0_2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f2694c51_0_2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b6f2694c51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6f2694c51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6" name="Google Shape;166;g3b6f2694c51_0_3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6f2694c51_0_3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b6f2694c51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2fefca9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2" name="Google Shape;182;g3c2fefca9a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2fefca9a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8" name="Google Shape;188;g3c2fefca9ad_0_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6f2694c51_0_3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b6f2694c51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0851" y="1049177"/>
            <a:ext cx="823595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22: Solar Home Lighting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350354"/>
              <a:buFont typeface="Arial"/>
              <a:buNone/>
            </a:pPr>
            <a:r>
              <a:rPr lang="en-US"/>
              <a:t>Bi-Weekly Update 3</a:t>
            </a:r>
            <a:br>
              <a:rPr lang="en-US"/>
            </a:br>
            <a:r>
              <a:rPr lang="en-US" sz="2455"/>
              <a:t>Jack Holdridge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Kyle Walcher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Matthew Greer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Adam Garcia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TA: Guanhua Tao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Sponsor: Won Jang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457200" y="2049275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Problem statement:</a:t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Current smart-home systems depend on grid power and cloud connectivity, causing lighting and monitoring to fail during outages and creating reliability and usability barriers for users.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Our Solution:</a:t>
            </a:r>
            <a:endParaRPr b="1"/>
          </a:p>
          <a:p>
            <a:pPr indent="-24765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</a:pPr>
            <a:r>
              <a:rPr lang="en-US" sz="1300"/>
              <a:t>Combine security, lighting control, and user interaction into one coordinated platform</a:t>
            </a:r>
            <a:endParaRPr sz="1300"/>
          </a:p>
          <a:p>
            <a:pPr indent="-24765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</a:pPr>
            <a:r>
              <a:rPr lang="en-US" sz="1300"/>
              <a:t>Offer flexible controls, with both local and remote capabilities.</a:t>
            </a:r>
            <a:endParaRPr sz="1300"/>
          </a:p>
          <a:p>
            <a:pPr indent="-24765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</a:pPr>
            <a:r>
              <a:rPr lang="en-US" sz="1300"/>
              <a:t>Ensures the home remains safely lit and monitored regardless of grid fluctuations.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 b="0" l="0" r="0" t="10682"/>
          <a:stretch/>
        </p:blipFill>
        <p:spPr>
          <a:xfrm>
            <a:off x="5433550" y="2166075"/>
            <a:ext cx="3187624" cy="337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System Overview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86300" y="3930388"/>
            <a:ext cx="3281100" cy="1988100"/>
          </a:xfrm>
          <a:prstGeom prst="rect">
            <a:avLst/>
          </a:prstGeom>
          <a:noFill/>
          <a:ln cap="flat" cmpd="sng" w="214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4904900" y="4545922"/>
            <a:ext cx="1600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6629656" y="2938278"/>
            <a:ext cx="8700" cy="1469700"/>
          </a:xfrm>
          <a:prstGeom prst="straightConnector1">
            <a:avLst/>
          </a:prstGeom>
          <a:noFill/>
          <a:ln cap="flat" cmpd="sng" w="14300">
            <a:solidFill>
              <a:srgbClr val="1F497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6" name="Google Shape;76;p3"/>
          <p:cNvSpPr/>
          <p:nvPr/>
        </p:nvSpPr>
        <p:spPr>
          <a:xfrm>
            <a:off x="1541356" y="3268381"/>
            <a:ext cx="976200" cy="253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275700" y="4844524"/>
            <a:ext cx="680400" cy="238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367619" y="4192131"/>
            <a:ext cx="976200" cy="253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186638" y="2370885"/>
            <a:ext cx="3103800" cy="1443300"/>
          </a:xfrm>
          <a:prstGeom prst="rect">
            <a:avLst/>
          </a:prstGeom>
          <a:noFill/>
          <a:ln cap="flat" cmpd="sng" w="21425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86300" y="2398728"/>
            <a:ext cx="3103800" cy="12585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036863" y="4339606"/>
            <a:ext cx="3103800" cy="1354500"/>
          </a:xfrm>
          <a:prstGeom prst="rect">
            <a:avLst/>
          </a:prstGeom>
          <a:noFill/>
          <a:ln cap="flat" cmpd="sng" w="21425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1097565" y="2161270"/>
            <a:ext cx="1242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Adam Garcia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933137" y="3657163"/>
            <a:ext cx="1242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Jack Holdridge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6683979" y="1908035"/>
            <a:ext cx="1242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Kyle Walcher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7238647" y="3962772"/>
            <a:ext cx="1242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Matthew Greer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86300" y="4286341"/>
            <a:ext cx="1553100" cy="2739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33447" y="5326409"/>
            <a:ext cx="872700" cy="467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115975" y="4834166"/>
            <a:ext cx="976200" cy="253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1097563" y="4834156"/>
            <a:ext cx="10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Touch screen HMI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2257363" y="4834156"/>
            <a:ext cx="652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ESP32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709250" y="4266063"/>
            <a:ext cx="1507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12v Buck Boost DC converter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663359" y="5382453"/>
            <a:ext cx="10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Relay board and LED Lights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301161" y="3250709"/>
            <a:ext cx="1013100" cy="467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2310619" y="4171419"/>
            <a:ext cx="109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3.3v Buck Converter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5301162" y="3347563"/>
            <a:ext cx="10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ESP32-WROVER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6254866" y="2599622"/>
            <a:ext cx="109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3.3v Buck Converteri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040743" y="2502763"/>
            <a:ext cx="1197900" cy="467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Android Application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(Kotlin/Java)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3"/>
          <p:cNvCxnSpPr>
            <a:stCxn id="89" idx="3"/>
            <a:endCxn id="90" idx="1"/>
          </p:cNvCxnSpPr>
          <p:nvPr/>
        </p:nvCxnSpPr>
        <p:spPr>
          <a:xfrm>
            <a:off x="2110663" y="4971106"/>
            <a:ext cx="146700" cy="0"/>
          </a:xfrm>
          <a:prstGeom prst="straightConnector1">
            <a:avLst/>
          </a:prstGeom>
          <a:noFill/>
          <a:ln cap="flat" cmpd="sng" w="21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>
            <a:stCxn id="94" idx="2"/>
            <a:endCxn id="90" idx="0"/>
          </p:cNvCxnSpPr>
          <p:nvPr/>
        </p:nvCxnSpPr>
        <p:spPr>
          <a:xfrm flipH="1">
            <a:off x="2583319" y="4445319"/>
            <a:ext cx="272400" cy="388800"/>
          </a:xfrm>
          <a:prstGeom prst="straightConnector1">
            <a:avLst/>
          </a:prstGeom>
          <a:noFill/>
          <a:ln cap="flat" cmpd="sng" w="21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3"/>
          <p:cNvCxnSpPr/>
          <p:nvPr/>
        </p:nvCxnSpPr>
        <p:spPr>
          <a:xfrm>
            <a:off x="3391522" y="5087300"/>
            <a:ext cx="9300" cy="465900"/>
          </a:xfrm>
          <a:prstGeom prst="straightConnector1">
            <a:avLst/>
          </a:prstGeom>
          <a:noFill/>
          <a:ln cap="flat" cmpd="sng" w="21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3"/>
          <p:cNvCxnSpPr/>
          <p:nvPr/>
        </p:nvCxnSpPr>
        <p:spPr>
          <a:xfrm flipH="1">
            <a:off x="1604300" y="5555375"/>
            <a:ext cx="1804500" cy="7500"/>
          </a:xfrm>
          <a:prstGeom prst="straightConnector1">
            <a:avLst/>
          </a:prstGeom>
          <a:noFill/>
          <a:ln cap="flat" cmpd="sng" w="21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3"/>
          <p:cNvSpPr/>
          <p:nvPr/>
        </p:nvSpPr>
        <p:spPr>
          <a:xfrm>
            <a:off x="6954311" y="3250691"/>
            <a:ext cx="1197900" cy="467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OpenAI/Python Flask Server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 rot="10800000">
            <a:off x="2029494" y="3510791"/>
            <a:ext cx="0" cy="501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3"/>
          <p:cNvCxnSpPr/>
          <p:nvPr/>
        </p:nvCxnSpPr>
        <p:spPr>
          <a:xfrm>
            <a:off x="5718059" y="2692583"/>
            <a:ext cx="9000" cy="479100"/>
          </a:xfrm>
          <a:prstGeom prst="straightConnector1">
            <a:avLst/>
          </a:prstGeom>
          <a:noFill/>
          <a:ln cap="flat" cmpd="sng" w="14300">
            <a:solidFill>
              <a:srgbClr val="1F497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5" name="Google Shape;105;p3"/>
          <p:cNvSpPr txBox="1"/>
          <p:nvPr/>
        </p:nvSpPr>
        <p:spPr>
          <a:xfrm>
            <a:off x="1484431" y="3191469"/>
            <a:ext cx="109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12v deep cycle battery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152513" y="4673778"/>
            <a:ext cx="1172100" cy="3156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186638" y="4695247"/>
            <a:ext cx="1172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MCU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>
            <a:off x="2044875" y="3989750"/>
            <a:ext cx="804900" cy="188100"/>
          </a:xfrm>
          <a:prstGeom prst="straightConnector1">
            <a:avLst/>
          </a:prstGeom>
          <a:noFill/>
          <a:ln cap="flat" cmpd="sng" w="21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3"/>
          <p:cNvCxnSpPr/>
          <p:nvPr/>
        </p:nvCxnSpPr>
        <p:spPr>
          <a:xfrm flipH="1" rot="10800000">
            <a:off x="5728169" y="2663899"/>
            <a:ext cx="312300" cy="4200"/>
          </a:xfrm>
          <a:prstGeom prst="straightConnector1">
            <a:avLst/>
          </a:prstGeom>
          <a:noFill/>
          <a:ln cap="flat" cmpd="sng" w="14300">
            <a:solidFill>
              <a:srgbClr val="1F497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3"/>
          <p:cNvSpPr/>
          <p:nvPr/>
        </p:nvSpPr>
        <p:spPr>
          <a:xfrm>
            <a:off x="6683975" y="4675203"/>
            <a:ext cx="1367700" cy="3144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7690332" y="2692583"/>
            <a:ext cx="9000" cy="479100"/>
          </a:xfrm>
          <a:prstGeom prst="straightConnector1">
            <a:avLst/>
          </a:prstGeom>
          <a:noFill/>
          <a:ln cap="flat" cmpd="sng" w="14300">
            <a:solidFill>
              <a:srgbClr val="1F497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" name="Google Shape;112;p3"/>
          <p:cNvCxnSpPr/>
          <p:nvPr/>
        </p:nvCxnSpPr>
        <p:spPr>
          <a:xfrm>
            <a:off x="7288563" y="2655911"/>
            <a:ext cx="373500" cy="5700"/>
          </a:xfrm>
          <a:prstGeom prst="straightConnector1">
            <a:avLst/>
          </a:prstGeom>
          <a:noFill/>
          <a:ln cap="flat" cmpd="sng" w="14300">
            <a:solidFill>
              <a:srgbClr val="1F497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3" name="Google Shape;113;p3"/>
          <p:cNvCxnSpPr/>
          <p:nvPr/>
        </p:nvCxnSpPr>
        <p:spPr>
          <a:xfrm>
            <a:off x="5684300" y="3818169"/>
            <a:ext cx="11400" cy="777300"/>
          </a:xfrm>
          <a:prstGeom prst="straightConnector1">
            <a:avLst/>
          </a:prstGeom>
          <a:noFill/>
          <a:ln cap="flat" cmpd="sng" w="14300">
            <a:solidFill>
              <a:srgbClr val="1F497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4" name="Google Shape;114;p3"/>
          <p:cNvSpPr/>
          <p:nvPr/>
        </p:nvSpPr>
        <p:spPr>
          <a:xfrm>
            <a:off x="805288" y="2565284"/>
            <a:ext cx="976200" cy="253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Solar panel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2462075" y="2565284"/>
            <a:ext cx="1013100" cy="253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MPPT charge controller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3"/>
          <p:cNvCxnSpPr>
            <a:stCxn id="115" idx="1"/>
            <a:endCxn id="114" idx="3"/>
          </p:cNvCxnSpPr>
          <p:nvPr/>
        </p:nvCxnSpPr>
        <p:spPr>
          <a:xfrm rot="10800000">
            <a:off x="1781375" y="2691884"/>
            <a:ext cx="680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3"/>
          <p:cNvCxnSpPr>
            <a:endCxn id="115" idx="2"/>
          </p:cNvCxnSpPr>
          <p:nvPr/>
        </p:nvCxnSpPr>
        <p:spPr>
          <a:xfrm rot="10800000">
            <a:off x="2968625" y="2818484"/>
            <a:ext cx="4200" cy="213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3"/>
          <p:cNvCxnSpPr/>
          <p:nvPr/>
        </p:nvCxnSpPr>
        <p:spPr>
          <a:xfrm rot="10800000">
            <a:off x="2007950" y="3021172"/>
            <a:ext cx="972900" cy="5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3"/>
          <p:cNvCxnSpPr/>
          <p:nvPr/>
        </p:nvCxnSpPr>
        <p:spPr>
          <a:xfrm rot="10800000">
            <a:off x="2017044" y="3021622"/>
            <a:ext cx="1800" cy="23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3"/>
          <p:cNvCxnSpPr/>
          <p:nvPr/>
        </p:nvCxnSpPr>
        <p:spPr>
          <a:xfrm flipH="1">
            <a:off x="1507600" y="4575975"/>
            <a:ext cx="1500" cy="166800"/>
          </a:xfrm>
          <a:prstGeom prst="straightConnector1">
            <a:avLst/>
          </a:prstGeom>
          <a:noFill/>
          <a:ln cap="flat" cmpd="sng" w="21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3"/>
          <p:cNvCxnSpPr/>
          <p:nvPr/>
        </p:nvCxnSpPr>
        <p:spPr>
          <a:xfrm>
            <a:off x="947769" y="4742759"/>
            <a:ext cx="3000" cy="583800"/>
          </a:xfrm>
          <a:prstGeom prst="straightConnector1">
            <a:avLst/>
          </a:prstGeom>
          <a:noFill/>
          <a:ln cap="flat" cmpd="sng" w="21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3"/>
          <p:cNvCxnSpPr/>
          <p:nvPr/>
        </p:nvCxnSpPr>
        <p:spPr>
          <a:xfrm flipH="1" rot="10800000">
            <a:off x="947769" y="4749341"/>
            <a:ext cx="564600" cy="3300"/>
          </a:xfrm>
          <a:prstGeom prst="straightConnector1">
            <a:avLst/>
          </a:prstGeom>
          <a:noFill/>
          <a:ln cap="flat" cmpd="sng" w="21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3"/>
          <p:cNvCxnSpPr/>
          <p:nvPr/>
        </p:nvCxnSpPr>
        <p:spPr>
          <a:xfrm>
            <a:off x="6639275" y="4439741"/>
            <a:ext cx="652200" cy="3900"/>
          </a:xfrm>
          <a:prstGeom prst="straightConnector1">
            <a:avLst/>
          </a:prstGeom>
          <a:noFill/>
          <a:ln cap="flat" cmpd="sng" w="14300">
            <a:solidFill>
              <a:srgbClr val="1F497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4" name="Google Shape;124;p3"/>
          <p:cNvCxnSpPr/>
          <p:nvPr/>
        </p:nvCxnSpPr>
        <p:spPr>
          <a:xfrm rot="10800000">
            <a:off x="7368481" y="4432297"/>
            <a:ext cx="2100" cy="199200"/>
          </a:xfrm>
          <a:prstGeom prst="straightConnector1">
            <a:avLst/>
          </a:prstGeom>
          <a:noFill/>
          <a:ln cap="flat" cmpd="sng" w="14300">
            <a:solidFill>
              <a:srgbClr val="1F497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5" name="Google Shape;125;p3"/>
          <p:cNvSpPr/>
          <p:nvPr/>
        </p:nvSpPr>
        <p:spPr>
          <a:xfrm>
            <a:off x="5841575" y="5249722"/>
            <a:ext cx="1308300" cy="338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3"/>
          <p:cNvCxnSpPr/>
          <p:nvPr/>
        </p:nvCxnSpPr>
        <p:spPr>
          <a:xfrm flipH="1">
            <a:off x="6044525" y="5032953"/>
            <a:ext cx="900" cy="176100"/>
          </a:xfrm>
          <a:prstGeom prst="straightConnector1">
            <a:avLst/>
          </a:prstGeom>
          <a:noFill/>
          <a:ln cap="flat" cmpd="sng" w="14300">
            <a:solidFill>
              <a:srgbClr val="1F497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7" name="Google Shape;127;p3"/>
          <p:cNvCxnSpPr/>
          <p:nvPr/>
        </p:nvCxnSpPr>
        <p:spPr>
          <a:xfrm>
            <a:off x="6967888" y="5032991"/>
            <a:ext cx="900" cy="172500"/>
          </a:xfrm>
          <a:prstGeom prst="straightConnector1">
            <a:avLst/>
          </a:prstGeom>
          <a:noFill/>
          <a:ln cap="flat" cmpd="sng" w="14300">
            <a:solidFill>
              <a:srgbClr val="1F497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" name="Google Shape;128;p3"/>
          <p:cNvSpPr/>
          <p:nvPr/>
        </p:nvSpPr>
        <p:spPr>
          <a:xfrm>
            <a:off x="3024969" y="4841618"/>
            <a:ext cx="680400" cy="238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3074750" y="4841581"/>
            <a:ext cx="620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ESP32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3"/>
          <p:cNvCxnSpPr>
            <a:stCxn id="94" idx="2"/>
          </p:cNvCxnSpPr>
          <p:nvPr/>
        </p:nvCxnSpPr>
        <p:spPr>
          <a:xfrm>
            <a:off x="2855719" y="4445319"/>
            <a:ext cx="374400" cy="399000"/>
          </a:xfrm>
          <a:prstGeom prst="straightConnector1">
            <a:avLst/>
          </a:prstGeom>
          <a:noFill/>
          <a:ln cap="flat" cmpd="sng" w="21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3"/>
          <p:cNvCxnSpPr>
            <a:endCxn id="128" idx="1"/>
          </p:cNvCxnSpPr>
          <p:nvPr/>
        </p:nvCxnSpPr>
        <p:spPr>
          <a:xfrm>
            <a:off x="2956269" y="4959518"/>
            <a:ext cx="68700" cy="1200"/>
          </a:xfrm>
          <a:prstGeom prst="straightConnector1">
            <a:avLst/>
          </a:prstGeom>
          <a:noFill/>
          <a:ln cap="flat" cmpd="sng" w="21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3"/>
          <p:cNvCxnSpPr/>
          <p:nvPr/>
        </p:nvCxnSpPr>
        <p:spPr>
          <a:xfrm flipH="1">
            <a:off x="1606150" y="3990801"/>
            <a:ext cx="421800" cy="276300"/>
          </a:xfrm>
          <a:prstGeom prst="straightConnector1">
            <a:avLst/>
          </a:prstGeom>
          <a:noFill/>
          <a:ln cap="flat" cmpd="sng" w="21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graphicFrame>
        <p:nvGraphicFramePr>
          <p:cNvPr id="138" name="Google Shape;138;p5"/>
          <p:cNvGraphicFramePr/>
          <p:nvPr/>
        </p:nvGraphicFramePr>
        <p:xfrm>
          <a:off x="457225" y="323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{69B170E3-F38C-4B98-9F29-46449A1C57E5}</a:tableStyleId>
              </a:tblPr>
              <a:tblGrid>
                <a:gridCol w="1503525"/>
                <a:gridCol w="1383275"/>
                <a:gridCol w="1194200"/>
                <a:gridCol w="1194200"/>
                <a:gridCol w="1125450"/>
                <a:gridCol w="1046375"/>
                <a:gridCol w="912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Subsystem Designs updated and ready for integration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(to complete 2/4/26)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Integration of Database with application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(completed 1/28/26)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Integration of light controls with android application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(to complete 2/11/26)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Final Integration (to complete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2/25/26)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System Test (to complete 3/4/26)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Validation of system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(to complete 3/11/26)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Demo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(to complete 4/15/26)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MPPT Charge Controller</a:t>
            </a:r>
            <a:br>
              <a:rPr lang="en-US" sz="3600"/>
            </a:br>
            <a:r>
              <a:rPr lang="en-US" sz="1800"/>
              <a:t>Adam Garcia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144" name="Google Shape;144;p6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{0C6EF50C-E54E-4F99-B5FF-7066C3541658}</a:tableStyleId>
              </a:tblPr>
              <a:tblGrid>
                <a:gridCol w="3886200"/>
                <a:gridCol w="3886200"/>
              </a:tblGrid>
              <a:tr h="70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Status Update #1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18hrs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920850"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2nd PCB design ordered</a:t>
                      </a:r>
                      <a:endParaRPr sz="1800"/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Revise ESP32 program 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Test MCU communication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 u="none" cap="none" strike="noStrike"/>
                        <a:t>Validate MPPT and Buck converter IC operation.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MPPT Charge Controller</a:t>
            </a:r>
            <a:br>
              <a:rPr lang="en-US" sz="3600"/>
            </a:br>
            <a:r>
              <a:rPr lang="en-US" sz="1800"/>
              <a:t>Adam Garcia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50" name="Google Shape;1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5875" y="2589051"/>
            <a:ext cx="3092250" cy="257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6f2694c51_0_29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Physical Controls</a:t>
            </a:r>
            <a:br>
              <a:rPr lang="en-US" sz="3600"/>
            </a:br>
            <a:r>
              <a:rPr lang="en-US" sz="1800"/>
              <a:t>Jack Holdridge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156" name="Google Shape;156;g3b6f2694c51_0_293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{0C6EF50C-E54E-4F99-B5FF-7066C3541658}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22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Diagnosed updated 12v converter after validation failure.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installed and validated temporary </a:t>
                      </a:r>
                      <a:r>
                        <a:rPr lang="en-US" sz="1800"/>
                        <a:t>replacement</a:t>
                      </a:r>
                      <a:r>
                        <a:rPr lang="en-US" sz="1800"/>
                        <a:t> 12v converter with </a:t>
                      </a:r>
                      <a:r>
                        <a:rPr lang="en-US" sz="1800"/>
                        <a:t>5 amp</a:t>
                      </a:r>
                      <a:r>
                        <a:rPr lang="en-US" sz="1800"/>
                        <a:t> stability. 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Fully assembled </a:t>
                      </a:r>
                      <a:r>
                        <a:rPr lang="en-US" sz="1800"/>
                        <a:t>Physical</a:t>
                      </a:r>
                      <a:r>
                        <a:rPr lang="en-US" sz="1800"/>
                        <a:t> Control PCB, programmed latest code, fully </a:t>
                      </a:r>
                      <a:r>
                        <a:rPr lang="en-US" sz="1800"/>
                        <a:t>validated.</a:t>
                      </a:r>
                      <a:r>
                        <a:rPr lang="en-US" sz="1800"/>
                        <a:t> 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3D modeled PCB housing.</a:t>
                      </a:r>
                      <a:endParaRPr sz="1800"/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Alternative 12v converter IC selection.</a:t>
                      </a: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3D print PCB housing. </a:t>
                      </a: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 u="none" cap="none" strike="noStrike"/>
                        <a:t>Integrating the database and physical controls communication.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6f2694c51_0_299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Physical Controls</a:t>
            </a:r>
            <a:br>
              <a:rPr lang="en-US" sz="3600"/>
            </a:br>
            <a:r>
              <a:rPr lang="en-US" sz="1800"/>
              <a:t>Jack Holdridge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2" name="Google Shape;162;g3b6f2694c51_0_299"/>
          <p:cNvSpPr txBox="1"/>
          <p:nvPr>
            <p:ph idx="1" type="body"/>
          </p:nvPr>
        </p:nvSpPr>
        <p:spPr>
          <a:xfrm>
            <a:off x="148100" y="2327925"/>
            <a:ext cx="40611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12V Buck-Boost Converter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 ITC3119 IC is very particular to layout </a:t>
            </a:r>
            <a:r>
              <a:rPr lang="en-US" sz="1800"/>
              <a:t>design</a:t>
            </a:r>
            <a:r>
              <a:rPr lang="en-US" sz="1800"/>
              <a:t> and failed due to </a:t>
            </a:r>
            <a:r>
              <a:rPr lang="en-US" sz="1800"/>
              <a:t>switching</a:t>
            </a:r>
            <a:r>
              <a:rPr lang="en-US" sz="1800"/>
              <a:t> noise. 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Temporary </a:t>
            </a:r>
            <a:r>
              <a:rPr lang="en-US" sz="1800"/>
              <a:t>replacement</a:t>
            </a:r>
            <a:r>
              <a:rPr lang="en-US" sz="1800"/>
              <a:t> DROK 200494 premade converter.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Reviewing buck boost IC with external switches as final replacement.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id="163" name="Google Shape;163;g3b6f2694c51_0_2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4987125" y="1895627"/>
            <a:ext cx="3144481" cy="47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6f2694c51_0_30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Android Application and Camera</a:t>
            </a:r>
            <a:br>
              <a:rPr lang="en-US" sz="3600"/>
            </a:br>
            <a:r>
              <a:rPr lang="en-US" sz="1800"/>
              <a:t>Kyle Walcher</a:t>
            </a:r>
            <a:endParaRPr sz="36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169" name="Google Shape;169;g3b6f2694c51_0_305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{0C6EF50C-E54E-4F99-B5FF-7066C3541658}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Motion Sensor Notification Code</a:t>
                      </a:r>
                      <a:endParaRPr sz="1800" u="none" cap="none" strike="noStrike"/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Motion Sensor Logic</a:t>
                      </a:r>
                      <a:br>
                        <a:rPr lang="en-US" sz="1800" u="none" cap="none" strike="noStrike"/>
                      </a:b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ESP-32 and Motion Sensor encasing and wiring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Full integration of Motion Sensor and ESP-32 communication/assembly</a:t>
                      </a:r>
                      <a:endParaRPr sz="1800" u="none" cap="none" strike="noStrike"/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Begin remote control lighting integration with PCB</a:t>
                      </a:r>
                      <a:endParaRPr sz="1800" u="none" cap="none" strike="noStrike"/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6f2694c51_0_311"/>
          <p:cNvSpPr txBox="1"/>
          <p:nvPr>
            <p:ph type="title"/>
          </p:nvPr>
        </p:nvSpPr>
        <p:spPr>
          <a:xfrm>
            <a:off x="457200" y="80872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Android Application and Camera</a:t>
            </a:r>
            <a:br>
              <a:rPr lang="en-US" sz="3600"/>
            </a:br>
            <a:r>
              <a:rPr lang="en-US" sz="1800"/>
              <a:t>Kyle Walcher</a:t>
            </a:r>
            <a:endParaRPr sz="36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75" name="Google Shape;175;g3b6f2694c51_0_3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613" y="2030099"/>
            <a:ext cx="2586426" cy="193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6f2694c51_0_3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463" y="2030100"/>
            <a:ext cx="2586420" cy="19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6f2694c51_0_311"/>
          <p:cNvSpPr txBox="1"/>
          <p:nvPr/>
        </p:nvSpPr>
        <p:spPr>
          <a:xfrm>
            <a:off x="5809888" y="2265327"/>
            <a:ext cx="28725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ESP-32 Housing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3D Print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45 mm x 31.5 mm x 19 mm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Dupont Jumper Wires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PG7 </a:t>
            </a:r>
            <a:r>
              <a:rPr lang="en-US" sz="1700">
                <a:solidFill>
                  <a:schemeClr val="dk1"/>
                </a:solidFill>
              </a:rPr>
              <a:t>waterproof</a:t>
            </a:r>
            <a:r>
              <a:rPr lang="en-US" sz="1700">
                <a:solidFill>
                  <a:schemeClr val="dk1"/>
                </a:solidFill>
              </a:rPr>
              <a:t> gland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78" name="Google Shape;178;g3b6f2694c51_0_3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613" y="4449050"/>
            <a:ext cx="5261040" cy="19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b6f2694c51_0_311"/>
          <p:cNvSpPr txBox="1"/>
          <p:nvPr/>
        </p:nvSpPr>
        <p:spPr>
          <a:xfrm>
            <a:off x="5809888" y="4449054"/>
            <a:ext cx="2872500" cy="1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Motion Sensor Logic</a:t>
            </a:r>
            <a:endParaRPr b="1"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Motion Detected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Wake + Capture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Upload Event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Notify User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2fefca9ad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MCU, Sensors &amp; Database</a:t>
            </a:r>
            <a:br>
              <a:rPr lang="en-US" sz="3600"/>
            </a:br>
            <a:r>
              <a:rPr lang="en-US" sz="1800"/>
              <a:t>Matthew Greer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185" name="Google Shape;185;g3c2fefca9ad_0_0"/>
          <p:cNvGraphicFramePr/>
          <p:nvPr/>
        </p:nvGraphicFramePr>
        <p:xfrm>
          <a:off x="685800" y="259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{0C6EF50C-E54E-4F99-B5FF-7066C3541658}</a:tableStyleId>
              </a:tblPr>
              <a:tblGrid>
                <a:gridCol w="3886200"/>
                <a:gridCol w="3886200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Accomplishments Update                </a:t>
                      </a:r>
                      <a:r>
                        <a:rPr lang="en-US" sz="1900" u="none" cap="none" strike="noStrike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sz="190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sz="1900" u="none" cap="none" strike="noStrike">
                          <a:solidFill>
                            <a:srgbClr val="C00000"/>
                          </a:solidFill>
                        </a:rPr>
                        <a:t> Hours</a:t>
                      </a:r>
                      <a:endParaRPr sz="19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75" marB="457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Ongoing progress/problems and plans until the next presentation</a:t>
                      </a:r>
                      <a:endParaRPr sz="1900" u="none" cap="none" strike="noStrike"/>
                    </a:p>
                  </a:txBody>
                  <a:tcPr marT="45775" marB="457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Ordered PIR Motion Sensor</a:t>
                      </a:r>
                      <a:b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Mapped out integration of Database and MCU</a:t>
                      </a:r>
                      <a:b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Scheduled Task for MCU related functions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45775" marB="457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Integrate database control with mobile app interface</a:t>
                      </a:r>
                      <a:b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Implement software-level integration between MCU and charge controller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45775" marB="457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g3c2fefca9ad_0_111"/>
          <p:cNvCxnSpPr/>
          <p:nvPr/>
        </p:nvCxnSpPr>
        <p:spPr>
          <a:xfrm flipH="1" rot="10800000">
            <a:off x="21000" y="3425850"/>
            <a:ext cx="9102000" cy="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1" name="Google Shape;191;g3c2fefca9ad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24" y="4881050"/>
            <a:ext cx="7691175" cy="12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c2fefca9ad_0_111"/>
          <p:cNvSpPr txBox="1"/>
          <p:nvPr/>
        </p:nvSpPr>
        <p:spPr>
          <a:xfrm>
            <a:off x="352150" y="1101725"/>
            <a:ext cx="22011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Superloop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93" name="Google Shape;193;g3c2fefca9ad_0_111"/>
          <p:cNvSpPr txBox="1"/>
          <p:nvPr/>
        </p:nvSpPr>
        <p:spPr>
          <a:xfrm>
            <a:off x="352150" y="3725475"/>
            <a:ext cx="22011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Task Scheduling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194" name="Google Shape;194;g3c2fefca9ad_0_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52125"/>
            <a:ext cx="8839200" cy="462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>
            <p:ph type="title"/>
          </p:nvPr>
        </p:nvSpPr>
        <p:spPr>
          <a:xfrm>
            <a:off x="450851" y="1049177"/>
            <a:ext cx="823595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&amp; Plan</a:t>
            </a:r>
            <a:endParaRPr/>
          </a:p>
        </p:txBody>
      </p:sp>
      <p:pic>
        <p:nvPicPr>
          <p:cNvPr id="200" name="Google Shape;20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333"/>
            <a:ext cx="8839198" cy="3173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6f2694c51_0_334"/>
          <p:cNvSpPr txBox="1"/>
          <p:nvPr/>
        </p:nvSpPr>
        <p:spPr>
          <a:xfrm>
            <a:off x="8126730" y="6494683"/>
            <a:ext cx="56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b6f2694c51_0_334"/>
          <p:cNvSpPr txBox="1"/>
          <p:nvPr>
            <p:ph idx="1" type="body"/>
          </p:nvPr>
        </p:nvSpPr>
        <p:spPr>
          <a:xfrm>
            <a:off x="392975" y="1123825"/>
            <a:ext cx="7878900" cy="3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b="1" lang="en-US"/>
              <a:t>Solar Home Lighting 3:</a:t>
            </a:r>
            <a:r>
              <a:rPr lang="en-US"/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US"/>
              <a:t>                  Thank you for listening!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US"/>
              <a:t>Questions?</a:t>
            </a:r>
            <a:br>
              <a:rPr lang="en-US"/>
            </a:br>
            <a:br>
              <a:rPr lang="en-US"/>
            </a:b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207" name="Google Shape;207;g3b6f2694c51_0_334"/>
          <p:cNvSpPr txBox="1"/>
          <p:nvPr/>
        </p:nvSpPr>
        <p:spPr>
          <a:xfrm>
            <a:off x="6373975" y="3527225"/>
            <a:ext cx="27141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Jack Holdridge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Kyle Walcher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Matthew Greer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Adam Garcia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TA: Guanhua Tao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Sponsor: Won Jang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9</vt:lpwstr>
  </property>
</Properties>
</file>