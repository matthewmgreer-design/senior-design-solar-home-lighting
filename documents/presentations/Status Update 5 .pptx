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Pd8rabLGuSBAW1aRkN9ybNMYq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CD4618-A36E-4908-916A-C0DDA1872C3C}">
  <a:tblStyle styleId="{9DCD4618-A36E-4908-916A-C0DDA1872C3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A934929-9518-4A19-A7B5-74BBD68FAA8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62DDEB2-147B-4485-8352-2C7F9BC6811F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1c8857a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g3d1c8857a0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1c8857a0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g3d1c8857a08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1c8857a0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0" name="Google Shape;70;g3d1c8857a08_0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1c8857a08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6" name="Google Shape;76;g3d1c8857a08_0_1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1d1d54b2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2" name="Google Shape;82;g3d1d1d54b2b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1d1d54b2b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1d1d54b2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1d1d54b2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" name="Google Shape;96;g3d1d1d54b2b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a2dc8d409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da2dc8d4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1b34717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8" name="Google Shape;108;g3d1b347177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1c8857a08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6" name="Google Shape;126;g3d1c8857a08_0_3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1c8857a08_0_38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1c8857a08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1c8857a08_0_3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1c8857a08_0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d1c8857a0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1c8857a08_0_3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1c8857a08_0_3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1c8857a08_0_3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5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1c8857a08_0_0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22: Solar Home Lighting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/>
              <a:t>Bi-Weekly Update 5</a:t>
            </a:r>
            <a:br>
              <a:rPr lang="en-US"/>
            </a:br>
            <a:r>
              <a:rPr lang="en-US" sz="2455"/>
              <a:t>Jack Holdridge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Kyle Walcher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Matthew Greer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Adam Garcia</a:t>
            </a:r>
            <a:br>
              <a:rPr lang="en-US" sz="2455"/>
            </a:br>
            <a:r>
              <a:rPr lang="en-US" sz="2455"/>
              <a:t>Sponsor: </a:t>
            </a:r>
            <a:r>
              <a:rPr lang="en-US" sz="2455"/>
              <a:t>Won Jang</a:t>
            </a:r>
            <a:br>
              <a:rPr lang="en-US" sz="2455"/>
            </a:br>
            <a:r>
              <a:rPr lang="en-US" sz="2455"/>
              <a:t>TA: </a:t>
            </a:r>
            <a:r>
              <a:rPr lang="en-US" sz="2455"/>
              <a:t>Guanhua Tao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g3d1c8857a08_0_0"/>
          <p:cNvSpPr/>
          <p:nvPr/>
        </p:nvSpPr>
        <p:spPr>
          <a:xfrm>
            <a:off x="0" y="12181"/>
            <a:ext cx="6111300" cy="61113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g3d1c8857a0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c8857a08_0_5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 </a:t>
            </a:r>
            <a:endParaRPr/>
          </a:p>
        </p:txBody>
      </p:sp>
      <p:pic>
        <p:nvPicPr>
          <p:cNvPr id="66" name="Google Shape;66;g3d1c8857a08_0_51"/>
          <p:cNvPicPr preferRelativeResize="0"/>
          <p:nvPr/>
        </p:nvPicPr>
        <p:blipFill rotWithShape="1">
          <a:blip r:embed="rId3">
            <a:alphaModFix/>
          </a:blip>
          <a:srcRect b="0" l="0" r="0" t="10682"/>
          <a:stretch/>
        </p:blipFill>
        <p:spPr>
          <a:xfrm>
            <a:off x="5433550" y="2166075"/>
            <a:ext cx="3187624" cy="337582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d1c8857a08_0_51"/>
          <p:cNvSpPr txBox="1"/>
          <p:nvPr/>
        </p:nvSpPr>
        <p:spPr>
          <a:xfrm>
            <a:off x="382150" y="2004225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Problem statement: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</a:rPr>
              <a:t>Current smart-home systems depend on grid power and cloud connectivity, causing lighting and monitoring to fail during outages and creating reliability and usability barriers for users.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Our Solution:</a:t>
            </a:r>
            <a:endParaRPr b="1" sz="3200">
              <a:solidFill>
                <a:srgbClr val="000000"/>
              </a:solidFill>
            </a:endParaRPr>
          </a:p>
          <a:p>
            <a:pPr indent="-247650" lvl="0" marL="3429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-US" sz="1300">
                <a:solidFill>
                  <a:srgbClr val="000000"/>
                </a:solidFill>
              </a:rPr>
              <a:t>Combine security, lighting control, and user interaction into one coordinated platform</a:t>
            </a:r>
            <a:endParaRPr sz="1300">
              <a:solidFill>
                <a:srgbClr val="000000"/>
              </a:solidFill>
            </a:endParaRPr>
          </a:p>
          <a:p>
            <a:pPr indent="-247650" lvl="0" marL="3429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-US" sz="1300">
                <a:solidFill>
                  <a:srgbClr val="000000"/>
                </a:solidFill>
              </a:rPr>
              <a:t>Offer flexible controls, with both local and remote capabilities.</a:t>
            </a:r>
            <a:endParaRPr sz="1300">
              <a:solidFill>
                <a:srgbClr val="000000"/>
              </a:solidFill>
            </a:endParaRPr>
          </a:p>
          <a:p>
            <a:pPr indent="-247650" lvl="0" marL="3429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-US" sz="1300">
                <a:solidFill>
                  <a:srgbClr val="000000"/>
                </a:solidFill>
              </a:rPr>
              <a:t>Ensures the home remains safely lit and monitored regardless of grid fluctuations.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1c8857a08_0_102"/>
          <p:cNvSpPr txBox="1"/>
          <p:nvPr>
            <p:ph type="title"/>
          </p:nvPr>
        </p:nvSpPr>
        <p:spPr>
          <a:xfrm>
            <a:off x="534825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Integrated System Diagram </a:t>
            </a:r>
            <a:endParaRPr/>
          </a:p>
        </p:txBody>
      </p:sp>
      <p:pic>
        <p:nvPicPr>
          <p:cNvPr id="73" name="Google Shape;73;g3d1c8857a08_0_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700" y="1852877"/>
            <a:ext cx="8348588" cy="4700323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1c8857a08_0_15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 </a:t>
            </a:r>
            <a:endParaRPr/>
          </a:p>
        </p:txBody>
      </p:sp>
      <p:graphicFrame>
        <p:nvGraphicFramePr>
          <p:cNvPr id="79" name="Google Shape;79;g3d1c8857a08_0_152"/>
          <p:cNvGraphicFramePr/>
          <p:nvPr/>
        </p:nvGraphicFramePr>
        <p:xfrm>
          <a:off x="327425" y="28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{9DCD4618-A36E-4908-916A-C0DDA1872C3C}</a:tableStyleId>
              </a:tblPr>
              <a:tblGrid>
                <a:gridCol w="1503525"/>
                <a:gridCol w="1383275"/>
                <a:gridCol w="1194200"/>
                <a:gridCol w="1194200"/>
                <a:gridCol w="1125450"/>
                <a:gridCol w="1046375"/>
                <a:gridCol w="912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Subsystem Designs updated and ready for integration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(to complete 2/4/26)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Integration of Database with application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(completed 1/28/26)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Integration of </a:t>
                      </a:r>
                      <a:r>
                        <a:rPr lang="en-US"/>
                        <a:t>motion </a:t>
                      </a:r>
                      <a:r>
                        <a:rPr lang="en-US" sz="1400" u="none" cap="none" strike="noStrike"/>
                        <a:t>controls with android application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(complete 2/1</a:t>
                      </a:r>
                      <a:r>
                        <a:rPr lang="en-US"/>
                        <a:t>8</a:t>
                      </a:r>
                      <a:r>
                        <a:rPr lang="en-US" sz="1400" u="none" cap="none" strike="noStrike"/>
                        <a:t>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Final Integration (to complete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3</a:t>
                      </a:r>
                      <a:r>
                        <a:rPr lang="en-US" sz="1400" u="none" cap="none" strike="noStrike"/>
                        <a:t>/</a:t>
                      </a:r>
                      <a:r>
                        <a:rPr lang="en-US"/>
                        <a:t>4</a:t>
                      </a:r>
                      <a:r>
                        <a:rPr lang="en-US" sz="1400" u="none" cap="none" strike="noStrike"/>
                        <a:t>/26)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System Test (to complete 3/</a:t>
                      </a:r>
                      <a:r>
                        <a:rPr lang="en-US"/>
                        <a:t>18</a:t>
                      </a:r>
                      <a:r>
                        <a:rPr lang="en-US" sz="1400" u="none" cap="none" strike="noStrike"/>
                        <a:t>/26)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Validation of system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(to complete 3/</a:t>
                      </a:r>
                      <a:r>
                        <a:rPr lang="en-US"/>
                        <a:t>25</a:t>
                      </a:r>
                      <a:r>
                        <a:rPr lang="en-US" sz="1400" u="none" cap="none" strike="noStrike"/>
                        <a:t>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Demo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(to complete 4/15/26)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d1d54b2b_0_12"/>
          <p:cNvSpPr txBox="1"/>
          <p:nvPr>
            <p:ph type="title"/>
          </p:nvPr>
        </p:nvSpPr>
        <p:spPr>
          <a:xfrm>
            <a:off x="457200" y="1049175"/>
            <a:ext cx="82296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MPPT Charge Controller</a:t>
            </a:r>
            <a:br>
              <a:rPr lang="en-US" sz="3600"/>
            </a:br>
            <a:r>
              <a:rPr lang="en-US" sz="1800"/>
              <a:t>Adam </a:t>
            </a:r>
            <a:r>
              <a:rPr lang="en-US" sz="1800"/>
              <a:t>Garcia</a:t>
            </a:r>
            <a:endParaRPr/>
          </a:p>
        </p:txBody>
      </p:sp>
      <p:graphicFrame>
        <p:nvGraphicFramePr>
          <p:cNvPr id="85" name="Google Shape;85;g3d1d1d54b2b_0_12"/>
          <p:cNvGraphicFramePr/>
          <p:nvPr/>
        </p:nvGraphicFramePr>
        <p:xfrm>
          <a:off x="685800" y="229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{4A934929-9518-4A19-A7B5-74BBD68FAA8B}</a:tableStyleId>
              </a:tblPr>
              <a:tblGrid>
                <a:gridCol w="3886200"/>
                <a:gridCol w="3886200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Accomplishments Update                </a:t>
                      </a:r>
                      <a:r>
                        <a:rPr lang="en-US" sz="1900" u="none" cap="none" strike="noStrike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sz="190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en-US" sz="1900" u="none" cap="none" strike="noStrike">
                          <a:solidFill>
                            <a:srgbClr val="C00000"/>
                          </a:solidFill>
                        </a:rPr>
                        <a:t> Hours</a:t>
                      </a:r>
                      <a:endParaRPr sz="19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75" marB="457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Ongoing progress/problems and plans until the next presentation</a:t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MPPT IC charges batteries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ESP32 switches batteries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-3492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900"/>
                        <a:buChar char="-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One battery charges while the other discharges to the load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-3492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900"/>
                        <a:buChar char="-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No back current flow from one battery to another when switching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75" marB="457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3.3V Buck Converter to power ESP32 failed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Bluetooth communication with Main MCU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1d1d54b2b_0_6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MPPT Charge Controller</a:t>
            </a:r>
            <a:br>
              <a:rPr lang="en-US"/>
            </a:br>
            <a:r>
              <a:rPr lang="en-US" sz="1600"/>
              <a:t>Adam Garcia</a:t>
            </a:r>
            <a:endParaRPr/>
          </a:p>
        </p:txBody>
      </p:sp>
      <p:pic>
        <p:nvPicPr>
          <p:cNvPr id="91" name="Google Shape;91;g3d1d1d54b2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076741" y="4003241"/>
            <a:ext cx="2237199" cy="2982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d1d1d54b2b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3" y="4376101"/>
            <a:ext cx="2982932" cy="223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d1d1d54b2b_0_6"/>
          <p:cNvPicPr preferRelativeResize="0"/>
          <p:nvPr/>
        </p:nvPicPr>
        <p:blipFill rotWithShape="1">
          <a:blip r:embed="rId5">
            <a:alphaModFix/>
          </a:blip>
          <a:srcRect b="13733" l="0" r="0" t="32622"/>
          <a:stretch/>
        </p:blipFill>
        <p:spPr>
          <a:xfrm>
            <a:off x="1791695" y="2049275"/>
            <a:ext cx="5560617" cy="223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d1d54b2b_1_0"/>
          <p:cNvSpPr txBox="1"/>
          <p:nvPr>
            <p:ph type="title"/>
          </p:nvPr>
        </p:nvSpPr>
        <p:spPr>
          <a:xfrm>
            <a:off x="457200" y="1049175"/>
            <a:ext cx="82296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Physical Controls</a:t>
            </a:r>
            <a:br>
              <a:rPr lang="en-US" sz="3600"/>
            </a:br>
            <a:r>
              <a:rPr lang="en-US" sz="1800"/>
              <a:t>Jack Holdridge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sz="3600"/>
          </a:p>
        </p:txBody>
      </p:sp>
      <p:graphicFrame>
        <p:nvGraphicFramePr>
          <p:cNvPr id="99" name="Google Shape;99;g3d1d1d54b2b_1_0"/>
          <p:cNvGraphicFramePr/>
          <p:nvPr/>
        </p:nvGraphicFramePr>
        <p:xfrm>
          <a:off x="685800" y="229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{4A934929-9518-4A19-A7B5-74BBD68FAA8B}</a:tableStyleId>
              </a:tblPr>
              <a:tblGrid>
                <a:gridCol w="3886200"/>
                <a:gridCol w="3886200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Accomplishments Update                </a:t>
                      </a:r>
                      <a:r>
                        <a:rPr lang="en-US" sz="1900">
                          <a:solidFill>
                            <a:srgbClr val="C00000"/>
                          </a:solidFill>
                        </a:rPr>
                        <a:t>18</a:t>
                      </a:r>
                      <a:r>
                        <a:rPr lang="en-US" sz="1900" u="none" cap="none" strike="noStrike">
                          <a:solidFill>
                            <a:srgbClr val="C00000"/>
                          </a:solidFill>
                        </a:rPr>
                        <a:t> Hours</a:t>
                      </a:r>
                      <a:endParaRPr sz="19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75" marB="457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Ongoing progress/problems and plans until the next presentation</a:t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Verified stable system power distribution to MCU, relays, sensors, and security camera during integrated system operation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Verified battery-powered system operation, maintaining full functionality of lighting, sensing, and communications when solar input is removed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Integrated and verified motion sensors and security camera hardware connections, confirming proper power delivery and detection functionality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Confirmed local hardware response path: MCU commands correctly actuate lighting and physical system components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75" marB="457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Validate stable power rail operation under sustained system load during extended integrated runtime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Validate long-duration system operation to ensure overall power subsystem stability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Integrate charge controller telemetry with MCU monitoring for battery and system power status reporting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a2dc8d409_0_0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Physical Controls</a:t>
            </a:r>
            <a:br>
              <a:rPr lang="en-US" sz="3600"/>
            </a:br>
            <a:r>
              <a:rPr lang="en-US" sz="1800"/>
              <a:t>Jack Holdridge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05" name="Google Shape;105;g3da2dc8d40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163" y="2012725"/>
            <a:ext cx="6621674" cy="44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1b347177c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Android Application and Camera</a:t>
            </a:r>
            <a:br>
              <a:rPr lang="en-US"/>
            </a:br>
            <a:r>
              <a:rPr lang="en-US" sz="1600"/>
              <a:t>Kyle Walcher</a:t>
            </a:r>
            <a:endParaRPr/>
          </a:p>
        </p:txBody>
      </p:sp>
      <p:graphicFrame>
        <p:nvGraphicFramePr>
          <p:cNvPr id="111" name="Google Shape;111;g3d1b347177c_0_0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{F62DDEB2-147B-4485-8352-2C7F9BC6811F}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12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Validated Motion Sensor to Camera Efficiency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Validated Battery Percentage to Application Reliability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Developing enhancements to application to reduce time and improve </a:t>
                      </a:r>
                      <a:r>
                        <a:rPr lang="en-US" sz="1800"/>
                        <a:t>efficiency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Validating lighting control time and reliability test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>
            <p:ph type="title"/>
          </p:nvPr>
        </p:nvSpPr>
        <p:spPr>
          <a:xfrm>
            <a:off x="457200" y="1049338"/>
            <a:ext cx="8229600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Android Application and Camera</a:t>
            </a:r>
            <a:br>
              <a:rPr lang="en-US"/>
            </a:br>
            <a:r>
              <a:rPr lang="en-US" sz="1600"/>
              <a:t>Kyle Walcher</a:t>
            </a:r>
            <a:endParaRPr/>
          </a:p>
        </p:txBody>
      </p:sp>
      <p:pic>
        <p:nvPicPr>
          <p:cNvPr id="117" name="Google Shape;11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775" y="2181225"/>
            <a:ext cx="2390775" cy="2275700"/>
          </a:xfrm>
          <a:prstGeom prst="rect">
            <a:avLst/>
          </a:prstGeom>
          <a:noFill/>
          <a:ln cap="flat" cmpd="sng" w="1905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" name="Google Shape;11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81213"/>
            <a:ext cx="3831775" cy="2275724"/>
          </a:xfrm>
          <a:prstGeom prst="rect">
            <a:avLst/>
          </a:prstGeom>
          <a:noFill/>
          <a:ln cap="flat" cmpd="sng" w="1905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9" name="Google Shape;119;p8"/>
          <p:cNvCxnSpPr>
            <a:stCxn id="118" idx="3"/>
          </p:cNvCxnSpPr>
          <p:nvPr/>
        </p:nvCxnSpPr>
        <p:spPr>
          <a:xfrm>
            <a:off x="3984175" y="3319075"/>
            <a:ext cx="970800" cy="591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8"/>
          <p:cNvSpPr txBox="1"/>
          <p:nvPr/>
        </p:nvSpPr>
        <p:spPr>
          <a:xfrm>
            <a:off x="6951850" y="2158825"/>
            <a:ext cx="1966800" cy="2349600"/>
          </a:xfrm>
          <a:prstGeom prst="rect">
            <a:avLst/>
          </a:prstGeom>
          <a:noFill/>
          <a:ln cap="flat" cmpd="sng" w="1905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dk1"/>
                </a:solidFill>
              </a:rPr>
              <a:t>Battery % Test</a:t>
            </a:r>
            <a:endParaRPr sz="17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- Uses Firestore Listener to update from database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- Avg. of 0.96s over 5 minutes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-100% Success Rate; no update uncounted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-MUST have stable connection to WiFi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21" name="Google Shape;121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4975" y="4579550"/>
            <a:ext cx="1687871" cy="2096276"/>
          </a:xfrm>
          <a:prstGeom prst="rect">
            <a:avLst/>
          </a:prstGeom>
          <a:noFill/>
          <a:ln cap="flat" cmpd="sng" w="1905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" name="Google Shape;122;p8"/>
          <p:cNvSpPr txBox="1"/>
          <p:nvPr/>
        </p:nvSpPr>
        <p:spPr>
          <a:xfrm>
            <a:off x="6951850" y="4650588"/>
            <a:ext cx="1966800" cy="1954200"/>
          </a:xfrm>
          <a:prstGeom prst="rect">
            <a:avLst/>
          </a:prstGeom>
          <a:noFill/>
          <a:ln cap="flat" cmpd="sng" w="1905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dk1"/>
                </a:solidFill>
              </a:rPr>
              <a:t>Camera/Motion</a:t>
            </a:r>
            <a:endParaRPr sz="17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- Camera Connects to Jacks PCB with sensor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- 14/15 Successful attempts, 1 false positive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- Investigating sensor sensitivity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23" name="Google Shape;123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" y="4579562"/>
            <a:ext cx="3576353" cy="2096275"/>
          </a:xfrm>
          <a:prstGeom prst="rect">
            <a:avLst/>
          </a:prstGeom>
          <a:noFill/>
          <a:ln cap="flat" cmpd="sng" w="1905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1c8857a08_0_322"/>
          <p:cNvSpPr txBox="1"/>
          <p:nvPr>
            <p:ph type="title"/>
          </p:nvPr>
        </p:nvSpPr>
        <p:spPr>
          <a:xfrm>
            <a:off x="457200" y="1049175"/>
            <a:ext cx="82296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MCU, Sensors &amp; Database</a:t>
            </a:r>
            <a:br>
              <a:rPr lang="en-US" sz="3600"/>
            </a:br>
            <a:r>
              <a:rPr lang="en-US" sz="1800"/>
              <a:t>Matthew Greer</a:t>
            </a:r>
            <a:endParaRPr/>
          </a:p>
        </p:txBody>
      </p:sp>
      <p:graphicFrame>
        <p:nvGraphicFramePr>
          <p:cNvPr id="129" name="Google Shape;129;g3d1c8857a08_0_322"/>
          <p:cNvGraphicFramePr/>
          <p:nvPr/>
        </p:nvGraphicFramePr>
        <p:xfrm>
          <a:off x="685800" y="20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{4A934929-9518-4A19-A7B5-74BBD68FAA8B}</a:tableStyleId>
              </a:tblPr>
              <a:tblGrid>
                <a:gridCol w="3886200"/>
                <a:gridCol w="3886200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Accomplishments Update                </a:t>
                      </a:r>
                      <a:r>
                        <a:rPr lang="en-US" sz="1900" u="none" cap="none" strike="noStrike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sz="190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en-US" sz="1900" u="none" cap="none" strike="noStrike">
                          <a:solidFill>
                            <a:srgbClr val="C00000"/>
                          </a:solidFill>
                        </a:rPr>
                        <a:t> Hours</a:t>
                      </a:r>
                      <a:endParaRPr sz="19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75" marB="457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Ongoing progress/problems and plans until the next presentation</a:t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Validated local control loop: Touchscreen → MCU → Lighting</a:t>
                      </a:r>
                      <a:b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Verified sensor detection and processing: PIR and LDR inputs correctly interpreted by MCU</a:t>
                      </a:r>
                      <a:b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Established and tested MCU → Database communication pipeline for system state updates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Verified RTOS task separation (Control, UI, Network) maintains responsive system operation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Validate end-to-end remote control: App → Database → MCU → Lighting response</a:t>
                      </a:r>
                      <a:b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Integrate and validate charge controller telemetry → MCU → Database pipeline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Execute full nighttime scenario validation (low light + motion → lighting + database update)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1c8857a08_0_38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MCU, Sensors &amp; Database</a:t>
            </a:r>
            <a:endParaRPr/>
          </a:p>
        </p:txBody>
      </p:sp>
      <p:pic>
        <p:nvPicPr>
          <p:cNvPr id="136" name="Google Shape;136;g3d1c8857a08_0_3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2400" y="2172519"/>
            <a:ext cx="4254393" cy="3810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d1c8857a08_0_3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225" y="4008703"/>
            <a:ext cx="2086925" cy="39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d1c8857a08_0_3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50" y="2937351"/>
            <a:ext cx="2896800" cy="322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g3d1c8857a08_0_387"/>
          <p:cNvCxnSpPr/>
          <p:nvPr/>
        </p:nvCxnSpPr>
        <p:spPr>
          <a:xfrm rot="10800000">
            <a:off x="2178550" y="3259200"/>
            <a:ext cx="944700" cy="42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g3d1c8857a08_0_387"/>
          <p:cNvCxnSpPr>
            <a:endCxn id="137" idx="3"/>
          </p:cNvCxnSpPr>
          <p:nvPr/>
        </p:nvCxnSpPr>
        <p:spPr>
          <a:xfrm flipH="1">
            <a:off x="2656150" y="3966603"/>
            <a:ext cx="647100" cy="241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1c8857a08_0_20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 </a:t>
            </a:r>
            <a:endParaRPr/>
          </a:p>
        </p:txBody>
      </p:sp>
      <p:pic>
        <p:nvPicPr>
          <p:cNvPr id="146" name="Google Shape;146;g3d1c8857a08_0_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277"/>
            <a:ext cx="8839198" cy="2915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1c8857a08_0_315"/>
          <p:cNvSpPr txBox="1"/>
          <p:nvPr>
            <p:ph type="title"/>
          </p:nvPr>
        </p:nvSpPr>
        <p:spPr>
          <a:xfrm>
            <a:off x="4414550" y="184550"/>
            <a:ext cx="4392300" cy="65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System Validation Plan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g3d1c8857a08_0_3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6650"/>
            <a:ext cx="8839201" cy="4853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/>
        </p:nvSpPr>
        <p:spPr>
          <a:xfrm>
            <a:off x="392975" y="1123825"/>
            <a:ext cx="7878900" cy="3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</a:rPr>
              <a:t>Solar Home Lighting 3:</a:t>
            </a:r>
            <a:r>
              <a:rPr lang="en-US" sz="3200">
                <a:solidFill>
                  <a:srgbClr val="000000"/>
                </a:solidFill>
              </a:rPr>
              <a:t> </a:t>
            </a:r>
            <a:endParaRPr sz="3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</a:rPr>
              <a:t>                  Thank you for listening!</a:t>
            </a:r>
            <a:endParaRPr sz="3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</a:rPr>
              <a:t>Questions?</a:t>
            </a:r>
            <a:br>
              <a:rPr lang="en-US" sz="3200">
                <a:solidFill>
                  <a:srgbClr val="000000"/>
                </a:solidFill>
              </a:rPr>
            </a:br>
            <a:br>
              <a:rPr lang="en-US" sz="3200">
                <a:solidFill>
                  <a:srgbClr val="000000"/>
                </a:solidFill>
              </a:rPr>
            </a:br>
            <a:endParaRPr sz="3200">
              <a:solidFill>
                <a:srgbClr val="000000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6373975" y="3527225"/>
            <a:ext cx="27141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Jack Holdridge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Kyle Walcher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Matthew Greer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Adam Garcia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TA: Guanhua Tao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Sponsor: Won Jang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5,6,7,9,10</vt:lpwstr>
  </property>
</Properties>
</file>